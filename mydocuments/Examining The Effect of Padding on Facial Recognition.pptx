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7" r:id="rId21"/>
    <p:sldId id="278" r:id="rId22"/>
    <p:sldId id="279" r:id="rId23"/>
    <p:sldId id="280" r:id="rId24"/>
    <p:sldId id="281" r:id="rId25"/>
    <p:sldId id="282" r:id="rId26"/>
    <p:sldId id="283" r:id="rId27"/>
    <p:sldId id="284" r:id="rId28"/>
    <p:sldId id="285" r:id="rId29"/>
    <p:sldId id="286" r:id="rId30"/>
    <p:sldId id="291" r:id="rId31"/>
    <p:sldId id="292" r:id="rId32"/>
    <p:sldId id="293" r:id="rId33"/>
    <p:sldId id="294" r:id="rId34"/>
    <p:sldId id="295" r:id="rId35"/>
    <p:sldId id="296" r:id="rId36"/>
    <p:sldId id="297" r:id="rId37"/>
    <p:sldId id="287" r:id="rId38"/>
    <p:sldId id="288" r:id="rId39"/>
    <p:sldId id="298"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94660"/>
  </p:normalViewPr>
  <p:slideViewPr>
    <p:cSldViewPr snapToGrid="0">
      <p:cViewPr varScale="1">
        <p:scale>
          <a:sx n="78" d="100"/>
          <a:sy n="78" d="100"/>
        </p:scale>
        <p:origin x="64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2E59CD-D302-4A12-BB77-0F0A1F6B8C2A}" type="datetimeFigureOut">
              <a:rPr lang="en-KE" smtClean="0"/>
              <a:t>03/25/2026</a:t>
            </a:fld>
            <a:endParaRPr lang="en-K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D8D73F-8D39-4E63-971D-58773946CB0F}" type="slidenum">
              <a:rPr lang="en-KE" smtClean="0"/>
              <a:t>‹#›</a:t>
            </a:fld>
            <a:endParaRPr lang="en-KE"/>
          </a:p>
        </p:txBody>
      </p:sp>
    </p:spTree>
    <p:extLst>
      <p:ext uri="{BB962C8B-B14F-4D97-AF65-F5344CB8AC3E}">
        <p14:creationId xmlns:p14="http://schemas.microsoft.com/office/powerpoint/2010/main" val="2455600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449C556-1259-4C79-A42E-0A9380D1E073}" type="datetime8">
              <a:rPr lang="en-KE" smtClean="0"/>
              <a:t>03/25/2026 08:59</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755A77B-A17B-45F4-84E2-294C20E72625}" type="slidenum">
              <a:rPr lang="en-KE" smtClean="0"/>
              <a:t>‹#›</a:t>
            </a:fld>
            <a:endParaRPr lang="en-KE"/>
          </a:p>
        </p:txBody>
      </p:sp>
    </p:spTree>
    <p:extLst>
      <p:ext uri="{BB962C8B-B14F-4D97-AF65-F5344CB8AC3E}">
        <p14:creationId xmlns:p14="http://schemas.microsoft.com/office/powerpoint/2010/main" val="3746076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437B900-290F-4C0E-AD92-87EC28111150}" type="datetime8">
              <a:rPr lang="en-KE" smtClean="0"/>
              <a:t>03/25/2026 08:59</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755A77B-A17B-45F4-84E2-294C20E72625}" type="slidenum">
              <a:rPr lang="en-KE" smtClean="0"/>
              <a:t>‹#›</a:t>
            </a:fld>
            <a:endParaRPr lang="en-KE"/>
          </a:p>
        </p:txBody>
      </p:sp>
    </p:spTree>
    <p:extLst>
      <p:ext uri="{BB962C8B-B14F-4D97-AF65-F5344CB8AC3E}">
        <p14:creationId xmlns:p14="http://schemas.microsoft.com/office/powerpoint/2010/main" val="475245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32375C-A9C4-43A7-8211-CB421FD0ED21}" type="datetime8">
              <a:rPr lang="en-KE" smtClean="0"/>
              <a:t>03/25/2026 08:59</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755A77B-A17B-45F4-84E2-294C20E72625}" type="slidenum">
              <a:rPr lang="en-KE" smtClean="0"/>
              <a:t>‹#›</a:t>
            </a:fld>
            <a:endParaRPr lang="en-KE"/>
          </a:p>
        </p:txBody>
      </p:sp>
    </p:spTree>
    <p:extLst>
      <p:ext uri="{BB962C8B-B14F-4D97-AF65-F5344CB8AC3E}">
        <p14:creationId xmlns:p14="http://schemas.microsoft.com/office/powerpoint/2010/main" val="1945468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9D9306-E245-4416-B1AA-1EBC159225DC}" type="datetime8">
              <a:rPr lang="en-KE" smtClean="0"/>
              <a:t>03/25/2026 08:59</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A755A77B-A17B-45F4-84E2-294C20E72625}" type="slidenum">
              <a:rPr lang="en-KE" smtClean="0"/>
              <a:t>‹#›</a:t>
            </a:fld>
            <a:endParaRPr lang="en-KE"/>
          </a:p>
        </p:txBody>
      </p:sp>
    </p:spTree>
    <p:extLst>
      <p:ext uri="{BB962C8B-B14F-4D97-AF65-F5344CB8AC3E}">
        <p14:creationId xmlns:p14="http://schemas.microsoft.com/office/powerpoint/2010/main" val="2153221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C70A33B-5B63-48CB-94FF-D1E092689D8F}" type="datetime8">
              <a:rPr lang="en-KE" smtClean="0"/>
              <a:t>03/25/2026 08:59</a:t>
            </a:fld>
            <a:endParaRPr lang="en-KE"/>
          </a:p>
        </p:txBody>
      </p:sp>
      <p:sp>
        <p:nvSpPr>
          <p:cNvPr id="8" name="Footer Placeholder 7"/>
          <p:cNvSpPr>
            <a:spLocks noGrp="1"/>
          </p:cNvSpPr>
          <p:nvPr>
            <p:ph type="ftr" sz="quarter" idx="11"/>
          </p:nvPr>
        </p:nvSpPr>
        <p:spPr/>
        <p:txBody>
          <a:bodyPr/>
          <a:lstStyle/>
          <a:p>
            <a:endParaRPr lang="en-KE"/>
          </a:p>
        </p:txBody>
      </p:sp>
      <p:sp>
        <p:nvSpPr>
          <p:cNvPr id="9" name="Slide Number Placeholder 8"/>
          <p:cNvSpPr>
            <a:spLocks noGrp="1"/>
          </p:cNvSpPr>
          <p:nvPr>
            <p:ph type="sldNum" sz="quarter" idx="12"/>
          </p:nvPr>
        </p:nvSpPr>
        <p:spPr/>
        <p:txBody>
          <a:bodyPr/>
          <a:lstStyle/>
          <a:p>
            <a:fld id="{A755A77B-A17B-45F4-84E2-294C20E72625}" type="slidenum">
              <a:rPr lang="en-KE" smtClean="0"/>
              <a:t>‹#›</a:t>
            </a:fld>
            <a:endParaRPr lang="en-KE"/>
          </a:p>
        </p:txBody>
      </p:sp>
    </p:spTree>
    <p:extLst>
      <p:ext uri="{BB962C8B-B14F-4D97-AF65-F5344CB8AC3E}">
        <p14:creationId xmlns:p14="http://schemas.microsoft.com/office/powerpoint/2010/main" val="2526267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658D1E7-2FDC-47B5-B892-B64740E1ACD2}" type="datetime8">
              <a:rPr lang="en-KE" smtClean="0"/>
              <a:t>03/25/2026 08:59</a:t>
            </a:fld>
            <a:endParaRPr lang="en-KE"/>
          </a:p>
        </p:txBody>
      </p:sp>
      <p:sp>
        <p:nvSpPr>
          <p:cNvPr id="5" name="Footer Placeholder 3"/>
          <p:cNvSpPr>
            <a:spLocks noGrp="1"/>
          </p:cNvSpPr>
          <p:nvPr>
            <p:ph type="ftr" sz="quarter" idx="11"/>
          </p:nvPr>
        </p:nvSpPr>
        <p:spPr/>
        <p:txBody>
          <a:bodyPr/>
          <a:lstStyle/>
          <a:p>
            <a:endParaRPr lang="en-KE"/>
          </a:p>
        </p:txBody>
      </p:sp>
      <p:sp>
        <p:nvSpPr>
          <p:cNvPr id="6" name="Slide Number Placeholder 4"/>
          <p:cNvSpPr>
            <a:spLocks noGrp="1"/>
          </p:cNvSpPr>
          <p:nvPr>
            <p:ph type="sldNum" sz="quarter" idx="12"/>
          </p:nvPr>
        </p:nvSpPr>
        <p:spPr/>
        <p:txBody>
          <a:bodyPr/>
          <a:lstStyle/>
          <a:p>
            <a:fld id="{A755A77B-A17B-45F4-84E2-294C20E72625}" type="slidenum">
              <a:rPr lang="en-KE" smtClean="0"/>
              <a:t>‹#›</a:t>
            </a:fld>
            <a:endParaRPr lang="en-KE"/>
          </a:p>
        </p:txBody>
      </p:sp>
    </p:spTree>
    <p:extLst>
      <p:ext uri="{BB962C8B-B14F-4D97-AF65-F5344CB8AC3E}">
        <p14:creationId xmlns:p14="http://schemas.microsoft.com/office/powerpoint/2010/main" val="2565499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8482E56-3814-4235-82BB-19DE0696C0D4}" type="datetime8">
              <a:rPr lang="en-KE" smtClean="0"/>
              <a:t>03/25/2026 08:59</a:t>
            </a:fld>
            <a:endParaRPr lang="en-KE"/>
          </a:p>
        </p:txBody>
      </p:sp>
      <p:sp>
        <p:nvSpPr>
          <p:cNvPr id="5" name="Footer Placeholder 2"/>
          <p:cNvSpPr>
            <a:spLocks noGrp="1"/>
          </p:cNvSpPr>
          <p:nvPr>
            <p:ph type="ftr" sz="quarter" idx="11"/>
          </p:nvPr>
        </p:nvSpPr>
        <p:spPr/>
        <p:txBody>
          <a:bodyPr/>
          <a:lstStyle/>
          <a:p>
            <a:endParaRPr lang="en-KE"/>
          </a:p>
        </p:txBody>
      </p:sp>
      <p:sp>
        <p:nvSpPr>
          <p:cNvPr id="6" name="Slide Number Placeholder 3"/>
          <p:cNvSpPr>
            <a:spLocks noGrp="1"/>
          </p:cNvSpPr>
          <p:nvPr>
            <p:ph type="sldNum" sz="quarter" idx="12"/>
          </p:nvPr>
        </p:nvSpPr>
        <p:spPr/>
        <p:txBody>
          <a:bodyPr/>
          <a:lstStyle/>
          <a:p>
            <a:fld id="{A755A77B-A17B-45F4-84E2-294C20E72625}" type="slidenum">
              <a:rPr lang="en-KE" smtClean="0"/>
              <a:t>‹#›</a:t>
            </a:fld>
            <a:endParaRPr lang="en-KE"/>
          </a:p>
        </p:txBody>
      </p:sp>
    </p:spTree>
    <p:extLst>
      <p:ext uri="{BB962C8B-B14F-4D97-AF65-F5344CB8AC3E}">
        <p14:creationId xmlns:p14="http://schemas.microsoft.com/office/powerpoint/2010/main" val="2113985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3F9CE03-FDFB-4ABA-B227-F406A6E9A989}" type="datetime8">
              <a:rPr lang="en-KE" smtClean="0"/>
              <a:t>03/25/2026 08:59</a:t>
            </a:fld>
            <a:endParaRPr lang="en-KE"/>
          </a:p>
        </p:txBody>
      </p:sp>
      <p:sp>
        <p:nvSpPr>
          <p:cNvPr id="5" name="Footer Placeholder 5"/>
          <p:cNvSpPr>
            <a:spLocks noGrp="1"/>
          </p:cNvSpPr>
          <p:nvPr>
            <p:ph type="ftr" sz="quarter" idx="11"/>
          </p:nvPr>
        </p:nvSpPr>
        <p:spPr/>
        <p:txBody>
          <a:bodyPr/>
          <a:lstStyle/>
          <a:p>
            <a:endParaRPr lang="en-KE"/>
          </a:p>
        </p:txBody>
      </p:sp>
      <p:sp>
        <p:nvSpPr>
          <p:cNvPr id="6" name="Slide Number Placeholder 6"/>
          <p:cNvSpPr>
            <a:spLocks noGrp="1"/>
          </p:cNvSpPr>
          <p:nvPr>
            <p:ph type="sldNum" sz="quarter" idx="12"/>
          </p:nvPr>
        </p:nvSpPr>
        <p:spPr/>
        <p:txBody>
          <a:bodyPr/>
          <a:lstStyle/>
          <a:p>
            <a:fld id="{A755A77B-A17B-45F4-84E2-294C20E72625}" type="slidenum">
              <a:rPr lang="en-KE" smtClean="0"/>
              <a:t>‹#›</a:t>
            </a:fld>
            <a:endParaRPr lang="en-KE"/>
          </a:p>
        </p:txBody>
      </p:sp>
    </p:spTree>
    <p:extLst>
      <p:ext uri="{BB962C8B-B14F-4D97-AF65-F5344CB8AC3E}">
        <p14:creationId xmlns:p14="http://schemas.microsoft.com/office/powerpoint/2010/main" val="1712634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36A4A10-04BD-4C6C-BB24-38008A86F711}" type="datetime8">
              <a:rPr lang="en-KE" smtClean="0"/>
              <a:t>03/25/2026 08:59</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A755A77B-A17B-45F4-84E2-294C20E72625}" type="slidenum">
              <a:rPr lang="en-KE" smtClean="0"/>
              <a:t>‹#›</a:t>
            </a:fld>
            <a:endParaRPr lang="en-KE"/>
          </a:p>
        </p:txBody>
      </p:sp>
    </p:spTree>
    <p:extLst>
      <p:ext uri="{BB962C8B-B14F-4D97-AF65-F5344CB8AC3E}">
        <p14:creationId xmlns:p14="http://schemas.microsoft.com/office/powerpoint/2010/main" val="37747324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13799B-003D-4E1C-A5A0-25EACE4B1777}" type="datetime8">
              <a:rPr lang="en-KE" smtClean="0"/>
              <a:t>03/25/2026 08:59</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A755A77B-A17B-45F4-84E2-294C20E72625}" type="slidenum">
              <a:rPr lang="en-KE" smtClean="0"/>
              <a:t>‹#›</a:t>
            </a:fld>
            <a:endParaRPr lang="en-KE"/>
          </a:p>
        </p:txBody>
      </p:sp>
    </p:spTree>
    <p:extLst>
      <p:ext uri="{BB962C8B-B14F-4D97-AF65-F5344CB8AC3E}">
        <p14:creationId xmlns:p14="http://schemas.microsoft.com/office/powerpoint/2010/main" val="175237808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313799B-003D-4E1C-A5A0-25EACE4B1777}" type="datetime8">
              <a:rPr lang="en-KE" smtClean="0"/>
              <a:t>03/25/2026 08:59</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755A77B-A17B-45F4-84E2-294C20E72625}" type="slidenum">
              <a:rPr lang="en-KE" smtClean="0"/>
              <a:t>‹#›</a:t>
            </a:fld>
            <a:endParaRPr lang="en-KE"/>
          </a:p>
        </p:txBody>
      </p:sp>
    </p:spTree>
    <p:extLst>
      <p:ext uri="{BB962C8B-B14F-4D97-AF65-F5344CB8AC3E}">
        <p14:creationId xmlns:p14="http://schemas.microsoft.com/office/powerpoint/2010/main" val="113903187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313799B-003D-4E1C-A5A0-25EACE4B1777}" type="datetime8">
              <a:rPr lang="en-KE" smtClean="0"/>
              <a:t>03/25/2026 08:59</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755A77B-A17B-45F4-84E2-294C20E72625}" type="slidenum">
              <a:rPr lang="en-KE" smtClean="0"/>
              <a:t>‹#›</a:t>
            </a:fld>
            <a:endParaRPr lang="en-KE"/>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75358257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13799B-003D-4E1C-A5A0-25EACE4B1777}" type="datetime8">
              <a:rPr lang="en-KE" smtClean="0"/>
              <a:t>03/25/2026 08:59</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755A77B-A17B-45F4-84E2-294C20E72625}" type="slidenum">
              <a:rPr lang="en-KE" smtClean="0"/>
              <a:t>‹#›</a:t>
            </a:fld>
            <a:endParaRPr lang="en-KE"/>
          </a:p>
        </p:txBody>
      </p:sp>
    </p:spTree>
    <p:extLst>
      <p:ext uri="{BB962C8B-B14F-4D97-AF65-F5344CB8AC3E}">
        <p14:creationId xmlns:p14="http://schemas.microsoft.com/office/powerpoint/2010/main" val="171872968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313799B-003D-4E1C-A5A0-25EACE4B1777}" type="datetime8">
              <a:rPr lang="en-KE" smtClean="0"/>
              <a:t>03/25/2026 08:59</a:t>
            </a:fld>
            <a:endParaRPr lang="en-KE"/>
          </a:p>
        </p:txBody>
      </p:sp>
      <p:sp>
        <p:nvSpPr>
          <p:cNvPr id="4"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755A77B-A17B-45F4-84E2-294C20E72625}" type="slidenum">
              <a:rPr lang="en-KE" smtClean="0"/>
              <a:t>‹#›</a:t>
            </a:fld>
            <a:endParaRPr lang="en-KE"/>
          </a:p>
        </p:txBody>
      </p:sp>
    </p:spTree>
    <p:extLst>
      <p:ext uri="{BB962C8B-B14F-4D97-AF65-F5344CB8AC3E}">
        <p14:creationId xmlns:p14="http://schemas.microsoft.com/office/powerpoint/2010/main" val="1095945505"/>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313799B-003D-4E1C-A5A0-25EACE4B1777}" type="datetime8">
              <a:rPr lang="en-KE" smtClean="0"/>
              <a:t>03/25/2026 08:59</a:t>
            </a:fld>
            <a:endParaRPr lang="en-KE"/>
          </a:p>
        </p:txBody>
      </p:sp>
      <p:sp>
        <p:nvSpPr>
          <p:cNvPr id="4"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755A77B-A17B-45F4-84E2-294C20E72625}" type="slidenum">
              <a:rPr lang="en-KE" smtClean="0"/>
              <a:t>‹#›</a:t>
            </a:fld>
            <a:endParaRPr lang="en-KE"/>
          </a:p>
        </p:txBody>
      </p:sp>
    </p:spTree>
    <p:extLst>
      <p:ext uri="{BB962C8B-B14F-4D97-AF65-F5344CB8AC3E}">
        <p14:creationId xmlns:p14="http://schemas.microsoft.com/office/powerpoint/2010/main" val="152163719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2FE7FE8-B144-4B40-B5EE-0BAE426496A2}" type="datetime8">
              <a:rPr lang="en-KE" smtClean="0"/>
              <a:t>03/25/2026 08:59</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755A77B-A17B-45F4-84E2-294C20E72625}" type="slidenum">
              <a:rPr lang="en-KE" smtClean="0"/>
              <a:t>‹#›</a:t>
            </a:fld>
            <a:endParaRPr lang="en-KE"/>
          </a:p>
        </p:txBody>
      </p:sp>
    </p:spTree>
    <p:extLst>
      <p:ext uri="{BB962C8B-B14F-4D97-AF65-F5344CB8AC3E}">
        <p14:creationId xmlns:p14="http://schemas.microsoft.com/office/powerpoint/2010/main" val="30066847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872810-A43E-4DD9-86A8-0465EED572D9}" type="datetime8">
              <a:rPr lang="en-KE" smtClean="0"/>
              <a:t>03/25/2026 08:59</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A755A77B-A17B-45F4-84E2-294C20E72625}" type="slidenum">
              <a:rPr lang="en-KE" smtClean="0"/>
              <a:t>‹#›</a:t>
            </a:fld>
            <a:endParaRPr lang="en-KE"/>
          </a:p>
        </p:txBody>
      </p:sp>
    </p:spTree>
    <p:extLst>
      <p:ext uri="{BB962C8B-B14F-4D97-AF65-F5344CB8AC3E}">
        <p14:creationId xmlns:p14="http://schemas.microsoft.com/office/powerpoint/2010/main" val="739166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313799B-003D-4E1C-A5A0-25EACE4B1777}" type="datetime8">
              <a:rPr lang="en-KE" smtClean="0"/>
              <a:t>03/25/2026 08:59</a:t>
            </a:fld>
            <a:endParaRPr lang="en-KE"/>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KE"/>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755A77B-A17B-45F4-84E2-294C20E72625}" type="slidenum">
              <a:rPr lang="en-KE" smtClean="0"/>
              <a:t>‹#›</a:t>
            </a:fld>
            <a:endParaRPr lang="en-KE"/>
          </a:p>
        </p:txBody>
      </p:sp>
    </p:spTree>
    <p:extLst>
      <p:ext uri="{BB962C8B-B14F-4D97-AF65-F5344CB8AC3E}">
        <p14:creationId xmlns:p14="http://schemas.microsoft.com/office/powerpoint/2010/main" val="3921265597"/>
      </p:ext>
    </p:extLst>
  </p:cSld>
  <p:clrMap bg1="dk1" tx1="lt1" bg2="dk2" tx2="lt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CD7CC-8D34-4450-3170-2CF229AA6668}"/>
              </a:ext>
            </a:extLst>
          </p:cNvPr>
          <p:cNvSpPr>
            <a:spLocks noGrp="1"/>
          </p:cNvSpPr>
          <p:nvPr>
            <p:ph type="ctrTitle"/>
          </p:nvPr>
        </p:nvSpPr>
        <p:spPr>
          <a:xfrm>
            <a:off x="355601" y="749299"/>
            <a:ext cx="11455400" cy="1792131"/>
          </a:xfrm>
        </p:spPr>
        <p:txBody>
          <a:bodyPr>
            <a:normAutofit/>
          </a:bodyPr>
          <a:lstStyle/>
          <a:p>
            <a:r>
              <a:rPr lang="en-US" sz="4400" dirty="0">
                <a:latin typeface="Times New Roman" panose="02020603050405020304" pitchFamily="18" charset="0"/>
                <a:cs typeface="Times New Roman" panose="02020603050405020304" pitchFamily="18" charset="0"/>
              </a:rPr>
              <a:t>Examining The Effect of Padding on Facial Recognition Using Convolution Neural Networks</a:t>
            </a:r>
            <a:endParaRPr lang="en-KE" sz="4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72A332CF-2026-965C-A4D0-56853DD4026D}"/>
              </a:ext>
            </a:extLst>
          </p:cNvPr>
          <p:cNvSpPr>
            <a:spLocks noGrp="1"/>
          </p:cNvSpPr>
          <p:nvPr>
            <p:ph type="subTitle" idx="1"/>
          </p:nvPr>
        </p:nvSpPr>
        <p:spPr>
          <a:xfrm>
            <a:off x="1279774" y="2664744"/>
            <a:ext cx="9632452" cy="3443956"/>
          </a:xfrm>
        </p:spPr>
        <p:txBody>
          <a:bodyPr>
            <a:normAutofit/>
          </a:bodyPr>
          <a:lstStyle/>
          <a:p>
            <a:pPr algn="ctr">
              <a:lnSpc>
                <a:spcPct val="200000"/>
              </a:lnSpc>
            </a:pPr>
            <a:r>
              <a:rPr lang="en-US" sz="1800" kern="100" dirty="0">
                <a:solidFill>
                  <a:schemeClr val="accent3">
                    <a:lumMod val="75000"/>
                  </a:schemeClr>
                </a:solidFill>
                <a:effectLst/>
                <a:latin typeface="Times New Roman" panose="02020603050405020304" pitchFamily="18" charset="0"/>
                <a:ea typeface="Noto Serif CJK SC"/>
                <a:cs typeface="Times New Roman" panose="02020603050405020304" pitchFamily="18" charset="0"/>
              </a:rPr>
              <a:t>Wycliffe Atswenje Sikolia</a:t>
            </a:r>
            <a:endParaRPr lang="en-KE" sz="1800" kern="100" dirty="0">
              <a:solidFill>
                <a:schemeClr val="accent3">
                  <a:lumMod val="75000"/>
                </a:schemeClr>
              </a:solidFill>
              <a:effectLst/>
              <a:latin typeface="Times New Roman" panose="02020603050405020304" pitchFamily="18" charset="0"/>
              <a:ea typeface="Noto Serif CJK SC"/>
              <a:cs typeface="Times New Roman" panose="02020603050405020304" pitchFamily="18" charset="0"/>
            </a:endParaRPr>
          </a:p>
          <a:p>
            <a:pPr algn="ctr">
              <a:lnSpc>
                <a:spcPct val="200000"/>
              </a:lnSpc>
            </a:pPr>
            <a:r>
              <a:rPr lang="en-US" sz="1800" kern="100" dirty="0">
                <a:solidFill>
                  <a:schemeClr val="accent3">
                    <a:lumMod val="75000"/>
                  </a:schemeClr>
                </a:solidFill>
                <a:effectLst/>
                <a:latin typeface="Times New Roman" panose="02020603050405020304" pitchFamily="18" charset="0"/>
                <a:ea typeface="Noto Serif CJK SC"/>
                <a:cs typeface="Times New Roman" panose="02020603050405020304" pitchFamily="18" charset="0"/>
              </a:rPr>
              <a:t>SCB384-3284/2013</a:t>
            </a:r>
          </a:p>
          <a:p>
            <a:pPr algn="ctr">
              <a:lnSpc>
                <a:spcPct val="100000"/>
              </a:lnSpc>
            </a:pPr>
            <a:r>
              <a:rPr lang="en-US" b="1" kern="100" cap="none" dirty="0">
                <a:solidFill>
                  <a:schemeClr val="accent3">
                    <a:lumMod val="75000"/>
                  </a:schemeClr>
                </a:solidFill>
                <a:latin typeface="Times New Roman" panose="02020603050405020304" pitchFamily="18" charset="0"/>
                <a:ea typeface="Noto Serif CJK SC"/>
                <a:cs typeface="Times New Roman" panose="02020603050405020304" pitchFamily="18" charset="0"/>
              </a:rPr>
              <a:t>Supervised By</a:t>
            </a:r>
          </a:p>
          <a:p>
            <a:pPr algn="ctr">
              <a:lnSpc>
                <a:spcPct val="150000"/>
              </a:lnSpc>
            </a:pPr>
            <a:r>
              <a:rPr lang="en-US" dirty="0">
                <a:solidFill>
                  <a:schemeClr val="accent3">
                    <a:lumMod val="75000"/>
                  </a:schemeClr>
                </a:solidFill>
                <a:latin typeface="Times New Roman" panose="02020603050405020304" pitchFamily="18" charset="0"/>
                <a:cs typeface="Times New Roman" panose="02020603050405020304" pitchFamily="18" charset="0"/>
              </a:rPr>
              <a:t>Dr. Anthony Wanjoya</a:t>
            </a:r>
          </a:p>
          <a:p>
            <a:pPr algn="ctr">
              <a:lnSpc>
                <a:spcPct val="150000"/>
              </a:lnSpc>
            </a:pPr>
            <a:r>
              <a:rPr lang="en-US" sz="1800" kern="100" dirty="0">
                <a:solidFill>
                  <a:schemeClr val="accent3">
                    <a:lumMod val="75000"/>
                  </a:schemeClr>
                </a:solidFill>
                <a:effectLst/>
                <a:latin typeface="Times New Roman" panose="02020603050405020304" pitchFamily="18" charset="0"/>
                <a:ea typeface="Noto Serif CJK SC"/>
                <a:cs typeface="Times New Roman" panose="02020603050405020304" pitchFamily="18" charset="0"/>
              </a:rPr>
              <a:t>DR. Jane Aduda</a:t>
            </a:r>
            <a:endParaRPr lang="en-KE" sz="1800" kern="100" dirty="0">
              <a:solidFill>
                <a:schemeClr val="accent3">
                  <a:lumMod val="75000"/>
                </a:schemeClr>
              </a:solidFill>
              <a:effectLst/>
              <a:latin typeface="Times New Roman" panose="02020603050405020304" pitchFamily="18" charset="0"/>
              <a:ea typeface="Noto Serif CJK SC"/>
              <a:cs typeface="Times New Roman" panose="02020603050405020304" pitchFamily="18" charset="0"/>
            </a:endParaRPr>
          </a:p>
          <a:p>
            <a:r>
              <a:rPr lang="en-US" dirty="0">
                <a:solidFill>
                  <a:schemeClr val="accent3">
                    <a:lumMod val="75000"/>
                  </a:schemeClr>
                </a:solidFill>
              </a:rPr>
              <a:t>January 28 2025</a:t>
            </a:r>
            <a:endParaRPr lang="en-KE" dirty="0">
              <a:solidFill>
                <a:schemeClr val="accent3">
                  <a:lumMod val="75000"/>
                </a:schemeClr>
              </a:solidFill>
            </a:endParaRPr>
          </a:p>
        </p:txBody>
      </p:sp>
      <p:sp>
        <p:nvSpPr>
          <p:cNvPr id="4" name="Slide Number Placeholder 3">
            <a:extLst>
              <a:ext uri="{FF2B5EF4-FFF2-40B4-BE49-F238E27FC236}">
                <a16:creationId xmlns:a16="http://schemas.microsoft.com/office/drawing/2014/main" id="{74ADC3E8-D4CB-0EFA-63F4-A801D2FE6C84}"/>
              </a:ext>
            </a:extLst>
          </p:cNvPr>
          <p:cNvSpPr>
            <a:spLocks noGrp="1"/>
          </p:cNvSpPr>
          <p:nvPr>
            <p:ph type="sldNum" sz="quarter" idx="12"/>
          </p:nvPr>
        </p:nvSpPr>
        <p:spPr>
          <a:xfrm>
            <a:off x="0" y="143387"/>
            <a:ext cx="811019" cy="503578"/>
          </a:xfrm>
        </p:spPr>
        <p:txBody>
          <a:bodyPr/>
          <a:lstStyle/>
          <a:p>
            <a:fld id="{A755A77B-A17B-45F4-84E2-294C20E72625}" type="slidenum">
              <a:rPr lang="en-KE" smtClean="0"/>
              <a:t>1</a:t>
            </a:fld>
            <a:endParaRPr lang="en-KE" dirty="0"/>
          </a:p>
        </p:txBody>
      </p:sp>
    </p:spTree>
    <p:extLst>
      <p:ext uri="{BB962C8B-B14F-4D97-AF65-F5344CB8AC3E}">
        <p14:creationId xmlns:p14="http://schemas.microsoft.com/office/powerpoint/2010/main" val="3859013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A7082-C41F-5E74-A92D-D077F150393B}"/>
              </a:ext>
            </a:extLst>
          </p:cNvPr>
          <p:cNvSpPr>
            <a:spLocks noGrp="1"/>
          </p:cNvSpPr>
          <p:nvPr>
            <p:ph type="title"/>
          </p:nvPr>
        </p:nvSpPr>
        <p:spPr/>
        <p:txBody>
          <a:bodyPr/>
          <a:lstStyle/>
          <a:p>
            <a:r>
              <a:rPr lang="en-US" cap="none" dirty="0">
                <a:latin typeface="Times New Roman" panose="02020603050405020304" pitchFamily="18" charset="0"/>
                <a:cs typeface="Times New Roman" panose="02020603050405020304" pitchFamily="18" charset="0"/>
              </a:rPr>
              <a:t>Outline</a:t>
            </a:r>
            <a:endParaRPr lang="en-KE"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A5E02C3-CC2D-E315-BE75-3F7C235B52FF}"/>
              </a:ext>
            </a:extLst>
          </p:cNvPr>
          <p:cNvSpPr>
            <a:spLocks noGrp="1"/>
          </p:cNvSpPr>
          <p:nvPr>
            <p:ph sz="half" idx="1"/>
          </p:nvPr>
        </p:nvSpPr>
        <p:spPr>
          <a:xfrm>
            <a:off x="812801" y="1268361"/>
            <a:ext cx="5279682" cy="5456903"/>
          </a:xfrm>
        </p:spPr>
        <p:txBody>
          <a:bodyPr>
            <a:normAutofit/>
          </a:bodyPr>
          <a:lstStyle/>
          <a:p>
            <a:pPr>
              <a:buFont typeface="Wingdings" panose="05000000000000000000" pitchFamily="2" charset="2"/>
              <a:buChar char="q"/>
            </a:pPr>
            <a:r>
              <a:rPr lang="en-US" dirty="0">
                <a:solidFill>
                  <a:schemeClr val="accent3">
                    <a:lumMod val="75000"/>
                  </a:schemeClr>
                </a:solidFill>
              </a:rPr>
              <a:t>Introduction</a:t>
            </a:r>
          </a:p>
          <a:p>
            <a:pPr>
              <a:lnSpc>
                <a:spcPct val="100000"/>
              </a:lnSpc>
            </a:pPr>
            <a:r>
              <a:rPr lang="en-US" dirty="0"/>
              <a:t>Background of the study</a:t>
            </a:r>
          </a:p>
          <a:p>
            <a:pPr>
              <a:lnSpc>
                <a:spcPct val="100000"/>
              </a:lnSpc>
            </a:pPr>
            <a:r>
              <a:rPr lang="en-US" dirty="0"/>
              <a:t>Statement of the Problem</a:t>
            </a:r>
          </a:p>
          <a:p>
            <a:pPr>
              <a:lnSpc>
                <a:spcPct val="100000"/>
              </a:lnSpc>
            </a:pPr>
            <a:r>
              <a:rPr lang="en-US" dirty="0"/>
              <a:t>Justification of the Study</a:t>
            </a:r>
          </a:p>
          <a:p>
            <a:pPr>
              <a:lnSpc>
                <a:spcPct val="100000"/>
              </a:lnSpc>
            </a:pPr>
            <a:r>
              <a:rPr lang="en-US" dirty="0"/>
              <a:t>Objectives of the Study</a:t>
            </a:r>
          </a:p>
          <a:p>
            <a:pPr>
              <a:buFont typeface="Wingdings" panose="05000000000000000000" pitchFamily="2" charset="2"/>
              <a:buChar char="q"/>
            </a:pPr>
            <a:r>
              <a:rPr lang="en-US" dirty="0">
                <a:solidFill>
                  <a:schemeClr val="accent3">
                    <a:lumMod val="75000"/>
                  </a:schemeClr>
                </a:solidFill>
              </a:rPr>
              <a:t>Literature Review</a:t>
            </a:r>
          </a:p>
          <a:p>
            <a:r>
              <a:rPr lang="en-US" dirty="0"/>
              <a:t>Facial recognition</a:t>
            </a:r>
          </a:p>
          <a:p>
            <a:r>
              <a:rPr lang="en-US" dirty="0"/>
              <a:t>Types of neural networks</a:t>
            </a:r>
          </a:p>
          <a:p>
            <a:r>
              <a:rPr lang="en-US" dirty="0"/>
              <a:t>Facial Recognition datasets</a:t>
            </a:r>
          </a:p>
          <a:p>
            <a:r>
              <a:rPr lang="en-US" dirty="0"/>
              <a:t>Facial recognition architectures</a:t>
            </a:r>
          </a:p>
          <a:p>
            <a:pPr>
              <a:buFont typeface="Wingdings" panose="05000000000000000000" pitchFamily="2" charset="2"/>
              <a:buChar char="q"/>
            </a:pPr>
            <a:endParaRPr lang="en-US" dirty="0">
              <a:solidFill>
                <a:schemeClr val="accent1">
                  <a:lumMod val="75000"/>
                </a:schemeClr>
              </a:solidFill>
            </a:endParaRPr>
          </a:p>
          <a:p>
            <a:pPr>
              <a:buFont typeface="Wingdings" panose="05000000000000000000" pitchFamily="2" charset="2"/>
              <a:buChar char="q"/>
            </a:pPr>
            <a:endParaRPr lang="en-US" dirty="0">
              <a:solidFill>
                <a:schemeClr val="accent1">
                  <a:lumMod val="75000"/>
                </a:schemeClr>
              </a:solidFill>
            </a:endParaRPr>
          </a:p>
        </p:txBody>
      </p:sp>
      <p:sp>
        <p:nvSpPr>
          <p:cNvPr id="4" name="Content Placeholder 3">
            <a:extLst>
              <a:ext uri="{FF2B5EF4-FFF2-40B4-BE49-F238E27FC236}">
                <a16:creationId xmlns:a16="http://schemas.microsoft.com/office/drawing/2014/main" id="{093EA677-CF8A-AF30-263F-3E1BD1F51EA4}"/>
              </a:ext>
            </a:extLst>
          </p:cNvPr>
          <p:cNvSpPr>
            <a:spLocks noGrp="1"/>
          </p:cNvSpPr>
          <p:nvPr>
            <p:ph sz="half" idx="2"/>
          </p:nvPr>
        </p:nvSpPr>
        <p:spPr>
          <a:xfrm>
            <a:off x="6413770" y="1063416"/>
            <a:ext cx="4965429" cy="5341866"/>
          </a:xfrm>
        </p:spPr>
        <p:txBody>
          <a:bodyPr>
            <a:normAutofit/>
          </a:bodyPr>
          <a:lstStyle/>
          <a:p>
            <a:pPr>
              <a:buFont typeface="Wingdings" panose="05000000000000000000" pitchFamily="2" charset="2"/>
              <a:buChar char="q"/>
            </a:pPr>
            <a:r>
              <a:rPr lang="en-US" dirty="0">
                <a:solidFill>
                  <a:schemeClr val="accent3">
                    <a:lumMod val="75000"/>
                  </a:schemeClr>
                </a:solidFill>
              </a:rPr>
              <a:t>Methodology</a:t>
            </a:r>
          </a:p>
          <a:p>
            <a:r>
              <a:rPr lang="en-US" dirty="0"/>
              <a:t>Artificial neural networks</a:t>
            </a:r>
          </a:p>
          <a:p>
            <a:r>
              <a:rPr lang="en-US" dirty="0"/>
              <a:t>Convolution neural network architecture</a:t>
            </a:r>
          </a:p>
          <a:p>
            <a:r>
              <a:rPr lang="en-US" dirty="0"/>
              <a:t>Data Collection</a:t>
            </a:r>
          </a:p>
          <a:p>
            <a:pPr>
              <a:buFont typeface="Wingdings" panose="05000000000000000000" pitchFamily="2" charset="2"/>
              <a:buChar char="q"/>
            </a:pPr>
            <a:r>
              <a:rPr lang="en-US" dirty="0">
                <a:solidFill>
                  <a:schemeClr val="accent3">
                    <a:lumMod val="75000"/>
                  </a:schemeClr>
                </a:solidFill>
              </a:rPr>
              <a:t>Results and Discussion</a:t>
            </a:r>
          </a:p>
          <a:p>
            <a:r>
              <a:rPr lang="en-US" dirty="0"/>
              <a:t>Cycks Model</a:t>
            </a:r>
          </a:p>
          <a:p>
            <a:r>
              <a:rPr lang="en-US" dirty="0"/>
              <a:t>VGG Model</a:t>
            </a:r>
          </a:p>
          <a:p>
            <a:r>
              <a:rPr lang="en-US" dirty="0"/>
              <a:t>Comparison Between Cycks and VGG</a:t>
            </a:r>
            <a:endParaRPr lang="en-US" dirty="0">
              <a:solidFill>
                <a:schemeClr val="accent3">
                  <a:lumMod val="75000"/>
                </a:schemeClr>
              </a:solidFill>
            </a:endParaRPr>
          </a:p>
          <a:p>
            <a:pPr>
              <a:buFont typeface="Wingdings" panose="05000000000000000000" pitchFamily="2" charset="2"/>
              <a:buChar char="q"/>
            </a:pPr>
            <a:r>
              <a:rPr lang="en-US" dirty="0">
                <a:solidFill>
                  <a:schemeClr val="accent3">
                    <a:lumMod val="75000"/>
                  </a:schemeClr>
                </a:solidFill>
              </a:rPr>
              <a:t>Conclusion</a:t>
            </a:r>
          </a:p>
          <a:p>
            <a:pPr marL="0" indent="0">
              <a:buNone/>
            </a:pPr>
            <a:endParaRPr lang="en-KE" dirty="0"/>
          </a:p>
        </p:txBody>
      </p:sp>
      <p:sp>
        <p:nvSpPr>
          <p:cNvPr id="5" name="Slide Number Placeholder 4">
            <a:extLst>
              <a:ext uri="{FF2B5EF4-FFF2-40B4-BE49-F238E27FC236}">
                <a16:creationId xmlns:a16="http://schemas.microsoft.com/office/drawing/2014/main" id="{75B8BEFA-FD00-22EF-C289-D070723D5B41}"/>
              </a:ext>
            </a:extLst>
          </p:cNvPr>
          <p:cNvSpPr>
            <a:spLocks noGrp="1"/>
          </p:cNvSpPr>
          <p:nvPr>
            <p:ph type="sldNum" sz="quarter" idx="12"/>
          </p:nvPr>
        </p:nvSpPr>
        <p:spPr/>
        <p:txBody>
          <a:bodyPr/>
          <a:lstStyle/>
          <a:p>
            <a:fld id="{A755A77B-A17B-45F4-84E2-294C20E72625}" type="slidenum">
              <a:rPr lang="en-KE" smtClean="0"/>
              <a:t>2</a:t>
            </a:fld>
            <a:endParaRPr lang="en-KE"/>
          </a:p>
        </p:txBody>
      </p:sp>
    </p:spTree>
    <p:extLst>
      <p:ext uri="{BB962C8B-B14F-4D97-AF65-F5344CB8AC3E}">
        <p14:creationId xmlns:p14="http://schemas.microsoft.com/office/powerpoint/2010/main" val="1594076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A50CA-5E5E-3141-CAE0-FABD592F67BC}"/>
              </a:ext>
            </a:extLst>
          </p:cNvPr>
          <p:cNvSpPr>
            <a:spLocks noGrp="1"/>
          </p:cNvSpPr>
          <p:nvPr>
            <p:ph type="title"/>
          </p:nvPr>
        </p:nvSpPr>
        <p:spPr/>
        <p:txBody>
          <a:bodyPr/>
          <a:lstStyle/>
          <a:p>
            <a:r>
              <a:rPr lang="en-US" cap="none" dirty="0">
                <a:latin typeface="Times New Roman" panose="02020603050405020304" pitchFamily="18" charset="0"/>
                <a:cs typeface="Times New Roman" panose="02020603050405020304" pitchFamily="18" charset="0"/>
              </a:rPr>
              <a:t>Background of The Study </a:t>
            </a:r>
            <a:endParaRPr lang="en-KE"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2DD4E22-832E-EFEC-8422-245EFA9AD284}"/>
              </a:ext>
            </a:extLst>
          </p:cNvPr>
          <p:cNvSpPr>
            <a:spLocks noGrp="1"/>
          </p:cNvSpPr>
          <p:nvPr>
            <p:ph idx="1"/>
          </p:nvPr>
        </p:nvSpPr>
        <p:spPr>
          <a:xfrm>
            <a:off x="330200" y="1853754"/>
            <a:ext cx="11480799" cy="4293046"/>
          </a:xfrm>
        </p:spPr>
        <p:txBody>
          <a:bodyPr>
            <a:normAutofit lnSpcReduction="10000"/>
          </a:bodyPr>
          <a:lstStyle/>
          <a:p>
            <a:r>
              <a:rPr lang="en-US" sz="1800" kern="100" dirty="0">
                <a:effectLst/>
                <a:latin typeface="Times New Roman" panose="02020603050405020304" pitchFamily="18" charset="0"/>
                <a:ea typeface="Noto Serif CJK SC"/>
              </a:rPr>
              <a:t>The big data era is fueled by gadgets that emit and store huge amounts of data. Examples of such gadgets include the smartphones, laptops, desktops, and IOT devices such as smart watches, and smart refrigerators. </a:t>
            </a:r>
          </a:p>
          <a:p>
            <a:r>
              <a:rPr lang="en-US" sz="1800" kern="100" dirty="0">
                <a:latin typeface="Times New Roman" panose="02020603050405020304" pitchFamily="18" charset="0"/>
                <a:ea typeface="Noto Serif CJK SC"/>
              </a:rPr>
              <a:t>H</a:t>
            </a:r>
            <a:r>
              <a:rPr lang="en-US" sz="1800" kern="100" dirty="0">
                <a:effectLst/>
                <a:latin typeface="Times New Roman" panose="02020603050405020304" pitchFamily="18" charset="0"/>
                <a:ea typeface="Noto Serif CJK SC"/>
              </a:rPr>
              <a:t>uge technology companies such as Google and Apple have developed world class applications that have enabled them to enjoy a competitive advantage over other companies.  These data science applications (from Google and Apple) have been made possible by techniques such as support vector machines, random forests, decision trees, and neural networks. </a:t>
            </a:r>
          </a:p>
          <a:p>
            <a:r>
              <a:rPr lang="en-US" sz="1800" kern="100" dirty="0">
                <a:effectLst/>
                <a:latin typeface="Times New Roman" panose="02020603050405020304" pitchFamily="18" charset="0"/>
                <a:ea typeface="Noto Serif CJK SC"/>
              </a:rPr>
              <a:t>One field that emerged from deep learning is facial recognition.  Lately, the field of facial recognition has attracted a lot of attention from scholars and practitioners.  Some of the innovations that have emerged from facial recognition include development of home authentication systems, attendance management systems, security surveillance systems, and emotion recognition systems. </a:t>
            </a:r>
          </a:p>
          <a:p>
            <a:r>
              <a:rPr lang="en-US" sz="1800" kern="100" dirty="0">
                <a:effectLst/>
                <a:latin typeface="Times New Roman" panose="02020603050405020304" pitchFamily="18" charset="0"/>
                <a:ea typeface="Noto Serif CJK SC"/>
              </a:rPr>
              <a:t>One of the techniques that is used for facial recognition is convolution neural networks, which relies on hyper parameters like pooling, padding, strides, kernels, and the activation function.</a:t>
            </a:r>
          </a:p>
          <a:p>
            <a:r>
              <a:rPr lang="en-US" sz="1800" kern="100" dirty="0">
                <a:latin typeface="Times New Roman" panose="02020603050405020304" pitchFamily="18" charset="0"/>
              </a:rPr>
              <a:t>Examples of data sets that are used for facial recognition include the disguised faces in the wild, the VGGFace and the Komnet datasets.</a:t>
            </a:r>
            <a:endParaRPr lang="en-KE" dirty="0"/>
          </a:p>
        </p:txBody>
      </p:sp>
      <p:sp>
        <p:nvSpPr>
          <p:cNvPr id="4" name="Slide Number Placeholder 3">
            <a:extLst>
              <a:ext uri="{FF2B5EF4-FFF2-40B4-BE49-F238E27FC236}">
                <a16:creationId xmlns:a16="http://schemas.microsoft.com/office/drawing/2014/main" id="{30482E0C-36C8-9AF4-CDD6-EEF74934317A}"/>
              </a:ext>
            </a:extLst>
          </p:cNvPr>
          <p:cNvSpPr>
            <a:spLocks noGrp="1"/>
          </p:cNvSpPr>
          <p:nvPr>
            <p:ph type="sldNum" sz="quarter" idx="12"/>
          </p:nvPr>
        </p:nvSpPr>
        <p:spPr/>
        <p:txBody>
          <a:bodyPr/>
          <a:lstStyle/>
          <a:p>
            <a:fld id="{A755A77B-A17B-45F4-84E2-294C20E72625}" type="slidenum">
              <a:rPr lang="en-KE" smtClean="0"/>
              <a:t>3</a:t>
            </a:fld>
            <a:endParaRPr lang="en-KE"/>
          </a:p>
        </p:txBody>
      </p:sp>
    </p:spTree>
    <p:extLst>
      <p:ext uri="{BB962C8B-B14F-4D97-AF65-F5344CB8AC3E}">
        <p14:creationId xmlns:p14="http://schemas.microsoft.com/office/powerpoint/2010/main" val="3863113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2E945-D5CE-09A1-B39E-45D8CF04BCD1}"/>
              </a:ext>
            </a:extLst>
          </p:cNvPr>
          <p:cNvSpPr>
            <a:spLocks noGrp="1"/>
          </p:cNvSpPr>
          <p:nvPr>
            <p:ph type="title"/>
          </p:nvPr>
        </p:nvSpPr>
        <p:spPr/>
        <p:txBody>
          <a:bodyPr/>
          <a:lstStyle/>
          <a:p>
            <a:r>
              <a:rPr lang="en-US" cap="none" dirty="0">
                <a:latin typeface="Times New Roman" panose="02020603050405020304" pitchFamily="18" charset="0"/>
                <a:cs typeface="Times New Roman" panose="02020603050405020304" pitchFamily="18" charset="0"/>
              </a:rPr>
              <a:t>Statement of The Problem</a:t>
            </a:r>
            <a:endParaRPr lang="en-KE"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4380FE-3DF2-E10E-CE98-512D96DE7D74}"/>
              </a:ext>
            </a:extLst>
          </p:cNvPr>
          <p:cNvSpPr>
            <a:spLocks noGrp="1"/>
          </p:cNvSpPr>
          <p:nvPr>
            <p:ph idx="1"/>
          </p:nvPr>
        </p:nvSpPr>
        <p:spPr>
          <a:xfrm>
            <a:off x="139700" y="2015732"/>
            <a:ext cx="11963400" cy="4037749"/>
          </a:xfrm>
        </p:spPr>
        <p:txBody>
          <a:bodyPr>
            <a:normAutofit/>
          </a:bodyPr>
          <a:lstStyle/>
          <a:p>
            <a:r>
              <a:rPr lang="en-US" sz="1800" kern="100" dirty="0">
                <a:effectLst/>
                <a:latin typeface="Times New Roman" panose="02020603050405020304" pitchFamily="18" charset="0"/>
                <a:ea typeface="Noto Serif CJK SC"/>
              </a:rPr>
              <a:t>Researchers in facial recognition have developed solutions such as FaceNet, VGGFACE, VGG16, VGG19, OpenFace, and DeepFace. Even though existing solutions on facial recognition have been developed, the number of publications that investigate the effect of hyper parameter tuning on facial recognition are few. </a:t>
            </a:r>
          </a:p>
          <a:p>
            <a:r>
              <a:rPr lang="en-US" sz="1800" kern="100" dirty="0">
                <a:effectLst/>
                <a:latin typeface="Times New Roman" panose="02020603050405020304" pitchFamily="18" charset="0"/>
                <a:ea typeface="Noto Serif CJK SC"/>
              </a:rPr>
              <a:t>Some of the authors that have examined how padding can affect the output neural network include Alrasheedi et al., (2023), Tang et al., (2019), and Reddy and Reddy (2019).</a:t>
            </a:r>
            <a:endParaRPr lang="en-US" sz="1800" kern="100" dirty="0">
              <a:latin typeface="Times New Roman" panose="02020603050405020304" pitchFamily="18" charset="0"/>
              <a:ea typeface="Noto Serif CJK SC"/>
            </a:endParaRPr>
          </a:p>
          <a:p>
            <a:r>
              <a:rPr lang="en-US" sz="1800" kern="100" dirty="0">
                <a:effectLst/>
                <a:latin typeface="Times New Roman" panose="02020603050405020304" pitchFamily="18" charset="0"/>
                <a:ea typeface="Noto Serif CJK SC"/>
              </a:rPr>
              <a:t>While the mentioned authors have touched on the effect of padding on neural networks, no study was found examining the effect of padding on convolution neural networks.</a:t>
            </a:r>
          </a:p>
          <a:p>
            <a:r>
              <a:rPr lang="en-US" sz="1800" kern="100" dirty="0">
                <a:effectLst/>
                <a:latin typeface="Times New Roman" panose="02020603050405020304" pitchFamily="18" charset="0"/>
                <a:ea typeface="Noto Serif CJK SC"/>
              </a:rPr>
              <a:t>The most famous types of padding are valid and same padding. This begs the question: What would come out of examining the effect of padding on facial recognition? It is why this study aims to examine the effect of padding on facial recognition</a:t>
            </a:r>
            <a:endParaRPr lang="en-KE" dirty="0"/>
          </a:p>
        </p:txBody>
      </p:sp>
      <p:sp>
        <p:nvSpPr>
          <p:cNvPr id="4" name="Slide Number Placeholder 3">
            <a:extLst>
              <a:ext uri="{FF2B5EF4-FFF2-40B4-BE49-F238E27FC236}">
                <a16:creationId xmlns:a16="http://schemas.microsoft.com/office/drawing/2014/main" id="{C97B0A3B-9F89-8485-7D29-9281D839ADFE}"/>
              </a:ext>
            </a:extLst>
          </p:cNvPr>
          <p:cNvSpPr>
            <a:spLocks noGrp="1"/>
          </p:cNvSpPr>
          <p:nvPr>
            <p:ph type="sldNum" sz="quarter" idx="12"/>
          </p:nvPr>
        </p:nvSpPr>
        <p:spPr/>
        <p:txBody>
          <a:bodyPr/>
          <a:lstStyle/>
          <a:p>
            <a:fld id="{A755A77B-A17B-45F4-84E2-294C20E72625}" type="slidenum">
              <a:rPr lang="en-KE" smtClean="0"/>
              <a:t>4</a:t>
            </a:fld>
            <a:endParaRPr lang="en-KE"/>
          </a:p>
        </p:txBody>
      </p:sp>
    </p:spTree>
    <p:extLst>
      <p:ext uri="{BB962C8B-B14F-4D97-AF65-F5344CB8AC3E}">
        <p14:creationId xmlns:p14="http://schemas.microsoft.com/office/powerpoint/2010/main" val="3240247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34D92-1A71-C0C9-440E-CDAAF074990F}"/>
              </a:ext>
            </a:extLst>
          </p:cNvPr>
          <p:cNvSpPr>
            <a:spLocks noGrp="1"/>
          </p:cNvSpPr>
          <p:nvPr>
            <p:ph type="title"/>
          </p:nvPr>
        </p:nvSpPr>
        <p:spPr/>
        <p:txBody>
          <a:bodyPr/>
          <a:lstStyle/>
          <a:p>
            <a:r>
              <a:rPr lang="en-US" cap="none" dirty="0">
                <a:latin typeface="Times New Roman" panose="02020603050405020304" pitchFamily="18" charset="0"/>
                <a:cs typeface="Times New Roman" panose="02020603050405020304" pitchFamily="18" charset="0"/>
              </a:rPr>
              <a:t>Justification of The Study</a:t>
            </a:r>
            <a:endParaRPr lang="en-KE"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C2BC26D-C92E-EDAB-28DF-60AD36ED6980}"/>
              </a:ext>
            </a:extLst>
          </p:cNvPr>
          <p:cNvSpPr>
            <a:spLocks noGrp="1"/>
          </p:cNvSpPr>
          <p:nvPr>
            <p:ph idx="1"/>
          </p:nvPr>
        </p:nvSpPr>
        <p:spPr>
          <a:xfrm>
            <a:off x="480061" y="2015732"/>
            <a:ext cx="11305540" cy="4037749"/>
          </a:xfrm>
        </p:spPr>
        <p:txBody>
          <a:bodyPr/>
          <a:lstStyle/>
          <a:p>
            <a:r>
              <a:rPr lang="en-US" sz="1800" kern="100" dirty="0">
                <a:effectLst/>
                <a:latin typeface="Times New Roman" panose="02020603050405020304" pitchFamily="18" charset="0"/>
                <a:ea typeface="Noto Serif CJK SC"/>
              </a:rPr>
              <a:t>The justification of this study relies on the fact that convolution neural networks is the one stop shop when developing solutions in computer vision. Here, the term computer vision is defined as a facet in deep learning that develops solutions by analyzing images or videos. One of the important hyper parameters used in convolution neural networks is padding</a:t>
            </a:r>
          </a:p>
          <a:p>
            <a:r>
              <a:rPr lang="en-US" sz="1800" kern="100" dirty="0">
                <a:latin typeface="Times New Roman" panose="02020603050405020304" pitchFamily="18" charset="0"/>
                <a:ea typeface="Noto Serif CJK SC"/>
              </a:rPr>
              <a:t>P</a:t>
            </a:r>
            <a:r>
              <a:rPr lang="en-US" sz="1800" kern="100" dirty="0">
                <a:effectLst/>
                <a:latin typeface="Times New Roman" panose="02020603050405020304" pitchFamily="18" charset="0"/>
                <a:ea typeface="Noto Serif CJK SC"/>
              </a:rPr>
              <a:t>adding is an important hyper parameter used in training convolution neural networks because of the value it adds in the performance of a convolution neural network.</a:t>
            </a:r>
          </a:p>
          <a:p>
            <a:r>
              <a:rPr lang="en-US" sz="1800" kern="100" dirty="0">
                <a:effectLst/>
                <a:latin typeface="Times New Roman" panose="02020603050405020304" pitchFamily="18" charset="0"/>
                <a:ea typeface="Noto Serif CJK SC"/>
              </a:rPr>
              <a:t>Given the role padding plays in training convolution neural networks, it is important to examine how different padding methods contribute to the performance of a convolution neural network.</a:t>
            </a:r>
            <a:endParaRPr lang="en-US" sz="1800" kern="100" dirty="0">
              <a:latin typeface="Times New Roman" panose="02020603050405020304" pitchFamily="18" charset="0"/>
              <a:ea typeface="Noto Serif CJK SC"/>
            </a:endParaRPr>
          </a:p>
          <a:p>
            <a:r>
              <a:rPr lang="en-US" sz="1800" kern="100" dirty="0">
                <a:latin typeface="Times New Roman" panose="02020603050405020304" pitchFamily="18" charset="0"/>
                <a:ea typeface="Noto Serif CJK SC"/>
              </a:rPr>
              <a:t>I</a:t>
            </a:r>
            <a:r>
              <a:rPr lang="en-US" sz="1800" kern="100" dirty="0">
                <a:effectLst/>
                <a:latin typeface="Times New Roman" panose="02020603050405020304" pitchFamily="18" charset="0"/>
                <a:ea typeface="Noto Serif CJK SC"/>
              </a:rPr>
              <a:t>t would be prudent to tell how padding affects the accuracy and training time of a model. This will help practitioners and scholars when making decisions that rely on the accuracy and training time of facial recognition models.</a:t>
            </a:r>
            <a:endParaRPr lang="en-KE" dirty="0"/>
          </a:p>
        </p:txBody>
      </p:sp>
      <p:sp>
        <p:nvSpPr>
          <p:cNvPr id="4" name="Slide Number Placeholder 3">
            <a:extLst>
              <a:ext uri="{FF2B5EF4-FFF2-40B4-BE49-F238E27FC236}">
                <a16:creationId xmlns:a16="http://schemas.microsoft.com/office/drawing/2014/main" id="{345B8B9C-99D1-44C4-3B54-637B4BCAE85F}"/>
              </a:ext>
            </a:extLst>
          </p:cNvPr>
          <p:cNvSpPr>
            <a:spLocks noGrp="1"/>
          </p:cNvSpPr>
          <p:nvPr>
            <p:ph type="sldNum" sz="quarter" idx="12"/>
          </p:nvPr>
        </p:nvSpPr>
        <p:spPr/>
        <p:txBody>
          <a:bodyPr/>
          <a:lstStyle/>
          <a:p>
            <a:fld id="{A755A77B-A17B-45F4-84E2-294C20E72625}" type="slidenum">
              <a:rPr lang="en-KE" smtClean="0"/>
              <a:t>5</a:t>
            </a:fld>
            <a:endParaRPr lang="en-KE"/>
          </a:p>
        </p:txBody>
      </p:sp>
    </p:spTree>
    <p:extLst>
      <p:ext uri="{BB962C8B-B14F-4D97-AF65-F5344CB8AC3E}">
        <p14:creationId xmlns:p14="http://schemas.microsoft.com/office/powerpoint/2010/main" val="4239336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2E178-AE92-4E38-5093-A0637CD1E795}"/>
              </a:ext>
            </a:extLst>
          </p:cNvPr>
          <p:cNvSpPr>
            <a:spLocks noGrp="1"/>
          </p:cNvSpPr>
          <p:nvPr>
            <p:ph type="title"/>
          </p:nvPr>
        </p:nvSpPr>
        <p:spPr/>
        <p:txBody>
          <a:bodyPr/>
          <a:lstStyle/>
          <a:p>
            <a:r>
              <a:rPr lang="en-US" cap="none" dirty="0">
                <a:latin typeface="Times New Roman" panose="02020603050405020304" pitchFamily="18" charset="0"/>
                <a:cs typeface="Times New Roman" panose="02020603050405020304" pitchFamily="18" charset="0"/>
              </a:rPr>
              <a:t>Objectives</a:t>
            </a:r>
            <a:endParaRPr lang="en-KE"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0E466B-4CF9-CA7C-546C-4117C4402C2A}"/>
              </a:ext>
            </a:extLst>
          </p:cNvPr>
          <p:cNvSpPr>
            <a:spLocks noGrp="1"/>
          </p:cNvSpPr>
          <p:nvPr>
            <p:ph idx="1"/>
          </p:nvPr>
        </p:nvSpPr>
        <p:spPr>
          <a:xfrm>
            <a:off x="368300" y="2015733"/>
            <a:ext cx="11645900" cy="3864368"/>
          </a:xfrm>
        </p:spPr>
        <p:txBody>
          <a:bodyPr/>
          <a:lstStyle/>
          <a:p>
            <a:pPr marL="0" indent="0">
              <a:buNone/>
            </a:pPr>
            <a:r>
              <a:rPr lang="en-US" sz="1800" b="1" kern="100" dirty="0">
                <a:solidFill>
                  <a:schemeClr val="accent3">
                    <a:lumMod val="75000"/>
                  </a:schemeClr>
                </a:solidFill>
                <a:effectLst/>
                <a:latin typeface="Times New Roman" panose="02020603050405020304" pitchFamily="18" charset="0"/>
                <a:ea typeface="Noto Serif CJK SC"/>
                <a:cs typeface="Lohit Devanagari"/>
              </a:rPr>
              <a:t>Main Objective</a:t>
            </a:r>
          </a:p>
          <a:p>
            <a:r>
              <a:rPr lang="en-US" sz="1800" kern="100" dirty="0">
                <a:effectLst/>
                <a:latin typeface="Times New Roman" panose="02020603050405020304" pitchFamily="18" charset="0"/>
                <a:ea typeface="Noto Serif CJK SC"/>
                <a:cs typeface="Lohit Devanagari"/>
              </a:rPr>
              <a:t>To examine the effect of padding on facial recognition using convolution neural networks and on the Komnet  data set.</a:t>
            </a:r>
          </a:p>
          <a:p>
            <a:pPr marL="0" indent="0">
              <a:buNone/>
            </a:pPr>
            <a:r>
              <a:rPr lang="en-US" sz="1800" b="1" kern="100" dirty="0">
                <a:solidFill>
                  <a:schemeClr val="accent3">
                    <a:lumMod val="75000"/>
                  </a:schemeClr>
                </a:solidFill>
                <a:effectLst/>
                <a:latin typeface="Times New Roman" panose="02020603050405020304" pitchFamily="18" charset="0"/>
                <a:ea typeface="Noto Serif CJK SC"/>
                <a:cs typeface="Lohit Devanagari"/>
              </a:rPr>
              <a:t>Specific Objectives</a:t>
            </a:r>
          </a:p>
          <a:p>
            <a:r>
              <a:rPr lang="en-US" sz="1800" kern="100" dirty="0">
                <a:effectLst/>
                <a:latin typeface="Times New Roman" panose="02020603050405020304" pitchFamily="18" charset="0"/>
                <a:ea typeface="Noto Serif CJK SC"/>
                <a:cs typeface="Lohit Devanagari"/>
              </a:rPr>
              <a:t>To build a facial recognition model using convolution neural networks</a:t>
            </a:r>
            <a:endParaRPr lang="en-KE" sz="1800" kern="100" dirty="0">
              <a:effectLst/>
              <a:latin typeface="Liberation Serif"/>
              <a:ea typeface="Noto Serif CJK SC"/>
              <a:cs typeface="Lohit Devanagari"/>
            </a:endParaRPr>
          </a:p>
          <a:p>
            <a:r>
              <a:rPr lang="en-US" sz="1800" kern="100" dirty="0">
                <a:effectLst/>
                <a:latin typeface="Times New Roman" panose="02020603050405020304" pitchFamily="18" charset="0"/>
                <a:ea typeface="Noto Serif CJK SC"/>
                <a:cs typeface="Lohit Devanagari"/>
              </a:rPr>
              <a:t>To examine the effect of padding on a modified pretrained model: VGGFACE-16.</a:t>
            </a:r>
            <a:endParaRPr lang="en-KE" sz="1800" kern="100" dirty="0">
              <a:effectLst/>
              <a:latin typeface="Liberation Serif"/>
              <a:ea typeface="Noto Serif CJK SC"/>
              <a:cs typeface="Lohit Devanagari"/>
            </a:endParaRPr>
          </a:p>
          <a:p>
            <a:r>
              <a:rPr lang="en-US" sz="1800" kern="100" dirty="0">
                <a:effectLst/>
                <a:latin typeface="Times New Roman" panose="02020603050405020304" pitchFamily="18" charset="0"/>
                <a:ea typeface="Noto Serif CJK SC"/>
                <a:cs typeface="Lohit Devanagari"/>
              </a:rPr>
              <a:t>To examine the effect of padding on facial recognition using a self-trained model</a:t>
            </a:r>
            <a:endParaRPr lang="en-KE" sz="1800" kern="100" dirty="0">
              <a:effectLst/>
              <a:latin typeface="Liberation Serif"/>
              <a:ea typeface="Noto Serif CJK SC"/>
              <a:cs typeface="Lohit Devanagari"/>
            </a:endParaRPr>
          </a:p>
          <a:p>
            <a:r>
              <a:rPr lang="en-US" sz="1800" kern="100" dirty="0">
                <a:effectLst/>
                <a:latin typeface="Times New Roman" panose="02020603050405020304" pitchFamily="18" charset="0"/>
                <a:ea typeface="Noto Serif CJK SC"/>
                <a:cs typeface="Lohit Devanagari"/>
              </a:rPr>
              <a:t>To compare the effect of padding on the modified VGGFACE-16 and a self-built model.</a:t>
            </a:r>
            <a:endParaRPr lang="en-KE" sz="1800" b="1" kern="100" dirty="0">
              <a:effectLst/>
              <a:latin typeface="Liberation Serif"/>
              <a:ea typeface="Noto Serif CJK SC"/>
              <a:cs typeface="Lohit Devanagari"/>
            </a:endParaRPr>
          </a:p>
          <a:p>
            <a:endParaRPr lang="en-US" sz="1800" kern="100" dirty="0">
              <a:effectLst/>
              <a:latin typeface="Times New Roman" panose="02020603050405020304" pitchFamily="18" charset="0"/>
              <a:ea typeface="Noto Serif CJK SC"/>
              <a:cs typeface="Lohit Devanagari"/>
            </a:endParaRPr>
          </a:p>
          <a:p>
            <a:endParaRPr lang="en-KE" sz="1800" kern="100" dirty="0">
              <a:effectLst/>
              <a:latin typeface="Liberation Serif"/>
              <a:ea typeface="Noto Serif CJK SC"/>
              <a:cs typeface="Lohit Devanagari"/>
            </a:endParaRPr>
          </a:p>
          <a:p>
            <a:endParaRPr lang="en-KE" dirty="0"/>
          </a:p>
        </p:txBody>
      </p:sp>
      <p:sp>
        <p:nvSpPr>
          <p:cNvPr id="4" name="Slide Number Placeholder 3">
            <a:extLst>
              <a:ext uri="{FF2B5EF4-FFF2-40B4-BE49-F238E27FC236}">
                <a16:creationId xmlns:a16="http://schemas.microsoft.com/office/drawing/2014/main" id="{D2645C26-7E19-5EE0-F463-68FD85C73F1A}"/>
              </a:ext>
            </a:extLst>
          </p:cNvPr>
          <p:cNvSpPr>
            <a:spLocks noGrp="1"/>
          </p:cNvSpPr>
          <p:nvPr>
            <p:ph type="sldNum" sz="quarter" idx="12"/>
          </p:nvPr>
        </p:nvSpPr>
        <p:spPr/>
        <p:txBody>
          <a:bodyPr/>
          <a:lstStyle/>
          <a:p>
            <a:fld id="{A755A77B-A17B-45F4-84E2-294C20E72625}" type="slidenum">
              <a:rPr lang="en-KE" smtClean="0"/>
              <a:t>6</a:t>
            </a:fld>
            <a:endParaRPr lang="en-KE"/>
          </a:p>
        </p:txBody>
      </p:sp>
    </p:spTree>
    <p:extLst>
      <p:ext uri="{BB962C8B-B14F-4D97-AF65-F5344CB8AC3E}">
        <p14:creationId xmlns:p14="http://schemas.microsoft.com/office/powerpoint/2010/main" val="36314364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1DABB-6104-981B-90FC-D7751026B457}"/>
              </a:ext>
            </a:extLst>
          </p:cNvPr>
          <p:cNvSpPr>
            <a:spLocks noGrp="1"/>
          </p:cNvSpPr>
          <p:nvPr>
            <p:ph type="title"/>
          </p:nvPr>
        </p:nvSpPr>
        <p:spPr/>
        <p:txBody>
          <a:bodyPr/>
          <a:lstStyle/>
          <a:p>
            <a:r>
              <a:rPr lang="en-US" cap="none" dirty="0">
                <a:latin typeface="Times New Roman" panose="02020603050405020304" pitchFamily="18" charset="0"/>
                <a:cs typeface="Times New Roman" panose="02020603050405020304" pitchFamily="18" charset="0"/>
              </a:rPr>
              <a:t>Literature Review</a:t>
            </a:r>
            <a:endParaRPr lang="en-KE"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6494DC2-CAE1-15FE-7AC4-FE809A72D5AB}"/>
              </a:ext>
            </a:extLst>
          </p:cNvPr>
          <p:cNvSpPr>
            <a:spLocks noGrp="1"/>
          </p:cNvSpPr>
          <p:nvPr>
            <p:ph idx="1"/>
          </p:nvPr>
        </p:nvSpPr>
        <p:spPr>
          <a:xfrm>
            <a:off x="863599" y="2015732"/>
            <a:ext cx="10515601" cy="3864368"/>
          </a:xfrm>
        </p:spPr>
        <p:txBody>
          <a:bodyPr>
            <a:normAutofit/>
          </a:bodyPr>
          <a:lstStyle/>
          <a:p>
            <a:r>
              <a:rPr lang="en-US" dirty="0">
                <a:latin typeface="Times New Roman" panose="02020603050405020304" pitchFamily="18" charset="0"/>
                <a:cs typeface="Times New Roman" panose="02020603050405020304" pitchFamily="18" charset="0"/>
              </a:rPr>
              <a:t>Facial recognition is a biometric technique used to identify faces and match those faces to a database of faces with an aim of identifying a human being from an image. From the definition, it is clear that face recognition is a two-step process with the first step being face detection and the second step being face identification. </a:t>
            </a:r>
          </a:p>
          <a:p>
            <a:r>
              <a:rPr lang="en-US" sz="1800" kern="100" dirty="0">
                <a:effectLst/>
                <a:latin typeface="Times New Roman" panose="02020603050405020304" pitchFamily="18" charset="0"/>
                <a:ea typeface="Noto Serif CJK SC"/>
              </a:rPr>
              <a:t>The first step of facial recognition (or the face detection step) is identifying and extracting human faces from an image. In this step, all objects in an image are extracted and checked to confirm if a picture contains a human face. If any human face is present in the image, the face is extracted from the image before step two begins</a:t>
            </a:r>
          </a:p>
          <a:p>
            <a:r>
              <a:rPr lang="en-US" sz="1800" kern="100" dirty="0">
                <a:effectLst/>
                <a:latin typeface="Times New Roman" panose="02020603050405020304" pitchFamily="18" charset="0"/>
                <a:ea typeface="Noto Serif CJK SC"/>
              </a:rPr>
              <a:t>In the second step or the image identification step, an image is compared to faces stored in a database to identify if the face matches the face of a known person.</a:t>
            </a:r>
            <a:endParaRPr lang="en-KE"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C61608F-1D75-9554-FB63-502FBDE9E377}"/>
              </a:ext>
            </a:extLst>
          </p:cNvPr>
          <p:cNvSpPr>
            <a:spLocks noGrp="1"/>
          </p:cNvSpPr>
          <p:nvPr>
            <p:ph type="sldNum" sz="quarter" idx="12"/>
          </p:nvPr>
        </p:nvSpPr>
        <p:spPr/>
        <p:txBody>
          <a:bodyPr/>
          <a:lstStyle/>
          <a:p>
            <a:fld id="{A755A77B-A17B-45F4-84E2-294C20E72625}" type="slidenum">
              <a:rPr lang="en-KE" smtClean="0"/>
              <a:t>7</a:t>
            </a:fld>
            <a:endParaRPr lang="en-KE"/>
          </a:p>
        </p:txBody>
      </p:sp>
    </p:spTree>
    <p:extLst>
      <p:ext uri="{BB962C8B-B14F-4D97-AF65-F5344CB8AC3E}">
        <p14:creationId xmlns:p14="http://schemas.microsoft.com/office/powerpoint/2010/main" val="1058655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201FA-3B00-BB26-DDF2-8E11F9A6793A}"/>
              </a:ext>
            </a:extLst>
          </p:cNvPr>
          <p:cNvSpPr>
            <a:spLocks noGrp="1"/>
          </p:cNvSpPr>
          <p:nvPr>
            <p:ph type="title"/>
          </p:nvPr>
        </p:nvSpPr>
        <p:spPr/>
        <p:txBody>
          <a:bodyPr/>
          <a:lstStyle/>
          <a:p>
            <a:r>
              <a:rPr lang="en-US" cap="none" dirty="0">
                <a:latin typeface="Times New Roman" panose="02020603050405020304" pitchFamily="18" charset="0"/>
                <a:cs typeface="Times New Roman" panose="02020603050405020304" pitchFamily="18" charset="0"/>
              </a:rPr>
              <a:t>Face Detection</a:t>
            </a:r>
            <a:endParaRPr lang="en-KE"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9DE61DE-BB54-B0C9-4273-ECDA03553A25}"/>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Given an arbitrary image, the objective of facial detection is to establish whether or not there are any faces in the image and if present, return the image location and extent of each face.</a:t>
            </a:r>
          </a:p>
          <a:p>
            <a:r>
              <a:rPr lang="en-US" dirty="0">
                <a:latin typeface="Times New Roman" panose="02020603050405020304" pitchFamily="18" charset="0"/>
                <a:cs typeface="Times New Roman" panose="02020603050405020304" pitchFamily="18" charset="0"/>
              </a:rPr>
              <a:t>There are several methods that could be used for detecting faces from images. These methods include knowledge based methods, feature invariant approaches, template matching methods, and appearance based methods. </a:t>
            </a:r>
          </a:p>
          <a:p>
            <a:r>
              <a:rPr lang="en-US" sz="1800" kern="100" dirty="0">
                <a:effectLst/>
                <a:latin typeface="Times New Roman" panose="02020603050405020304" pitchFamily="18" charset="0"/>
                <a:ea typeface="Noto Serif CJK SC"/>
              </a:rPr>
              <a:t>Yang et al., (2002) list the following five challenges that are associated with facial detection: - pose, occlusion, aging face expression, imaging conditions and image orientation.</a:t>
            </a:r>
            <a:endParaRPr lang="en-KE"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5DAC97AB-9CA0-B882-8E41-7C8399DD335A}"/>
              </a:ext>
            </a:extLst>
          </p:cNvPr>
          <p:cNvSpPr>
            <a:spLocks noGrp="1"/>
          </p:cNvSpPr>
          <p:nvPr>
            <p:ph type="sldNum" sz="quarter" idx="12"/>
          </p:nvPr>
        </p:nvSpPr>
        <p:spPr/>
        <p:txBody>
          <a:bodyPr/>
          <a:lstStyle/>
          <a:p>
            <a:fld id="{A755A77B-A17B-45F4-84E2-294C20E72625}" type="slidenum">
              <a:rPr lang="en-KE" smtClean="0"/>
              <a:t>8</a:t>
            </a:fld>
            <a:endParaRPr lang="en-KE"/>
          </a:p>
        </p:txBody>
      </p:sp>
    </p:spTree>
    <p:extLst>
      <p:ext uri="{BB962C8B-B14F-4D97-AF65-F5344CB8AC3E}">
        <p14:creationId xmlns:p14="http://schemas.microsoft.com/office/powerpoint/2010/main" val="14056688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7994B-1F17-F084-8DDB-75AEECF274DD}"/>
              </a:ext>
            </a:extLst>
          </p:cNvPr>
          <p:cNvSpPr>
            <a:spLocks noGrp="1"/>
          </p:cNvSpPr>
          <p:nvPr>
            <p:ph type="title"/>
          </p:nvPr>
        </p:nvSpPr>
        <p:spPr/>
        <p:txBody>
          <a:bodyPr/>
          <a:lstStyle/>
          <a:p>
            <a:r>
              <a:rPr lang="en-US" cap="none" dirty="0">
                <a:latin typeface="Times New Roman" panose="02020603050405020304" pitchFamily="18" charset="0"/>
                <a:cs typeface="Times New Roman" panose="02020603050405020304" pitchFamily="18" charset="0"/>
              </a:rPr>
              <a:t>Challenges In Face Detection</a:t>
            </a:r>
            <a:endParaRPr lang="en-KE"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3160955-B2D8-F3FD-CC97-DBA79C36F6AE}"/>
              </a:ext>
            </a:extLst>
          </p:cNvPr>
          <p:cNvSpPr>
            <a:spLocks noGrp="1"/>
          </p:cNvSpPr>
          <p:nvPr>
            <p:ph idx="1"/>
          </p:nvPr>
        </p:nvSpPr>
        <p:spPr>
          <a:xfrm>
            <a:off x="480060" y="2015732"/>
            <a:ext cx="11305539" cy="4037749"/>
          </a:xfrm>
        </p:spPr>
        <p:txBody>
          <a:bodyPr/>
          <a:lstStyle/>
          <a:p>
            <a:r>
              <a:rPr lang="en-US" sz="1800" b="1" kern="100" dirty="0">
                <a:solidFill>
                  <a:schemeClr val="accent3">
                    <a:lumMod val="75000"/>
                  </a:schemeClr>
                </a:solidFill>
                <a:effectLst/>
                <a:latin typeface="Times New Roman" panose="02020603050405020304" pitchFamily="18" charset="0"/>
                <a:ea typeface="Noto Serif CJK SC"/>
              </a:rPr>
              <a:t>Pose: </a:t>
            </a:r>
            <a:r>
              <a:rPr lang="en-US" sz="1800" kern="100" dirty="0">
                <a:effectLst/>
                <a:latin typeface="Times New Roman" panose="02020603050405020304" pitchFamily="18" charset="0"/>
                <a:ea typeface="Noto Serif CJK SC"/>
              </a:rPr>
              <a:t>A review of images databases will indicate that people like taking images in different poses. It follows that an image is likely to have a face that is twisted to the right, left, or even upside down. </a:t>
            </a:r>
          </a:p>
          <a:p>
            <a:r>
              <a:rPr lang="en-US" sz="1800" b="1" kern="100" dirty="0">
                <a:solidFill>
                  <a:schemeClr val="accent3">
                    <a:lumMod val="75000"/>
                  </a:schemeClr>
                </a:solidFill>
                <a:effectLst/>
                <a:latin typeface="Times New Roman" panose="02020603050405020304" pitchFamily="18" charset="0"/>
                <a:ea typeface="Noto Serif CJK SC"/>
              </a:rPr>
              <a:t>Occlusion: </a:t>
            </a:r>
            <a:r>
              <a:rPr lang="en-US" sz="1800" kern="100" dirty="0">
                <a:effectLst/>
                <a:latin typeface="Times New Roman" panose="02020603050405020304" pitchFamily="18" charset="0"/>
                <a:ea typeface="Noto Serif CJK SC"/>
              </a:rPr>
              <a:t>Human beings often have features that could affect image detection. For instance, men are known to have beards, which may or may not exist in images.</a:t>
            </a:r>
          </a:p>
          <a:p>
            <a:r>
              <a:rPr lang="en-US" sz="1800" b="1" kern="100" dirty="0">
                <a:solidFill>
                  <a:schemeClr val="accent3">
                    <a:lumMod val="75000"/>
                  </a:schemeClr>
                </a:solidFill>
                <a:effectLst/>
                <a:latin typeface="Times New Roman" panose="02020603050405020304" pitchFamily="18" charset="0"/>
                <a:ea typeface="Noto Serif CJK SC"/>
              </a:rPr>
              <a:t>Aging</a:t>
            </a:r>
            <a:r>
              <a:rPr lang="en-US" sz="1800" kern="100" dirty="0">
                <a:solidFill>
                  <a:schemeClr val="accent3">
                    <a:lumMod val="75000"/>
                  </a:schemeClr>
                </a:solidFill>
                <a:effectLst/>
                <a:latin typeface="Times New Roman" panose="02020603050405020304" pitchFamily="18" charset="0"/>
                <a:ea typeface="Noto Serif CJK SC"/>
              </a:rPr>
              <a:t>: </a:t>
            </a:r>
            <a:r>
              <a:rPr lang="en-US" sz="1800" kern="100" dirty="0">
                <a:effectLst/>
                <a:latin typeface="Times New Roman" panose="02020603050405020304" pitchFamily="18" charset="0"/>
                <a:ea typeface="Noto Serif CJK SC"/>
              </a:rPr>
              <a:t>Human faces are known to change with age progression which presents a challenge in facial recognition. This implies that there would be a significant difference in images if the time difference between the images is large. </a:t>
            </a:r>
          </a:p>
          <a:p>
            <a:r>
              <a:rPr lang="en-US" sz="1800" b="1" kern="100" dirty="0">
                <a:solidFill>
                  <a:schemeClr val="accent3">
                    <a:lumMod val="75000"/>
                  </a:schemeClr>
                </a:solidFill>
                <a:effectLst/>
                <a:latin typeface="Times New Roman" panose="02020603050405020304" pitchFamily="18" charset="0"/>
                <a:ea typeface="Noto Serif CJK SC"/>
              </a:rPr>
              <a:t>Facial expressions</a:t>
            </a:r>
            <a:r>
              <a:rPr lang="en-US" sz="1800" kern="100" dirty="0">
                <a:solidFill>
                  <a:schemeClr val="accent3">
                    <a:lumMod val="75000"/>
                  </a:schemeClr>
                </a:solidFill>
                <a:effectLst/>
                <a:latin typeface="Times New Roman" panose="02020603050405020304" pitchFamily="18" charset="0"/>
                <a:ea typeface="Noto Serif CJK SC"/>
              </a:rPr>
              <a:t>: </a:t>
            </a:r>
            <a:r>
              <a:rPr lang="en-US" sz="1800" kern="100" dirty="0">
                <a:effectLst/>
                <a:latin typeface="Times New Roman" panose="02020603050405020304" pitchFamily="18" charset="0"/>
                <a:ea typeface="Noto Serif CJK SC"/>
              </a:rPr>
              <a:t>Images of human faces could also be affected by their emotions because people can change their faces based on emotions they are experiencing. </a:t>
            </a:r>
          </a:p>
          <a:p>
            <a:r>
              <a:rPr lang="en-US" sz="1800" b="1" kern="100" dirty="0">
                <a:solidFill>
                  <a:schemeClr val="accent3">
                    <a:lumMod val="75000"/>
                  </a:schemeClr>
                </a:solidFill>
                <a:effectLst/>
                <a:latin typeface="Times New Roman" panose="02020603050405020304" pitchFamily="18" charset="0"/>
                <a:ea typeface="Noto Serif CJK SC"/>
              </a:rPr>
              <a:t>Imaging conditions and image orientation: </a:t>
            </a:r>
            <a:r>
              <a:rPr lang="en-US" sz="1800" kern="100" dirty="0">
                <a:effectLst/>
                <a:latin typeface="Times New Roman" panose="02020603050405020304" pitchFamily="18" charset="0"/>
                <a:ea typeface="Noto Serif CJK SC"/>
              </a:rPr>
              <a:t>A huge chunk of solutions in computer vision make the assumption that there is a single illuminant lighting in an image. Regardless, that is not always the case. </a:t>
            </a:r>
            <a:endParaRPr lang="en-KE" dirty="0"/>
          </a:p>
        </p:txBody>
      </p:sp>
      <p:sp>
        <p:nvSpPr>
          <p:cNvPr id="4" name="Slide Number Placeholder 3">
            <a:extLst>
              <a:ext uri="{FF2B5EF4-FFF2-40B4-BE49-F238E27FC236}">
                <a16:creationId xmlns:a16="http://schemas.microsoft.com/office/drawing/2014/main" id="{A9354F40-E2C1-CE36-4B3D-64C142FB3041}"/>
              </a:ext>
            </a:extLst>
          </p:cNvPr>
          <p:cNvSpPr>
            <a:spLocks noGrp="1"/>
          </p:cNvSpPr>
          <p:nvPr>
            <p:ph type="sldNum" sz="quarter" idx="12"/>
          </p:nvPr>
        </p:nvSpPr>
        <p:spPr/>
        <p:txBody>
          <a:bodyPr/>
          <a:lstStyle/>
          <a:p>
            <a:fld id="{A755A77B-A17B-45F4-84E2-294C20E72625}" type="slidenum">
              <a:rPr lang="en-KE" smtClean="0"/>
              <a:t>9</a:t>
            </a:fld>
            <a:endParaRPr lang="en-KE"/>
          </a:p>
        </p:txBody>
      </p:sp>
    </p:spTree>
    <p:extLst>
      <p:ext uri="{BB962C8B-B14F-4D97-AF65-F5344CB8AC3E}">
        <p14:creationId xmlns:p14="http://schemas.microsoft.com/office/powerpoint/2010/main" val="3341979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7F9D3-377B-D98A-57BA-E8390EA4419E}"/>
              </a:ext>
            </a:extLst>
          </p:cNvPr>
          <p:cNvSpPr>
            <a:spLocks noGrp="1"/>
          </p:cNvSpPr>
          <p:nvPr>
            <p:ph type="title"/>
          </p:nvPr>
        </p:nvSpPr>
        <p:spPr>
          <a:xfrm>
            <a:off x="1451579" y="274355"/>
            <a:ext cx="9603275" cy="1049235"/>
          </a:xfrm>
        </p:spPr>
        <p:txBody>
          <a:bodyPr/>
          <a:lstStyle/>
          <a:p>
            <a:r>
              <a:rPr lang="en-US" cap="none" dirty="0">
                <a:latin typeface="Times New Roman" panose="02020603050405020304" pitchFamily="18" charset="0"/>
                <a:cs typeface="Times New Roman" panose="02020603050405020304" pitchFamily="18" charset="0"/>
              </a:rPr>
              <a:t>Face Detection Approaches</a:t>
            </a:r>
            <a:endParaRPr lang="en-KE"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93E7248-FB13-B435-18DD-C43BBB49A48B}"/>
              </a:ext>
            </a:extLst>
          </p:cNvPr>
          <p:cNvSpPr>
            <a:spLocks noGrp="1"/>
          </p:cNvSpPr>
          <p:nvPr>
            <p:ph idx="1"/>
          </p:nvPr>
        </p:nvSpPr>
        <p:spPr>
          <a:xfrm>
            <a:off x="177800" y="1084790"/>
            <a:ext cx="11810999" cy="4968691"/>
          </a:xfrm>
        </p:spPr>
        <p:txBody>
          <a:bodyPr>
            <a:normAutofit/>
          </a:bodyPr>
          <a:lstStyle/>
          <a:p>
            <a:r>
              <a:rPr lang="en-US" sz="1800" b="1" cap="none" dirty="0">
                <a:solidFill>
                  <a:schemeClr val="accent3">
                    <a:lumMod val="75000"/>
                  </a:schemeClr>
                </a:solidFill>
                <a:latin typeface="Times New Roman" panose="02020603050405020304" pitchFamily="18" charset="0"/>
                <a:cs typeface="Times New Roman" panose="02020603050405020304" pitchFamily="18" charset="0"/>
              </a:rPr>
              <a:t>Knowledge Based Methods Of Facial Detection: </a:t>
            </a:r>
            <a:r>
              <a:rPr lang="en-US" sz="1800" kern="100" dirty="0">
                <a:effectLst/>
                <a:latin typeface="Times New Roman" panose="02020603050405020304" pitchFamily="18" charset="0"/>
                <a:ea typeface="Noto Serif CJK SC"/>
              </a:rPr>
              <a:t>This method relies on a set of rules to detect whether there is a human face in an image. The method captures the human knowledge of faces and interprets the knowledge into a set of rules. For instance, the face has two symmetric eyes; the eye areas are darker than the cheeks, the distance between eyes, and the difference in colors between the eyes and cheeks. </a:t>
            </a:r>
          </a:p>
          <a:p>
            <a:r>
              <a:rPr lang="en-US" sz="1800" b="1" kern="100" dirty="0">
                <a:solidFill>
                  <a:schemeClr val="accent3">
                    <a:lumMod val="75000"/>
                  </a:schemeClr>
                </a:solidFill>
                <a:effectLst/>
                <a:latin typeface="Liberation Serif"/>
                <a:ea typeface="Noto Serif CJK SC"/>
                <a:cs typeface="Lohit Devanagari"/>
              </a:rPr>
              <a:t>The Feature Invariant Approach of Face Detection: </a:t>
            </a:r>
            <a:r>
              <a:rPr lang="en-US" sz="1800" kern="100" dirty="0">
                <a:effectLst/>
                <a:latin typeface="Times New Roman" panose="02020603050405020304" pitchFamily="18" charset="0"/>
                <a:ea typeface="Noto Serif CJK SC"/>
              </a:rPr>
              <a:t>The feature invariant method of face detection is a little bit different from the knowledge based method because it uses statistical methods on facial landmarks. Examples of such landmarks include the eye corners, the nose tip, nostril corners, mouth corners, end points of eyebrow arcs, ear lobes, and the chin. </a:t>
            </a:r>
          </a:p>
          <a:p>
            <a:r>
              <a:rPr lang="en-US" sz="1800" b="1" kern="100" dirty="0">
                <a:solidFill>
                  <a:schemeClr val="accent3">
                    <a:lumMod val="75000"/>
                  </a:schemeClr>
                </a:solidFill>
                <a:effectLst/>
                <a:latin typeface="Liberation Serif"/>
                <a:ea typeface="Noto Serif CJK SC"/>
                <a:cs typeface="Lohit Devanagari"/>
              </a:rPr>
              <a:t>The Template Based Approach of Face Detection</a:t>
            </a:r>
            <a:r>
              <a:rPr lang="en-US" sz="1800" b="1" kern="100" dirty="0">
                <a:solidFill>
                  <a:schemeClr val="accent3">
                    <a:lumMod val="75000"/>
                  </a:schemeClr>
                </a:solidFill>
                <a:latin typeface="Liberation Serif"/>
                <a:ea typeface="Noto Serif CJK SC"/>
                <a:cs typeface="Lohit Devanagari"/>
              </a:rPr>
              <a:t>: </a:t>
            </a:r>
            <a:r>
              <a:rPr lang="en-US" sz="1800" b="1" kern="100" dirty="0">
                <a:latin typeface="Times New Roman" panose="02020603050405020304" pitchFamily="18" charset="0"/>
                <a:ea typeface="Noto Serif CJK SC"/>
                <a:cs typeface="Lohit Devanagari"/>
              </a:rPr>
              <a:t>T</a:t>
            </a:r>
            <a:r>
              <a:rPr lang="en-US" sz="1800" kern="100" dirty="0">
                <a:effectLst/>
                <a:latin typeface="Times New Roman" panose="02020603050405020304" pitchFamily="18" charset="0"/>
                <a:ea typeface="Noto Serif CJK SC"/>
              </a:rPr>
              <a:t>he template based approach transforms an image into geometric primitives like curves and points. This is done by identifying distinctive features like the eye, the nose, the chin, and the mouth before measuring their relative positions</a:t>
            </a:r>
            <a:r>
              <a:rPr lang="en-US" sz="1800" kern="100" dirty="0">
                <a:latin typeface="Liberation Serif"/>
                <a:ea typeface="Noto Serif CJK SC"/>
              </a:rPr>
              <a:t>.</a:t>
            </a:r>
          </a:p>
          <a:p>
            <a:r>
              <a:rPr lang="en-US" sz="1800" b="1" kern="100" dirty="0">
                <a:solidFill>
                  <a:schemeClr val="accent3">
                    <a:lumMod val="75000"/>
                  </a:schemeClr>
                </a:solidFill>
                <a:effectLst/>
                <a:latin typeface="Liberation Serif"/>
                <a:ea typeface="Noto Serif CJK SC"/>
                <a:cs typeface="Lohit Devanagari"/>
              </a:rPr>
              <a:t>The Appearance Based Approach of Facial Detection: </a:t>
            </a:r>
            <a:r>
              <a:rPr lang="en-US" sz="1800" kern="100" dirty="0">
                <a:effectLst/>
                <a:latin typeface="Times New Roman" panose="02020603050405020304" pitchFamily="18" charset="0"/>
                <a:ea typeface="Noto Serif CJK SC"/>
              </a:rPr>
              <a:t>The idea behind using Appearance methods for face detection relies on the linear algebra concept of subspaces. This approach of facial detection relies on the entire face, which is taken in as an input image data. The data collected from the input image is processed into a two dimensional pattern that is later used to decide whether there is a human face in an image.</a:t>
            </a:r>
            <a:endParaRPr lang="en-KE" sz="1800" kern="100" dirty="0">
              <a:effectLst/>
              <a:latin typeface="Liberation Serif"/>
              <a:ea typeface="Noto Serif CJK SC"/>
              <a:cs typeface="Lohit Devanagari"/>
            </a:endParaRPr>
          </a:p>
          <a:p>
            <a:endParaRPr lang="en-KE" sz="1800" kern="100" dirty="0">
              <a:effectLst/>
              <a:latin typeface="Liberation Serif"/>
              <a:ea typeface="Noto Serif CJK SC"/>
              <a:cs typeface="Lohit Devanagari"/>
            </a:endParaRPr>
          </a:p>
          <a:p>
            <a:endParaRPr lang="en-KE" dirty="0"/>
          </a:p>
        </p:txBody>
      </p:sp>
      <p:sp>
        <p:nvSpPr>
          <p:cNvPr id="4" name="Slide Number Placeholder 3">
            <a:extLst>
              <a:ext uri="{FF2B5EF4-FFF2-40B4-BE49-F238E27FC236}">
                <a16:creationId xmlns:a16="http://schemas.microsoft.com/office/drawing/2014/main" id="{15842CEA-77BA-FE82-3457-DF17BF73AD9F}"/>
              </a:ext>
            </a:extLst>
          </p:cNvPr>
          <p:cNvSpPr>
            <a:spLocks noGrp="1"/>
          </p:cNvSpPr>
          <p:nvPr>
            <p:ph type="sldNum" sz="quarter" idx="12"/>
          </p:nvPr>
        </p:nvSpPr>
        <p:spPr/>
        <p:txBody>
          <a:bodyPr/>
          <a:lstStyle/>
          <a:p>
            <a:fld id="{A755A77B-A17B-45F4-84E2-294C20E72625}" type="slidenum">
              <a:rPr lang="en-KE" smtClean="0"/>
              <a:t>10</a:t>
            </a:fld>
            <a:endParaRPr lang="en-KE"/>
          </a:p>
        </p:txBody>
      </p:sp>
    </p:spTree>
    <p:extLst>
      <p:ext uri="{BB962C8B-B14F-4D97-AF65-F5344CB8AC3E}">
        <p14:creationId xmlns:p14="http://schemas.microsoft.com/office/powerpoint/2010/main" val="10296907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37E59-5DC9-0961-33E0-3D9C63186214}"/>
              </a:ext>
            </a:extLst>
          </p:cNvPr>
          <p:cNvSpPr>
            <a:spLocks noGrp="1"/>
          </p:cNvSpPr>
          <p:nvPr>
            <p:ph type="title"/>
          </p:nvPr>
        </p:nvSpPr>
        <p:spPr>
          <a:xfrm>
            <a:off x="646111" y="452718"/>
            <a:ext cx="9404723" cy="767687"/>
          </a:xfrm>
        </p:spPr>
        <p:txBody>
          <a:bodyPr/>
          <a:lstStyle/>
          <a:p>
            <a:r>
              <a:rPr lang="en-US" b="1" dirty="0">
                <a:latin typeface="Times New Roman" panose="02020603050405020304" pitchFamily="18" charset="0"/>
                <a:cs typeface="Times New Roman" panose="02020603050405020304" pitchFamily="18" charset="0"/>
              </a:rPr>
              <a:t>Face Identification Approaches</a:t>
            </a:r>
            <a:endParaRPr lang="en-KE"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123DAEC-4C22-9BE7-73E7-20E27CD74982}"/>
              </a:ext>
            </a:extLst>
          </p:cNvPr>
          <p:cNvSpPr>
            <a:spLocks noGrp="1"/>
          </p:cNvSpPr>
          <p:nvPr>
            <p:ph idx="1"/>
          </p:nvPr>
        </p:nvSpPr>
        <p:spPr>
          <a:xfrm>
            <a:off x="177800" y="1220406"/>
            <a:ext cx="11874500" cy="5510594"/>
          </a:xfrm>
        </p:spPr>
        <p:txBody>
          <a:bodyPr/>
          <a:lstStyle/>
          <a:p>
            <a:r>
              <a:rPr lang="en-US" sz="1800" kern="100" dirty="0">
                <a:solidFill>
                  <a:schemeClr val="accent3">
                    <a:lumMod val="75000"/>
                  </a:schemeClr>
                </a:solidFill>
                <a:effectLst/>
                <a:latin typeface="Liberation Serif"/>
                <a:ea typeface="Noto Serif CJK SC"/>
                <a:cs typeface="Lohit Devanagari"/>
              </a:rPr>
              <a:t>Template Matching / Geometric Approaches: </a:t>
            </a:r>
            <a:r>
              <a:rPr lang="en-US" sz="1800" kern="100" dirty="0">
                <a:effectLst/>
                <a:latin typeface="Liberation Serif"/>
                <a:ea typeface="Noto Serif CJK SC"/>
                <a:cs typeface="Lohit Devanagari"/>
              </a:rPr>
              <a:t>The template matching or the geometric approach of facial recognition is similar to the template matching of the face detection step. However, the objective of the facial recognition step is different from the objective in the face identification step. This owes to the reality that the objective of the facial recognition step is to match a face to a known person while the objective in the face detection step is to identify whether an object in an image is a human face or not. </a:t>
            </a:r>
          </a:p>
          <a:p>
            <a:r>
              <a:rPr lang="en-US" sz="1800" b="1" kern="100" dirty="0">
                <a:solidFill>
                  <a:schemeClr val="accent3">
                    <a:lumMod val="75000"/>
                  </a:schemeClr>
                </a:solidFill>
                <a:effectLst/>
                <a:latin typeface="Liberation Serif"/>
                <a:ea typeface="Noto Serif CJK SC"/>
                <a:cs typeface="Mangal" panose="02040503050203030202" pitchFamily="18" charset="0"/>
              </a:rPr>
              <a:t>Appearance Based Methods: </a:t>
            </a:r>
            <a:r>
              <a:rPr lang="en-US" sz="1800" kern="100" dirty="0">
                <a:effectLst/>
                <a:latin typeface="Times New Roman" panose="02020603050405020304" pitchFamily="18" charset="0"/>
                <a:ea typeface="Noto Serif CJK SC"/>
              </a:rPr>
              <a:t>Appearance based methods of face identification work the same way they work for face detection with the difference being the purpose of the method. This owes to the fact that the entire face is used to identify a face but with an aim of matching a face to that of a known person. Wu et al., (2018) also debate appearance based methods of facial recognition by examining facial expressions using the technique in question. </a:t>
            </a:r>
          </a:p>
          <a:p>
            <a:endParaRPr lang="en-KE" sz="1800" b="1" kern="100" dirty="0">
              <a:effectLst/>
              <a:latin typeface="Liberation Serif"/>
              <a:ea typeface="Noto Serif CJK SC"/>
              <a:cs typeface="Mangal" panose="02040503050203030202" pitchFamily="18" charset="0"/>
            </a:endParaRPr>
          </a:p>
        </p:txBody>
      </p:sp>
      <p:sp>
        <p:nvSpPr>
          <p:cNvPr id="4" name="Slide Number Placeholder 3">
            <a:extLst>
              <a:ext uri="{FF2B5EF4-FFF2-40B4-BE49-F238E27FC236}">
                <a16:creationId xmlns:a16="http://schemas.microsoft.com/office/drawing/2014/main" id="{250CD2BC-4375-CA00-E10F-EF01C3759639}"/>
              </a:ext>
            </a:extLst>
          </p:cNvPr>
          <p:cNvSpPr>
            <a:spLocks noGrp="1"/>
          </p:cNvSpPr>
          <p:nvPr>
            <p:ph type="sldNum" sz="quarter" idx="12"/>
          </p:nvPr>
        </p:nvSpPr>
        <p:spPr/>
        <p:txBody>
          <a:bodyPr/>
          <a:lstStyle/>
          <a:p>
            <a:fld id="{A755A77B-A17B-45F4-84E2-294C20E72625}" type="slidenum">
              <a:rPr lang="en-KE" smtClean="0"/>
              <a:t>11</a:t>
            </a:fld>
            <a:endParaRPr lang="en-KE"/>
          </a:p>
        </p:txBody>
      </p:sp>
    </p:spTree>
    <p:extLst>
      <p:ext uri="{BB962C8B-B14F-4D97-AF65-F5344CB8AC3E}">
        <p14:creationId xmlns:p14="http://schemas.microsoft.com/office/powerpoint/2010/main" val="449195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A2011-6210-0045-7E34-70F1C14216C7}"/>
              </a:ext>
            </a:extLst>
          </p:cNvPr>
          <p:cNvSpPr>
            <a:spLocks noGrp="1"/>
          </p:cNvSpPr>
          <p:nvPr>
            <p:ph type="title"/>
          </p:nvPr>
        </p:nvSpPr>
        <p:spPr/>
        <p:txBody>
          <a:bodyPr/>
          <a:lstStyle/>
          <a:p>
            <a:r>
              <a:rPr lang="en-US" b="1" kern="100" dirty="0">
                <a:effectLst/>
                <a:latin typeface="Times New Roman" panose="02020603050405020304" pitchFamily="18" charset="0"/>
                <a:ea typeface="Noto Serif CJK SC"/>
                <a:cs typeface="Times New Roman" panose="02020603050405020304" pitchFamily="18" charset="0"/>
              </a:rPr>
              <a:t>Types of Neural Networks</a:t>
            </a:r>
            <a:br>
              <a:rPr lang="en-KE" sz="1800" b="1" kern="100" dirty="0">
                <a:effectLst/>
                <a:latin typeface="Liberation Serif"/>
                <a:ea typeface="Noto Serif CJK SC"/>
                <a:cs typeface="Lohit Devanagari"/>
              </a:rPr>
            </a:br>
            <a:endParaRPr lang="en-KE" dirty="0"/>
          </a:p>
        </p:txBody>
      </p:sp>
      <p:sp>
        <p:nvSpPr>
          <p:cNvPr id="3" name="Content Placeholder 2">
            <a:extLst>
              <a:ext uri="{FF2B5EF4-FFF2-40B4-BE49-F238E27FC236}">
                <a16:creationId xmlns:a16="http://schemas.microsoft.com/office/drawing/2014/main" id="{5BCF671B-8EC4-51F2-75F2-5C2A6AA28EA6}"/>
              </a:ext>
            </a:extLst>
          </p:cNvPr>
          <p:cNvSpPr>
            <a:spLocks noGrp="1"/>
          </p:cNvSpPr>
          <p:nvPr>
            <p:ph idx="1"/>
          </p:nvPr>
        </p:nvSpPr>
        <p:spPr>
          <a:xfrm>
            <a:off x="177800" y="1282700"/>
            <a:ext cx="11671300" cy="5279571"/>
          </a:xfrm>
        </p:spPr>
        <p:txBody>
          <a:bodyPr/>
          <a:lstStyle/>
          <a:p>
            <a:r>
              <a:rPr lang="en-US" b="1" dirty="0">
                <a:solidFill>
                  <a:schemeClr val="accent3">
                    <a:lumMod val="75000"/>
                  </a:schemeClr>
                </a:solidFill>
                <a:latin typeface="Times New Roman" panose="02020603050405020304" pitchFamily="18" charset="0"/>
                <a:cs typeface="Times New Roman" panose="02020603050405020304" pitchFamily="18" charset="0"/>
              </a:rPr>
              <a:t>Multiple Layer Neural Network: </a:t>
            </a:r>
            <a:r>
              <a:rPr lang="en-US" sz="1800" kern="100" dirty="0">
                <a:effectLst/>
                <a:latin typeface="Times New Roman" panose="02020603050405020304" pitchFamily="18" charset="0"/>
                <a:ea typeface="Noto Serif CJK SC"/>
              </a:rPr>
              <a:t>A multilayer neural network consists of an input layer, which feeds in data to the first layer of the neural network. The first layer then feeds in data to at least one additional layer before sending the results to an output layer (for a case of a neural network with two layers). </a:t>
            </a:r>
          </a:p>
          <a:p>
            <a:r>
              <a:rPr lang="en-US" sz="1800" kern="100" dirty="0">
                <a:effectLst/>
                <a:latin typeface="Times New Roman" panose="02020603050405020304" pitchFamily="18" charset="0"/>
                <a:ea typeface="Noto Serif CJK SC"/>
              </a:rPr>
              <a:t>Zhang et al., (2022) applied the artificial neural network algorithm on facial biological image information recognition and scanning. Specifically, the authors involved a methodology that used imaging technology to detect and extract the biological attributes of the image. </a:t>
            </a:r>
          </a:p>
          <a:p>
            <a:r>
              <a:rPr lang="en-US" sz="1800" kern="100" dirty="0">
                <a:effectLst/>
                <a:latin typeface="Times New Roman" panose="02020603050405020304" pitchFamily="18" charset="0"/>
                <a:ea typeface="Noto Serif CJK SC"/>
              </a:rPr>
              <a:t>Balarini et al., (2011) assert that ANNs require a lot of time to train a model. The problem becomes even worse if the number of neurons and hidden layers required to train a model is high.</a:t>
            </a:r>
            <a:endParaRPr lang="en-US" sz="1800" kern="100" dirty="0">
              <a:latin typeface="Times New Roman" panose="02020603050405020304" pitchFamily="18" charset="0"/>
              <a:ea typeface="Noto Serif CJK SC"/>
            </a:endParaRPr>
          </a:p>
          <a:p>
            <a:r>
              <a:rPr lang="en-US" sz="1800" kern="100" dirty="0">
                <a:effectLst/>
                <a:latin typeface="Times New Roman" panose="02020603050405020304" pitchFamily="18" charset="0"/>
                <a:ea typeface="Noto Serif CJK SC"/>
              </a:rPr>
              <a:t>Another problem associated with ANNs is the vanishing gradient problem. Tarnate et al., (2020) define the vanishing gradient problem as a case when the neural network becomes too deep hence the network becomes hard to train and could result in a situation where network will not finish its training process.</a:t>
            </a:r>
          </a:p>
          <a:p>
            <a:r>
              <a:rPr lang="en-US" sz="1800" kern="100" dirty="0">
                <a:effectLst/>
                <a:latin typeface="Times New Roman" panose="02020603050405020304" pitchFamily="18" charset="0"/>
                <a:ea typeface="Noto Serif CJK SC"/>
              </a:rPr>
              <a:t>Roza and Mohsen (2021) discuss some of the advantages of ANNS arguing that they have an extraordinary ability of in learning well in the face of minor disturbances.</a:t>
            </a:r>
            <a:endParaRPr lang="en-KE"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11CF1B1-3A04-FD0D-EA72-842F212CC48B}"/>
              </a:ext>
            </a:extLst>
          </p:cNvPr>
          <p:cNvSpPr>
            <a:spLocks noGrp="1"/>
          </p:cNvSpPr>
          <p:nvPr>
            <p:ph type="sldNum" sz="quarter" idx="12"/>
          </p:nvPr>
        </p:nvSpPr>
        <p:spPr/>
        <p:txBody>
          <a:bodyPr/>
          <a:lstStyle/>
          <a:p>
            <a:fld id="{A755A77B-A17B-45F4-84E2-294C20E72625}" type="slidenum">
              <a:rPr lang="en-KE" smtClean="0"/>
              <a:t>12</a:t>
            </a:fld>
            <a:endParaRPr lang="en-KE"/>
          </a:p>
        </p:txBody>
      </p:sp>
    </p:spTree>
    <p:extLst>
      <p:ext uri="{BB962C8B-B14F-4D97-AF65-F5344CB8AC3E}">
        <p14:creationId xmlns:p14="http://schemas.microsoft.com/office/powerpoint/2010/main" val="3387252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29515-443F-00AE-2EF2-E717934826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59C188-6D29-1472-A5D2-2DE284C564A8}"/>
              </a:ext>
            </a:extLst>
          </p:cNvPr>
          <p:cNvSpPr>
            <a:spLocks noGrp="1"/>
          </p:cNvSpPr>
          <p:nvPr>
            <p:ph type="title"/>
          </p:nvPr>
        </p:nvSpPr>
        <p:spPr/>
        <p:txBody>
          <a:bodyPr/>
          <a:lstStyle/>
          <a:p>
            <a:r>
              <a:rPr lang="en-US" b="1" kern="100" dirty="0">
                <a:effectLst/>
                <a:latin typeface="Times New Roman" panose="02020603050405020304" pitchFamily="18" charset="0"/>
                <a:ea typeface="Noto Serif CJK SC"/>
                <a:cs typeface="Times New Roman" panose="02020603050405020304" pitchFamily="18" charset="0"/>
              </a:rPr>
              <a:t>Types of Neural Networks</a:t>
            </a:r>
            <a:br>
              <a:rPr lang="en-KE" sz="1800" b="1" kern="100" dirty="0">
                <a:effectLst/>
                <a:latin typeface="Liberation Serif"/>
                <a:ea typeface="Noto Serif CJK SC"/>
                <a:cs typeface="Lohit Devanagari"/>
              </a:rPr>
            </a:br>
            <a:endParaRPr lang="en-KE" dirty="0"/>
          </a:p>
        </p:txBody>
      </p:sp>
      <p:sp>
        <p:nvSpPr>
          <p:cNvPr id="3" name="Content Placeholder 2">
            <a:extLst>
              <a:ext uri="{FF2B5EF4-FFF2-40B4-BE49-F238E27FC236}">
                <a16:creationId xmlns:a16="http://schemas.microsoft.com/office/drawing/2014/main" id="{22ACD832-C6B8-62D2-61E2-5AE05EA5BDCF}"/>
              </a:ext>
            </a:extLst>
          </p:cNvPr>
          <p:cNvSpPr>
            <a:spLocks noGrp="1"/>
          </p:cNvSpPr>
          <p:nvPr>
            <p:ph idx="1"/>
          </p:nvPr>
        </p:nvSpPr>
        <p:spPr>
          <a:xfrm>
            <a:off x="177800" y="1282700"/>
            <a:ext cx="11671300" cy="5279571"/>
          </a:xfrm>
        </p:spPr>
        <p:txBody>
          <a:bodyPr/>
          <a:lstStyle/>
          <a:p>
            <a:r>
              <a:rPr lang="en-US" b="1" dirty="0">
                <a:solidFill>
                  <a:schemeClr val="accent3">
                    <a:lumMod val="75000"/>
                  </a:schemeClr>
                </a:solidFill>
                <a:latin typeface="Times New Roman" panose="02020603050405020304" pitchFamily="18" charset="0"/>
                <a:cs typeface="Times New Roman" panose="02020603050405020304" pitchFamily="18" charset="0"/>
              </a:rPr>
              <a:t>Convolution Neural Networks: </a:t>
            </a:r>
            <a:r>
              <a:rPr lang="en-US" sz="1800" kern="100" dirty="0">
                <a:effectLst/>
                <a:latin typeface="Times New Roman" panose="02020603050405020304" pitchFamily="18" charset="0"/>
                <a:ea typeface="Noto Serif CJK SC"/>
                <a:cs typeface="Times New Roman" panose="02020603050405020304" pitchFamily="18" charset="0"/>
              </a:rPr>
              <a:t>A Convolutional neural network (CNN) is a type of artificial neural network that has one or more convolution layers and are used mainly for image processing, classification, and segmentation. Consequently, CNNs use a convolution layer, a pooling layer, a fully connected layer and an activation function layer, which makes them different from ANNs. Koodalsamy, et al., (2023) </a:t>
            </a:r>
          </a:p>
          <a:p>
            <a:r>
              <a:rPr lang="en-US" sz="1800" kern="100" dirty="0">
                <a:effectLst/>
                <a:latin typeface="Times New Roman" panose="02020603050405020304" pitchFamily="18" charset="0"/>
                <a:ea typeface="Noto Serif CJK SC"/>
                <a:cs typeface="Times New Roman" panose="02020603050405020304" pitchFamily="18" charset="0"/>
              </a:rPr>
              <a:t>Xiaobo et al., (2023) recognize that facial recognition is hampered by factors such as posture, light and the background of the image. As a result, the authors proposed the addition of an attention mechanism to convolution neural networks in a bid to reduce the effects of factors that affect facial recognition. </a:t>
            </a:r>
          </a:p>
          <a:p>
            <a:r>
              <a:rPr lang="en-US" sz="1800" kern="100" dirty="0">
                <a:effectLst/>
                <a:latin typeface="Times New Roman" panose="02020603050405020304" pitchFamily="18" charset="0"/>
                <a:ea typeface="Noto Serif CJK SC"/>
                <a:cs typeface="Times New Roman" panose="02020603050405020304" pitchFamily="18" charset="0"/>
              </a:rPr>
              <a:t>Balarini et al., (2011) assert that ANNs require a lot of time to train a model. The problem becomes even worse if the number of neurons and hidden layers required to train a model is high.</a:t>
            </a:r>
            <a:endParaRPr lang="en-US" sz="1800" kern="100" dirty="0">
              <a:latin typeface="Times New Roman" panose="02020603050405020304" pitchFamily="18" charset="0"/>
              <a:ea typeface="Noto Serif CJK SC"/>
              <a:cs typeface="Times New Roman" panose="02020603050405020304" pitchFamily="18" charset="0"/>
            </a:endParaRPr>
          </a:p>
          <a:p>
            <a:r>
              <a:rPr lang="en-US" sz="1800" kern="100" dirty="0">
                <a:effectLst/>
                <a:latin typeface="Times New Roman" panose="02020603050405020304" pitchFamily="18" charset="0"/>
                <a:ea typeface="Noto Serif CJK SC"/>
                <a:cs typeface="Times New Roman" panose="02020603050405020304" pitchFamily="18" charset="0"/>
              </a:rPr>
              <a:t>CNNs bypass the feature engineering stage of deep learning because feature engineering in CNNs is done during the training time. Another advantage of convolutional neural networks is that they allow weight sharing, which in turn improves the efficiency of CNNs. </a:t>
            </a:r>
          </a:p>
          <a:p>
            <a:r>
              <a:rPr lang="en-US" sz="1800" kern="100" dirty="0">
                <a:effectLst/>
                <a:latin typeface="Times New Roman" panose="02020603050405020304" pitchFamily="18" charset="0"/>
                <a:ea typeface="Noto Serif CJK SC"/>
                <a:cs typeface="Times New Roman" panose="02020603050405020304" pitchFamily="18" charset="0"/>
              </a:rPr>
              <a:t>To begin with, convolution neural networks are known to perform poorly when used with negative images. Hosseini et al., (2017) defines negative images as those with reversed brightness, i.e., the lightest parts appear the darkest and the darkest parts appear lightest.</a:t>
            </a:r>
            <a:endParaRPr lang="en-KE"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AD2EFE4-FDF4-E04B-0A66-53F766004735}"/>
              </a:ext>
            </a:extLst>
          </p:cNvPr>
          <p:cNvSpPr>
            <a:spLocks noGrp="1"/>
          </p:cNvSpPr>
          <p:nvPr>
            <p:ph type="sldNum" sz="quarter" idx="12"/>
          </p:nvPr>
        </p:nvSpPr>
        <p:spPr/>
        <p:txBody>
          <a:bodyPr/>
          <a:lstStyle/>
          <a:p>
            <a:fld id="{A755A77B-A17B-45F4-84E2-294C20E72625}" type="slidenum">
              <a:rPr lang="en-KE" smtClean="0"/>
              <a:t>13</a:t>
            </a:fld>
            <a:endParaRPr lang="en-KE"/>
          </a:p>
        </p:txBody>
      </p:sp>
    </p:spTree>
    <p:extLst>
      <p:ext uri="{BB962C8B-B14F-4D97-AF65-F5344CB8AC3E}">
        <p14:creationId xmlns:p14="http://schemas.microsoft.com/office/powerpoint/2010/main" val="88081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46A37-1EDF-2BA6-FF29-BA29AA28C3E2}"/>
              </a:ext>
            </a:extLst>
          </p:cNvPr>
          <p:cNvSpPr>
            <a:spLocks noGrp="1"/>
          </p:cNvSpPr>
          <p:nvPr>
            <p:ph type="title"/>
          </p:nvPr>
        </p:nvSpPr>
        <p:spPr/>
        <p:txBody>
          <a:bodyPr/>
          <a:lstStyle/>
          <a:p>
            <a:r>
              <a:rPr lang="en-US" dirty="0"/>
              <a:t>Padding in Convolution Neural Networks</a:t>
            </a:r>
            <a:endParaRPr lang="en-KE" dirty="0"/>
          </a:p>
        </p:txBody>
      </p:sp>
      <p:sp>
        <p:nvSpPr>
          <p:cNvPr id="3" name="Content Placeholder 2">
            <a:extLst>
              <a:ext uri="{FF2B5EF4-FFF2-40B4-BE49-F238E27FC236}">
                <a16:creationId xmlns:a16="http://schemas.microsoft.com/office/drawing/2014/main" id="{9D271F57-9CD8-D485-2AA8-807EC9AABEBC}"/>
              </a:ext>
            </a:extLst>
          </p:cNvPr>
          <p:cNvSpPr>
            <a:spLocks noGrp="1"/>
          </p:cNvSpPr>
          <p:nvPr>
            <p:ph idx="1"/>
          </p:nvPr>
        </p:nvSpPr>
        <p:spPr>
          <a:xfrm>
            <a:off x="114300" y="2052918"/>
            <a:ext cx="11912600" cy="4601882"/>
          </a:xfrm>
        </p:spPr>
        <p:txBody>
          <a:bodyPr/>
          <a:lstStyle/>
          <a:p>
            <a:r>
              <a:rPr lang="en-US" dirty="0"/>
              <a:t>Padding is one of the strategies used to develop convolution neural networks and often produces better results when used. What is padding? The term padding could be defined as a technique used in convolution neural networks where additional data is added to the edges of a dataset in order to prevent loss of information.</a:t>
            </a:r>
          </a:p>
          <a:p>
            <a:r>
              <a:rPr lang="en-US" dirty="0"/>
              <a:t> </a:t>
            </a:r>
            <a:r>
              <a:rPr lang="en-US" dirty="0">
                <a:solidFill>
                  <a:schemeClr val="accent3">
                    <a:lumMod val="75000"/>
                  </a:schemeClr>
                </a:solidFill>
              </a:rPr>
              <a:t>Zero Padding: </a:t>
            </a:r>
            <a:r>
              <a:rPr lang="en-US" dirty="0"/>
              <a:t>This padding strategy has been used widely and occurs when zeros are added around an image at the expense of cropping or resizing an image. </a:t>
            </a:r>
          </a:p>
          <a:p>
            <a:r>
              <a:rPr lang="en-US" dirty="0">
                <a:solidFill>
                  <a:schemeClr val="accent3">
                    <a:lumMod val="75000"/>
                  </a:schemeClr>
                </a:solidFill>
              </a:rPr>
              <a:t>Same Padding: </a:t>
            </a:r>
            <a:r>
              <a:rPr lang="en-US" dirty="0"/>
              <a:t>This padding strategy is similar to zero padding when zeros are added to the edges of an image. However, a different figure, say 1, could be added on the edges of an image.</a:t>
            </a:r>
          </a:p>
          <a:p>
            <a:r>
              <a:rPr lang="en-US" dirty="0">
                <a:solidFill>
                  <a:schemeClr val="accent3">
                    <a:lumMod val="75000"/>
                  </a:schemeClr>
                </a:solidFill>
              </a:rPr>
              <a:t>Valid Padding: </a:t>
            </a:r>
            <a:r>
              <a:rPr lang="en-US" dirty="0"/>
              <a:t>valid padding occurs when no extra data is placed at the borders of a matrix or image. Essentially, it is best understood as the absence of padding.</a:t>
            </a:r>
          </a:p>
          <a:p>
            <a:r>
              <a:rPr lang="en-US" dirty="0">
                <a:solidFill>
                  <a:schemeClr val="accent3">
                    <a:lumMod val="75000"/>
                  </a:schemeClr>
                </a:solidFill>
              </a:rPr>
              <a:t>Reflection Padding: </a:t>
            </a:r>
            <a:r>
              <a:rPr lang="en-US" dirty="0"/>
              <a:t>This padding technique works by extracting pixels from the border of an image and adding them to the same border in reverse order. </a:t>
            </a:r>
            <a:endParaRPr lang="en-KE" dirty="0"/>
          </a:p>
        </p:txBody>
      </p:sp>
      <p:sp>
        <p:nvSpPr>
          <p:cNvPr id="4" name="Slide Number Placeholder 3">
            <a:extLst>
              <a:ext uri="{FF2B5EF4-FFF2-40B4-BE49-F238E27FC236}">
                <a16:creationId xmlns:a16="http://schemas.microsoft.com/office/drawing/2014/main" id="{D5A8881A-9D93-CDF8-8561-0F8747E1A205}"/>
              </a:ext>
            </a:extLst>
          </p:cNvPr>
          <p:cNvSpPr>
            <a:spLocks noGrp="1"/>
          </p:cNvSpPr>
          <p:nvPr>
            <p:ph type="sldNum" sz="quarter" idx="12"/>
          </p:nvPr>
        </p:nvSpPr>
        <p:spPr/>
        <p:txBody>
          <a:bodyPr/>
          <a:lstStyle/>
          <a:p>
            <a:fld id="{A755A77B-A17B-45F4-84E2-294C20E72625}" type="slidenum">
              <a:rPr lang="en-KE" smtClean="0"/>
              <a:t>14</a:t>
            </a:fld>
            <a:endParaRPr lang="en-KE"/>
          </a:p>
        </p:txBody>
      </p:sp>
    </p:spTree>
    <p:extLst>
      <p:ext uri="{BB962C8B-B14F-4D97-AF65-F5344CB8AC3E}">
        <p14:creationId xmlns:p14="http://schemas.microsoft.com/office/powerpoint/2010/main" val="2797016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A64DE-1CCB-4895-841D-FE80E4E8E440}"/>
              </a:ext>
            </a:extLst>
          </p:cNvPr>
          <p:cNvSpPr>
            <a:spLocks noGrp="1"/>
          </p:cNvSpPr>
          <p:nvPr>
            <p:ph type="title"/>
          </p:nvPr>
        </p:nvSpPr>
        <p:spPr>
          <a:xfrm>
            <a:off x="646111" y="452718"/>
            <a:ext cx="9404723" cy="448982"/>
          </a:xfrm>
        </p:spPr>
        <p:txBody>
          <a:bodyPr/>
          <a:lstStyle/>
          <a:p>
            <a:endParaRPr lang="en-KE" dirty="0"/>
          </a:p>
        </p:txBody>
      </p:sp>
      <p:sp>
        <p:nvSpPr>
          <p:cNvPr id="3" name="Content Placeholder 2">
            <a:extLst>
              <a:ext uri="{FF2B5EF4-FFF2-40B4-BE49-F238E27FC236}">
                <a16:creationId xmlns:a16="http://schemas.microsoft.com/office/drawing/2014/main" id="{3927AECF-5F03-234B-EA1C-10947E77B60C}"/>
              </a:ext>
            </a:extLst>
          </p:cNvPr>
          <p:cNvSpPr>
            <a:spLocks noGrp="1"/>
          </p:cNvSpPr>
          <p:nvPr>
            <p:ph idx="1"/>
          </p:nvPr>
        </p:nvSpPr>
        <p:spPr>
          <a:xfrm>
            <a:off x="406400" y="1063416"/>
            <a:ext cx="11430000" cy="5616784"/>
          </a:xfrm>
        </p:spPr>
        <p:txBody>
          <a:bodyPr>
            <a:normAutofit/>
          </a:bodyPr>
          <a:lstStyle/>
          <a:p>
            <a:r>
              <a:rPr lang="en-US" dirty="0">
                <a:solidFill>
                  <a:schemeClr val="accent3">
                    <a:lumMod val="75000"/>
                  </a:schemeClr>
                </a:solidFill>
                <a:latin typeface="Times New Roman" panose="02020603050405020304" pitchFamily="18" charset="0"/>
                <a:cs typeface="Times New Roman" panose="02020603050405020304" pitchFamily="18" charset="0"/>
              </a:rPr>
              <a:t>Replication Padding: </a:t>
            </a:r>
            <a:r>
              <a:rPr lang="en-US" dirty="0">
                <a:latin typeface="Times New Roman" panose="02020603050405020304" pitchFamily="18" charset="0"/>
                <a:cs typeface="Times New Roman" panose="02020603050405020304" pitchFamily="18" charset="0"/>
              </a:rPr>
              <a:t>replication padding is almost similar to reflective padding only that rather than creating a reflection of the pixels around the edges of a matrix or image it duplicates adjacent values on the edges of the matrix or image. This padding strategy is also called mirror padding.</a:t>
            </a:r>
          </a:p>
          <a:p>
            <a:r>
              <a:rPr lang="en-US" dirty="0">
                <a:solidFill>
                  <a:schemeClr val="accent3">
                    <a:lumMod val="75000"/>
                  </a:schemeClr>
                </a:solidFill>
                <a:latin typeface="Times New Roman" panose="02020603050405020304" pitchFamily="18" charset="0"/>
                <a:cs typeface="Times New Roman" panose="02020603050405020304" pitchFamily="18" charset="0"/>
              </a:rPr>
              <a:t>Circular Padding: </a:t>
            </a:r>
            <a:r>
              <a:rPr lang="en-US" dirty="0">
                <a:latin typeface="Times New Roman" panose="02020603050405020304" pitchFamily="18" charset="0"/>
                <a:cs typeface="Times New Roman" panose="02020603050405020304" pitchFamily="18" charset="0"/>
              </a:rPr>
              <a:t>Wraps the image values on one side around to the other side to provide the matrix with additional data that is required before a filter is applied. It is like data from the edges is extracted and placed in the opposite side of the matrix</a:t>
            </a:r>
          </a:p>
          <a:p>
            <a:r>
              <a:rPr lang="en-US" dirty="0">
                <a:solidFill>
                  <a:schemeClr val="accent3">
                    <a:lumMod val="75000"/>
                  </a:schemeClr>
                </a:solidFill>
                <a:latin typeface="Times New Roman" panose="02020603050405020304" pitchFamily="18" charset="0"/>
                <a:cs typeface="Times New Roman" panose="02020603050405020304" pitchFamily="18" charset="0"/>
              </a:rPr>
              <a:t>Sequence Padding: </a:t>
            </a:r>
            <a:r>
              <a:rPr lang="en-US" dirty="0">
                <a:latin typeface="Times New Roman" panose="02020603050405020304" pitchFamily="18" charset="0"/>
                <a:cs typeface="Times New Roman" panose="02020603050405020304" pitchFamily="18" charset="0"/>
              </a:rPr>
              <a:t>is a type of padding strategy commonly applied to sequential or time series data. This padding technique is thoroughly documented by Rio et al., (2020) and can be divided into truncation padding, post-padding and pre-padding.</a:t>
            </a:r>
          </a:p>
          <a:p>
            <a:r>
              <a:rPr lang="en-US" dirty="0">
                <a:latin typeface="Times New Roman" panose="02020603050405020304" pitchFamily="18" charset="0"/>
                <a:cs typeface="Times New Roman" panose="02020603050405020304" pitchFamily="18" charset="0"/>
              </a:rPr>
              <a:t> Reddy and Reddy (2019) investigated the effect of post-padding and pre-padding in Long short-term memory (LSTM) neural networks and CNNs. </a:t>
            </a:r>
          </a:p>
          <a:p>
            <a:r>
              <a:rPr lang="en-US" dirty="0">
                <a:latin typeface="Times New Roman" panose="02020603050405020304" pitchFamily="18" charset="0"/>
                <a:cs typeface="Times New Roman" panose="02020603050405020304" pitchFamily="18" charset="0"/>
              </a:rPr>
              <a:t>Alrasheedi et al., (2023). The authors acknowledge that padding has been investigated shallowly. It is then, that they propose a padding technique that learns from shifts in hyper parameters of a CNN before adjusting padding effectively. Finally, Alrasheedi et al., (2023) introduce a padding module providing evidence that it performs better 1.49% and 0.44% more better in classification accuracy than the zero padding </a:t>
            </a:r>
            <a:endParaRPr lang="en-KE"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6675E64-990E-8E70-18D4-376A9F42D463}"/>
              </a:ext>
            </a:extLst>
          </p:cNvPr>
          <p:cNvSpPr>
            <a:spLocks noGrp="1"/>
          </p:cNvSpPr>
          <p:nvPr>
            <p:ph type="sldNum" sz="quarter" idx="12"/>
          </p:nvPr>
        </p:nvSpPr>
        <p:spPr/>
        <p:txBody>
          <a:bodyPr/>
          <a:lstStyle/>
          <a:p>
            <a:fld id="{A755A77B-A17B-45F4-84E2-294C20E72625}" type="slidenum">
              <a:rPr lang="en-KE" smtClean="0"/>
              <a:t>15</a:t>
            </a:fld>
            <a:endParaRPr lang="en-KE"/>
          </a:p>
        </p:txBody>
      </p:sp>
    </p:spTree>
    <p:extLst>
      <p:ext uri="{BB962C8B-B14F-4D97-AF65-F5344CB8AC3E}">
        <p14:creationId xmlns:p14="http://schemas.microsoft.com/office/powerpoint/2010/main" val="2342112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1A986-0DB8-1FF7-EB77-D8C03F2B5E64}"/>
              </a:ext>
            </a:extLst>
          </p:cNvPr>
          <p:cNvSpPr>
            <a:spLocks noGrp="1"/>
          </p:cNvSpPr>
          <p:nvPr>
            <p:ph type="title"/>
          </p:nvPr>
        </p:nvSpPr>
        <p:spPr/>
        <p:txBody>
          <a:bodyPr/>
          <a:lstStyle/>
          <a:p>
            <a:r>
              <a:rPr lang="en-US" dirty="0"/>
              <a:t>Facial Recognition Datasets</a:t>
            </a:r>
            <a:endParaRPr lang="en-KE" dirty="0"/>
          </a:p>
        </p:txBody>
      </p:sp>
      <p:sp>
        <p:nvSpPr>
          <p:cNvPr id="3" name="Content Placeholder 2">
            <a:extLst>
              <a:ext uri="{FF2B5EF4-FFF2-40B4-BE49-F238E27FC236}">
                <a16:creationId xmlns:a16="http://schemas.microsoft.com/office/drawing/2014/main" id="{4FCFB6F2-5E7B-960A-B436-DEDFFAB25FAE}"/>
              </a:ext>
            </a:extLst>
          </p:cNvPr>
          <p:cNvSpPr>
            <a:spLocks noGrp="1"/>
          </p:cNvSpPr>
          <p:nvPr>
            <p:ph idx="1"/>
          </p:nvPr>
        </p:nvSpPr>
        <p:spPr>
          <a:xfrm>
            <a:off x="279400" y="1473200"/>
            <a:ext cx="11671300" cy="5194300"/>
          </a:xfrm>
        </p:spPr>
        <p:txBody>
          <a:bodyPr/>
          <a:lstStyle/>
          <a:p>
            <a:r>
              <a:rPr lang="en-US" dirty="0">
                <a:latin typeface="Times New Roman" panose="02020603050405020304" pitchFamily="18" charset="0"/>
                <a:cs typeface="Times New Roman" panose="02020603050405020304" pitchFamily="18" charset="0"/>
              </a:rPr>
              <a:t>An array of studies have been conducted on facial recognition implying that there exist several datasets that could be used for facial recognition. Ayad et al., (2023) conducted a study discussing twenty-one different datasets that have been used for research in facial recognition. </a:t>
            </a:r>
          </a:p>
          <a:p>
            <a:r>
              <a:rPr lang="en-US" dirty="0">
                <a:solidFill>
                  <a:schemeClr val="accent3">
                    <a:lumMod val="75000"/>
                  </a:schemeClr>
                </a:solidFill>
                <a:latin typeface="Times New Roman" panose="02020603050405020304" pitchFamily="18" charset="0"/>
                <a:cs typeface="Times New Roman" panose="02020603050405020304" pitchFamily="18" charset="0"/>
              </a:rPr>
              <a:t>Disguised Faces in The Wild Dataset: </a:t>
            </a:r>
            <a:r>
              <a:rPr lang="en-US" dirty="0">
                <a:latin typeface="Times New Roman" panose="02020603050405020304" pitchFamily="18" charset="0"/>
                <a:cs typeface="Times New Roman" panose="02020603050405020304" pitchFamily="18" charset="0"/>
              </a:rPr>
              <a:t>The disguised faces in the wild dataset contains 11,157 images collected from 1,000 different people. This data set was collected from the internet and was released in 2018 during the Disguised Faces in the Wild Workshop at International Conference on Computer Vision and Pattern Recognition.</a:t>
            </a:r>
          </a:p>
          <a:p>
            <a:r>
              <a:rPr lang="en-KE" sz="1800" b="1" kern="100" dirty="0">
                <a:solidFill>
                  <a:schemeClr val="accent3">
                    <a:lumMod val="75000"/>
                  </a:schemeClr>
                </a:solidFill>
                <a:effectLst/>
                <a:latin typeface="Times New Roman" panose="02020603050405020304" pitchFamily="18" charset="0"/>
                <a:ea typeface="Noto Serif CJK SC"/>
                <a:cs typeface="Times New Roman" panose="02020603050405020304" pitchFamily="18" charset="0"/>
              </a:rPr>
              <a:t>VGGFACE</a:t>
            </a:r>
            <a:r>
              <a:rPr lang="en-US" sz="1800" b="1" kern="100" dirty="0">
                <a:solidFill>
                  <a:schemeClr val="accent3">
                    <a:lumMod val="75000"/>
                  </a:schemeClr>
                </a:solidFill>
                <a:effectLst/>
                <a:latin typeface="Times New Roman" panose="02020603050405020304" pitchFamily="18" charset="0"/>
                <a:ea typeface="Noto Serif CJK SC"/>
                <a:cs typeface="Times New Roman" panose="02020603050405020304" pitchFamily="18" charset="0"/>
              </a:rPr>
              <a:t>: </a:t>
            </a:r>
            <a:r>
              <a:rPr lang="en-US" sz="1800" kern="100" dirty="0">
                <a:effectLst/>
                <a:latin typeface="Times New Roman" panose="02020603050405020304" pitchFamily="18" charset="0"/>
                <a:ea typeface="Noto Serif CJK SC"/>
                <a:cs typeface="Times New Roman" panose="02020603050405020304" pitchFamily="18" charset="0"/>
              </a:rPr>
              <a:t>VGG Face dataset is made up of 2.6 million images collected from 2,622 different people. This dataset comprises mostly of politicians, actors, public figures and celebrities, which was made by extracting male’s and females’ information from the Internet Movie Database and ranked by popularity.</a:t>
            </a:r>
          </a:p>
          <a:p>
            <a:r>
              <a:rPr lang="en-KE" sz="1800" b="1" kern="100" dirty="0" err="1">
                <a:solidFill>
                  <a:schemeClr val="accent3">
                    <a:lumMod val="75000"/>
                  </a:schemeClr>
                </a:solidFill>
                <a:effectLst/>
                <a:latin typeface="Liberation Serif"/>
                <a:ea typeface="Noto Serif CJK SC"/>
                <a:cs typeface="Lohit Devanagari"/>
              </a:rPr>
              <a:t>KomNET</a:t>
            </a:r>
            <a:r>
              <a:rPr lang="en-KE" sz="1800" b="1" kern="100" dirty="0">
                <a:solidFill>
                  <a:schemeClr val="accent3">
                    <a:lumMod val="75000"/>
                  </a:schemeClr>
                </a:solidFill>
                <a:effectLst/>
                <a:latin typeface="Liberation Serif"/>
                <a:ea typeface="Noto Serif CJK SC"/>
                <a:cs typeface="Lohit Devanagari"/>
              </a:rPr>
              <a:t> Face Dataset</a:t>
            </a:r>
            <a:r>
              <a:rPr lang="en-US" sz="1800" b="1" kern="100" dirty="0">
                <a:effectLst/>
                <a:latin typeface="Liberation Serif"/>
                <a:ea typeface="Noto Serif CJK SC"/>
                <a:cs typeface="Lohit Devanagari"/>
              </a:rPr>
              <a:t>: </a:t>
            </a:r>
            <a:r>
              <a:rPr lang="en-KE" sz="1800" kern="100" dirty="0">
                <a:effectLst/>
                <a:latin typeface="Liberation Serif"/>
                <a:ea typeface="Noto Serif CJK SC"/>
                <a:cs typeface="Lohit Devanagari"/>
              </a:rPr>
              <a:t>The </a:t>
            </a:r>
            <a:r>
              <a:rPr lang="en-KE" sz="1800" kern="100" dirty="0" err="1">
                <a:effectLst/>
                <a:latin typeface="Liberation Serif"/>
                <a:ea typeface="Noto Serif CJK SC"/>
                <a:cs typeface="Lohit Devanagari"/>
              </a:rPr>
              <a:t>KomNET</a:t>
            </a:r>
            <a:r>
              <a:rPr lang="en-KE" sz="1800" kern="100" dirty="0">
                <a:effectLst/>
                <a:latin typeface="Liberation Serif"/>
                <a:ea typeface="Noto Serif CJK SC"/>
                <a:cs typeface="Lohit Devanagari"/>
              </a:rPr>
              <a:t> face dataset comprises of 39,600 images but the number of people whose faces were collected from is not stated in the publication associated with the dataset </a:t>
            </a:r>
            <a:endParaRPr lang="en-KE" sz="1800" b="1" kern="100" dirty="0">
              <a:effectLst/>
              <a:latin typeface="Liberation Serif"/>
              <a:ea typeface="Noto Serif CJK SC"/>
              <a:cs typeface="Lohit Devanagari"/>
            </a:endParaRPr>
          </a:p>
          <a:p>
            <a:endParaRPr lang="en-KE" sz="1800" kern="100" dirty="0">
              <a:effectLst/>
              <a:latin typeface="Times New Roman" panose="02020603050405020304" pitchFamily="18" charset="0"/>
              <a:ea typeface="Noto Serif CJK SC"/>
              <a:cs typeface="Times New Roman" panose="02020603050405020304" pitchFamily="18" charset="0"/>
            </a:endParaRPr>
          </a:p>
          <a:p>
            <a:endParaRPr lang="en-KE"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FFE7F0C2-016C-94B6-F7BD-E59F42C819D3}"/>
              </a:ext>
            </a:extLst>
          </p:cNvPr>
          <p:cNvSpPr>
            <a:spLocks noGrp="1"/>
          </p:cNvSpPr>
          <p:nvPr>
            <p:ph type="sldNum" sz="quarter" idx="12"/>
          </p:nvPr>
        </p:nvSpPr>
        <p:spPr/>
        <p:txBody>
          <a:bodyPr/>
          <a:lstStyle/>
          <a:p>
            <a:fld id="{A755A77B-A17B-45F4-84E2-294C20E72625}" type="slidenum">
              <a:rPr lang="en-KE" smtClean="0"/>
              <a:t>16</a:t>
            </a:fld>
            <a:endParaRPr lang="en-KE"/>
          </a:p>
        </p:txBody>
      </p:sp>
    </p:spTree>
    <p:extLst>
      <p:ext uri="{BB962C8B-B14F-4D97-AF65-F5344CB8AC3E}">
        <p14:creationId xmlns:p14="http://schemas.microsoft.com/office/powerpoint/2010/main" val="2846997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8327F-60A0-7389-5A06-C156FCF5295A}"/>
              </a:ext>
            </a:extLst>
          </p:cNvPr>
          <p:cNvSpPr>
            <a:spLocks noGrp="1"/>
          </p:cNvSpPr>
          <p:nvPr>
            <p:ph type="title"/>
          </p:nvPr>
        </p:nvSpPr>
        <p:spPr/>
        <p:txBody>
          <a:bodyPr/>
          <a:lstStyle/>
          <a:p>
            <a:r>
              <a:rPr lang="en-US" dirty="0"/>
              <a:t>Facial Recognition Architectures</a:t>
            </a:r>
            <a:endParaRPr lang="en-KE" dirty="0"/>
          </a:p>
        </p:txBody>
      </p:sp>
      <p:sp>
        <p:nvSpPr>
          <p:cNvPr id="3" name="Content Placeholder 2">
            <a:extLst>
              <a:ext uri="{FF2B5EF4-FFF2-40B4-BE49-F238E27FC236}">
                <a16:creationId xmlns:a16="http://schemas.microsoft.com/office/drawing/2014/main" id="{0025364E-A600-81A3-036D-99D74E9C2C98}"/>
              </a:ext>
            </a:extLst>
          </p:cNvPr>
          <p:cNvSpPr>
            <a:spLocks noGrp="1"/>
          </p:cNvSpPr>
          <p:nvPr>
            <p:ph idx="1"/>
          </p:nvPr>
        </p:nvSpPr>
        <p:spPr>
          <a:xfrm>
            <a:off x="228600" y="1320800"/>
            <a:ext cx="11480800" cy="5410200"/>
          </a:xfrm>
        </p:spPr>
        <p:txBody>
          <a:bodyPr/>
          <a:lstStyle/>
          <a:p>
            <a:r>
              <a:rPr lang="en-US" sz="1800" kern="100" dirty="0">
                <a:effectLst/>
                <a:latin typeface="Liberation Serif"/>
                <a:ea typeface="Noto Serif CJK SC"/>
                <a:cs typeface="Lohit Devanagari"/>
              </a:rPr>
              <a:t>The term architecture here refers to a deep learning model that could be used to match or a recognize a face belonging to a particular person. An example of an author that has conducted review on facial recognition architectures is sun and </a:t>
            </a:r>
            <a:r>
              <a:rPr lang="en-US" sz="1800" kern="100" dirty="0" err="1">
                <a:effectLst/>
                <a:latin typeface="Liberation Serif"/>
                <a:ea typeface="Noto Serif CJK SC"/>
                <a:cs typeface="Lohit Devanagari"/>
              </a:rPr>
              <a:t>Redei</a:t>
            </a:r>
            <a:r>
              <a:rPr lang="en-US" sz="1800" kern="100" dirty="0">
                <a:effectLst/>
                <a:latin typeface="Liberation Serif"/>
                <a:ea typeface="Noto Serif CJK SC"/>
                <a:cs typeface="Lohit Devanagari"/>
              </a:rPr>
              <a:t> (2022). </a:t>
            </a:r>
          </a:p>
          <a:p>
            <a:r>
              <a:rPr lang="en-KE" sz="1800" kern="100" dirty="0">
                <a:solidFill>
                  <a:schemeClr val="accent3">
                    <a:lumMod val="75000"/>
                  </a:schemeClr>
                </a:solidFill>
                <a:effectLst/>
                <a:latin typeface="Liberation Serif"/>
                <a:ea typeface="Noto Serif CJK SC"/>
                <a:cs typeface="Lohit Devanagari"/>
              </a:rPr>
              <a:t>Google </a:t>
            </a:r>
            <a:r>
              <a:rPr lang="en-US" sz="1800" kern="100" dirty="0">
                <a:solidFill>
                  <a:schemeClr val="accent3">
                    <a:lumMod val="75000"/>
                  </a:schemeClr>
                </a:solidFill>
                <a:effectLst/>
                <a:latin typeface="Liberation Serif"/>
                <a:ea typeface="Noto Serif CJK SC"/>
                <a:cs typeface="Lohit Devanagari"/>
              </a:rPr>
              <a:t>FaceNet</a:t>
            </a:r>
            <a:r>
              <a:rPr lang="en-US" sz="1800" b="1" kern="100" dirty="0">
                <a:effectLst/>
                <a:latin typeface="Liberation Serif"/>
                <a:ea typeface="Noto Serif CJK SC"/>
                <a:cs typeface="Lohit Devanagari"/>
              </a:rPr>
              <a:t>: </a:t>
            </a:r>
            <a:r>
              <a:rPr lang="en-US" sz="1800" b="1" kern="100" dirty="0">
                <a:latin typeface="Liberation Serif"/>
                <a:ea typeface="Noto Serif CJK SC"/>
                <a:cs typeface="Lohit Devanagari"/>
              </a:rPr>
              <a:t>P</a:t>
            </a:r>
            <a:r>
              <a:rPr lang="en-US" sz="1800" kern="100" dirty="0">
                <a:effectLst/>
                <a:latin typeface="Liberation Serif"/>
                <a:ea typeface="Noto Serif CJK SC"/>
                <a:cs typeface="Lohit Devanagari"/>
              </a:rPr>
              <a:t>opularly known as FaceNet, is a facial recognition architecture that was developed by researchers at Google. This architecture relies on an earlier architecture called Inception Network, which generates convolution and concatenates the revolutions to improve the efficiency of the architecture. </a:t>
            </a:r>
          </a:p>
          <a:p>
            <a:r>
              <a:rPr lang="en-US" sz="1800" kern="100" dirty="0">
                <a:solidFill>
                  <a:schemeClr val="accent3">
                    <a:lumMod val="75000"/>
                  </a:schemeClr>
                </a:solidFill>
                <a:effectLst/>
                <a:latin typeface="Liberation Serif"/>
                <a:ea typeface="Noto Serif CJK SC"/>
                <a:cs typeface="Lohit Devanagari"/>
              </a:rPr>
              <a:t>DeepFace</a:t>
            </a:r>
            <a:r>
              <a:rPr lang="en-US" sz="1800" kern="100" dirty="0">
                <a:solidFill>
                  <a:schemeClr val="accent3">
                    <a:lumMod val="75000"/>
                  </a:schemeClr>
                </a:solidFill>
                <a:latin typeface="Liberation Serif"/>
                <a:ea typeface="Noto Serif CJK SC"/>
                <a:cs typeface="Lohit Devanagari"/>
              </a:rPr>
              <a:t>: </a:t>
            </a:r>
            <a:r>
              <a:rPr lang="en-US" sz="1800" kern="100" dirty="0">
                <a:latin typeface="Liberation Serif"/>
                <a:ea typeface="Noto Serif CJK SC"/>
                <a:cs typeface="Lohit Devanagari"/>
              </a:rPr>
              <a:t>Meta published the results from the study that produced DeepFace. It is important to note that the researchers introduced an idea of 3D modelling based on face fiducial points, which in turn is used to align faces. </a:t>
            </a:r>
          </a:p>
          <a:p>
            <a:r>
              <a:rPr lang="en-US" sz="1800" kern="100" dirty="0">
                <a:solidFill>
                  <a:schemeClr val="accent3">
                    <a:lumMod val="75000"/>
                  </a:schemeClr>
                </a:solidFill>
                <a:effectLst/>
                <a:latin typeface="Liberation Serif"/>
                <a:ea typeface="Noto Serif CJK SC"/>
                <a:cs typeface="Lohit Devanagari"/>
              </a:rPr>
              <a:t>VGGFACE-16: </a:t>
            </a:r>
            <a:r>
              <a:rPr lang="en-US" sz="1800" kern="100" dirty="0">
                <a:effectLst/>
                <a:latin typeface="Liberation Serif"/>
                <a:ea typeface="Noto Serif CJK SC"/>
                <a:cs typeface="Lohit Devanagari"/>
              </a:rPr>
              <a:t>VGGFACE-16 is a facial recognition that was developed by Karen Simonyan and Andrew Zisserman from the University of Oxford (Koo et al., 2018). It comprises multiple sequential connected layers with each layer receiving output from the previous layer.  Specifically, it is made up of 16 layers where the first thirteen layers are convolution layers while the last three layers are fully connected layers. </a:t>
            </a:r>
            <a:endParaRPr lang="en-KE" sz="1800" kern="100" dirty="0">
              <a:effectLst/>
              <a:latin typeface="Liberation Serif"/>
              <a:ea typeface="Noto Serif CJK SC"/>
              <a:cs typeface="Lohit Devanagari"/>
            </a:endParaRPr>
          </a:p>
          <a:p>
            <a:endParaRPr lang="en-KE" sz="1800" kern="100" dirty="0">
              <a:effectLst/>
              <a:latin typeface="Liberation Serif"/>
              <a:ea typeface="Noto Serif CJK SC"/>
              <a:cs typeface="Lohit Devanagari"/>
            </a:endParaRPr>
          </a:p>
        </p:txBody>
      </p:sp>
      <p:sp>
        <p:nvSpPr>
          <p:cNvPr id="4" name="Slide Number Placeholder 3">
            <a:extLst>
              <a:ext uri="{FF2B5EF4-FFF2-40B4-BE49-F238E27FC236}">
                <a16:creationId xmlns:a16="http://schemas.microsoft.com/office/drawing/2014/main" id="{CD53AF96-F77E-E3E4-47DA-DA016C765DE0}"/>
              </a:ext>
            </a:extLst>
          </p:cNvPr>
          <p:cNvSpPr>
            <a:spLocks noGrp="1"/>
          </p:cNvSpPr>
          <p:nvPr>
            <p:ph type="sldNum" sz="quarter" idx="12"/>
          </p:nvPr>
        </p:nvSpPr>
        <p:spPr/>
        <p:txBody>
          <a:bodyPr/>
          <a:lstStyle/>
          <a:p>
            <a:fld id="{A755A77B-A17B-45F4-84E2-294C20E72625}" type="slidenum">
              <a:rPr lang="en-KE" smtClean="0"/>
              <a:t>17</a:t>
            </a:fld>
            <a:endParaRPr lang="en-KE"/>
          </a:p>
        </p:txBody>
      </p:sp>
    </p:spTree>
    <p:extLst>
      <p:ext uri="{BB962C8B-B14F-4D97-AF65-F5344CB8AC3E}">
        <p14:creationId xmlns:p14="http://schemas.microsoft.com/office/powerpoint/2010/main" val="3974335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679EB-77D2-1A4D-C81A-D5AF208969DE}"/>
              </a:ext>
            </a:extLst>
          </p:cNvPr>
          <p:cNvSpPr>
            <a:spLocks noGrp="1"/>
          </p:cNvSpPr>
          <p:nvPr>
            <p:ph type="title"/>
          </p:nvPr>
        </p:nvSpPr>
        <p:spPr/>
        <p:txBody>
          <a:bodyPr/>
          <a:lstStyle/>
          <a:p>
            <a:r>
              <a:rPr lang="en-US" dirty="0"/>
              <a:t>Methodology</a:t>
            </a:r>
            <a:endParaRPr lang="en-KE" dirty="0"/>
          </a:p>
        </p:txBody>
      </p:sp>
      <p:sp>
        <p:nvSpPr>
          <p:cNvPr id="3" name="Content Placeholder 2">
            <a:extLst>
              <a:ext uri="{FF2B5EF4-FFF2-40B4-BE49-F238E27FC236}">
                <a16:creationId xmlns:a16="http://schemas.microsoft.com/office/drawing/2014/main" id="{E935D031-C0AF-5D54-08E0-FA36341EAB05}"/>
              </a:ext>
            </a:extLst>
          </p:cNvPr>
          <p:cNvSpPr>
            <a:spLocks noGrp="1"/>
          </p:cNvSpPr>
          <p:nvPr>
            <p:ph idx="1"/>
          </p:nvPr>
        </p:nvSpPr>
        <p:spPr>
          <a:xfrm>
            <a:off x="355600" y="1308100"/>
            <a:ext cx="11557000" cy="5461000"/>
          </a:xfrm>
        </p:spPr>
        <p:txBody>
          <a:bodyPr/>
          <a:lstStyle/>
          <a:p>
            <a:r>
              <a:rPr lang="en-US" sz="1800" kern="100" dirty="0">
                <a:effectLst/>
                <a:latin typeface="Times New Roman" panose="02020603050405020304" pitchFamily="18" charset="0"/>
                <a:ea typeface="Noto Serif CJK SC"/>
              </a:rPr>
              <a:t>Artificial neural networks is a machine learning technique that tries to imitate the intelligence of a human brain. The human brain contains neurons that are connected to one another through axons and dendrites. The connecting region between axons and dendrites is called a synapse. </a:t>
            </a:r>
          </a:p>
          <a:p>
            <a:r>
              <a:rPr lang="en-US" dirty="0">
                <a:latin typeface="Times New Roman" panose="02020603050405020304" pitchFamily="18" charset="0"/>
                <a:cs typeface="Times New Roman" panose="02020603050405020304" pitchFamily="18" charset="0"/>
              </a:rPr>
              <a:t>Like biological neurons, artificial neural networks contain computational units called neurons. These computational units are connected to one another through weights that perform the same role as synapses in biological neurons. </a:t>
            </a:r>
          </a:p>
          <a:p>
            <a:r>
              <a:rPr lang="en-US" sz="1800" kern="100" dirty="0">
                <a:effectLst/>
                <a:latin typeface="Times New Roman" panose="02020603050405020304" pitchFamily="18" charset="0"/>
                <a:ea typeface="Noto Serif CJK SC"/>
              </a:rPr>
              <a:t>Consider the image shown in figure 1 and the case of a binary response variable (Y) with 1 is the presence of an observed parameter and 0 the absence of the observed parameter. The input layer contains predictor variables (X</a:t>
            </a:r>
            <a:r>
              <a:rPr lang="en-US" sz="1800" kern="100" baseline="-25000" dirty="0">
                <a:effectLst/>
                <a:latin typeface="Times New Roman" panose="02020603050405020304" pitchFamily="18" charset="0"/>
                <a:ea typeface="Noto Serif CJK SC"/>
              </a:rPr>
              <a:t>1</a:t>
            </a:r>
            <a:r>
              <a:rPr lang="en-US" sz="1800" kern="100" dirty="0">
                <a:effectLst/>
                <a:latin typeface="Times New Roman" panose="02020603050405020304" pitchFamily="18" charset="0"/>
                <a:ea typeface="Noto Serif CJK SC"/>
              </a:rPr>
              <a:t>, X</a:t>
            </a:r>
            <a:r>
              <a:rPr lang="en-US" sz="1800" kern="100" baseline="-25000" dirty="0">
                <a:effectLst/>
                <a:latin typeface="Times New Roman" panose="02020603050405020304" pitchFamily="18" charset="0"/>
                <a:ea typeface="Noto Serif CJK SC"/>
              </a:rPr>
              <a:t>2</a:t>
            </a:r>
            <a:r>
              <a:rPr lang="en-US" sz="1800" kern="100" dirty="0">
                <a:effectLst/>
                <a:latin typeface="Times New Roman" panose="02020603050405020304" pitchFamily="18" charset="0"/>
                <a:ea typeface="Noto Serif CJK SC"/>
              </a:rPr>
              <a:t>, …, </a:t>
            </a:r>
            <a:r>
              <a:rPr lang="en-US" sz="1800" kern="100" dirty="0" err="1">
                <a:effectLst/>
                <a:latin typeface="Times New Roman" panose="02020603050405020304" pitchFamily="18" charset="0"/>
                <a:ea typeface="Noto Serif CJK SC"/>
              </a:rPr>
              <a:t>X</a:t>
            </a:r>
            <a:r>
              <a:rPr lang="en-US" sz="1800" kern="100" baseline="-25000" dirty="0" err="1">
                <a:effectLst/>
                <a:latin typeface="Times New Roman" panose="02020603050405020304" pitchFamily="18" charset="0"/>
                <a:ea typeface="Noto Serif CJK SC"/>
              </a:rPr>
              <a:t>n</a:t>
            </a:r>
            <a:r>
              <a:rPr lang="en-US" sz="1800" kern="100" dirty="0">
                <a:effectLst/>
                <a:latin typeface="Times New Roman" panose="02020603050405020304" pitchFamily="18" charset="0"/>
                <a:ea typeface="Noto Serif CJK SC"/>
              </a:rPr>
              <a:t>) with weights (W</a:t>
            </a:r>
            <a:r>
              <a:rPr lang="en-US" sz="1800" kern="100" baseline="-25000" dirty="0">
                <a:effectLst/>
                <a:latin typeface="Times New Roman" panose="02020603050405020304" pitchFamily="18" charset="0"/>
                <a:ea typeface="Noto Serif CJK SC"/>
              </a:rPr>
              <a:t>1</a:t>
            </a:r>
            <a:r>
              <a:rPr lang="en-US" sz="1800" kern="100" dirty="0">
                <a:effectLst/>
                <a:latin typeface="Times New Roman" panose="02020603050405020304" pitchFamily="18" charset="0"/>
                <a:ea typeface="Noto Serif CJK SC"/>
              </a:rPr>
              <a:t>, W</a:t>
            </a:r>
            <a:r>
              <a:rPr lang="en-US" sz="1800" kern="100" baseline="-25000" dirty="0">
                <a:effectLst/>
                <a:latin typeface="Times New Roman" panose="02020603050405020304" pitchFamily="18" charset="0"/>
                <a:ea typeface="Noto Serif CJK SC"/>
              </a:rPr>
              <a:t>2</a:t>
            </a:r>
            <a:r>
              <a:rPr lang="en-US" sz="1800" kern="100" dirty="0">
                <a:effectLst/>
                <a:latin typeface="Times New Roman" panose="02020603050405020304" pitchFamily="18" charset="0"/>
                <a:ea typeface="Noto Serif CJK SC"/>
              </a:rPr>
              <a:t>, …, </a:t>
            </a:r>
            <a:r>
              <a:rPr lang="en-US" sz="1800" kern="100" dirty="0" err="1">
                <a:effectLst/>
                <a:latin typeface="Times New Roman" panose="02020603050405020304" pitchFamily="18" charset="0"/>
                <a:ea typeface="Noto Serif CJK SC"/>
              </a:rPr>
              <a:t>W</a:t>
            </a:r>
            <a:r>
              <a:rPr lang="en-US" sz="1800" kern="100" baseline="-25000" dirty="0" err="1">
                <a:effectLst/>
                <a:latin typeface="Times New Roman" panose="02020603050405020304" pitchFamily="18" charset="0"/>
                <a:ea typeface="Noto Serif CJK SC"/>
              </a:rPr>
              <a:t>n</a:t>
            </a:r>
            <a:r>
              <a:rPr lang="en-US" sz="1800" kern="100" dirty="0">
                <a:effectLst/>
                <a:latin typeface="Times New Roman" panose="02020603050405020304" pitchFamily="18" charset="0"/>
                <a:ea typeface="Noto Serif CJK SC"/>
              </a:rPr>
              <a:t>), which are mapped to the output node Y using an activation function</a:t>
            </a:r>
            <a:endParaRPr lang="en-US" dirty="0">
              <a:latin typeface="Times New Roman" panose="02020603050405020304" pitchFamily="18" charset="0"/>
              <a:cs typeface="Times New Roman" panose="02020603050405020304" pitchFamily="18" charset="0"/>
            </a:endParaRPr>
          </a:p>
          <a:p>
            <a:endParaRPr lang="en-KE"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A5B1136-07F5-DCC2-C3C7-4A2BDD8F2B78}"/>
              </a:ext>
            </a:extLst>
          </p:cNvPr>
          <p:cNvSpPr>
            <a:spLocks noGrp="1"/>
          </p:cNvSpPr>
          <p:nvPr>
            <p:ph type="sldNum" sz="quarter" idx="12"/>
          </p:nvPr>
        </p:nvSpPr>
        <p:spPr/>
        <p:txBody>
          <a:bodyPr/>
          <a:lstStyle/>
          <a:p>
            <a:fld id="{A755A77B-A17B-45F4-84E2-294C20E72625}" type="slidenum">
              <a:rPr lang="en-KE" smtClean="0"/>
              <a:t>18</a:t>
            </a:fld>
            <a:endParaRPr lang="en-KE"/>
          </a:p>
        </p:txBody>
      </p:sp>
      <p:pic>
        <p:nvPicPr>
          <p:cNvPr id="5" name="Picture 4">
            <a:extLst>
              <a:ext uri="{FF2B5EF4-FFF2-40B4-BE49-F238E27FC236}">
                <a16:creationId xmlns:a16="http://schemas.microsoft.com/office/drawing/2014/main" id="{51764BBF-81D4-1B0D-66EC-B0E96F44E2A0}"/>
              </a:ext>
            </a:extLst>
          </p:cNvPr>
          <p:cNvPicPr>
            <a:picLocks noChangeAspect="1"/>
          </p:cNvPicPr>
          <p:nvPr/>
        </p:nvPicPr>
        <p:blipFill>
          <a:blip r:embed="rId2"/>
          <a:stretch>
            <a:fillRect/>
          </a:stretch>
        </p:blipFill>
        <p:spPr bwMode="auto">
          <a:xfrm>
            <a:off x="2033772" y="4435475"/>
            <a:ext cx="3314700" cy="2228850"/>
          </a:xfrm>
          <a:prstGeom prst="rect">
            <a:avLst/>
          </a:prstGeom>
        </p:spPr>
      </p:pic>
      <p:sp>
        <p:nvSpPr>
          <p:cNvPr id="6" name="TextBox 5">
            <a:extLst>
              <a:ext uri="{FF2B5EF4-FFF2-40B4-BE49-F238E27FC236}">
                <a16:creationId xmlns:a16="http://schemas.microsoft.com/office/drawing/2014/main" id="{28C9C261-E773-F22C-1488-208854EA794F}"/>
              </a:ext>
            </a:extLst>
          </p:cNvPr>
          <p:cNvSpPr txBox="1"/>
          <p:nvPr/>
        </p:nvSpPr>
        <p:spPr>
          <a:xfrm>
            <a:off x="5981700" y="5397500"/>
            <a:ext cx="3225800" cy="369332"/>
          </a:xfrm>
          <a:prstGeom prst="rect">
            <a:avLst/>
          </a:prstGeom>
          <a:noFill/>
        </p:spPr>
        <p:txBody>
          <a:bodyPr wrap="square" rtlCol="0">
            <a:spAutoFit/>
          </a:bodyPr>
          <a:lstStyle/>
          <a:p>
            <a:r>
              <a:rPr lang="en-US" dirty="0"/>
              <a:t>Figure 1</a:t>
            </a:r>
            <a:endParaRPr lang="en-KE" dirty="0"/>
          </a:p>
        </p:txBody>
      </p:sp>
    </p:spTree>
    <p:extLst>
      <p:ext uri="{BB962C8B-B14F-4D97-AF65-F5344CB8AC3E}">
        <p14:creationId xmlns:p14="http://schemas.microsoft.com/office/powerpoint/2010/main" val="2474604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4D54E-CC37-E025-8DAF-1B136D195687}"/>
              </a:ext>
            </a:extLst>
          </p:cNvPr>
          <p:cNvSpPr>
            <a:spLocks noGrp="1"/>
          </p:cNvSpPr>
          <p:nvPr>
            <p:ph type="title"/>
          </p:nvPr>
        </p:nvSpPr>
        <p:spPr>
          <a:xfrm>
            <a:off x="1" y="452718"/>
            <a:ext cx="10668000" cy="1400530"/>
          </a:xfrm>
        </p:spPr>
        <p:txBody>
          <a:bodyPr/>
          <a:lstStyle/>
          <a:p>
            <a:r>
              <a:rPr lang="en-US" dirty="0"/>
              <a:t>Deriving the Backpropagation Algorithm</a:t>
            </a:r>
            <a:endParaRPr lang="en-KE" dirty="0"/>
          </a:p>
        </p:txBody>
      </p:sp>
      <p:pic>
        <p:nvPicPr>
          <p:cNvPr id="7" name="Content Placeholder 6">
            <a:extLst>
              <a:ext uri="{FF2B5EF4-FFF2-40B4-BE49-F238E27FC236}">
                <a16:creationId xmlns:a16="http://schemas.microsoft.com/office/drawing/2014/main" id="{3DF290A2-252B-0F26-597C-4FA59D80077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571500" y="1853249"/>
            <a:ext cx="4546600" cy="3531552"/>
          </a:xfrm>
        </p:spPr>
      </p:pic>
      <p:sp>
        <p:nvSpPr>
          <p:cNvPr id="4" name="Content Placeholder 3">
            <a:extLst>
              <a:ext uri="{FF2B5EF4-FFF2-40B4-BE49-F238E27FC236}">
                <a16:creationId xmlns:a16="http://schemas.microsoft.com/office/drawing/2014/main" id="{6DE81B7F-3564-0274-0B92-2D4F67961CB3}"/>
              </a:ext>
            </a:extLst>
          </p:cNvPr>
          <p:cNvSpPr>
            <a:spLocks noGrp="1"/>
          </p:cNvSpPr>
          <p:nvPr>
            <p:ph sz="half" idx="2"/>
          </p:nvPr>
        </p:nvSpPr>
        <p:spPr>
          <a:xfrm>
            <a:off x="5473700" y="1853248"/>
            <a:ext cx="6502401" cy="4814252"/>
          </a:xfrm>
        </p:spPr>
        <p:txBody>
          <a:bodyPr>
            <a:normAutofit/>
          </a:bodyPr>
          <a:lstStyle/>
          <a:p>
            <a:r>
              <a:rPr lang="en-US" sz="1900" b="0" i="0" dirty="0">
                <a:effectLst/>
                <a:latin typeface="Times New Roman" panose="02020603050405020304" pitchFamily="18" charset="0"/>
                <a:cs typeface="Times New Roman" panose="02020603050405020304" pitchFamily="18" charset="0"/>
              </a:rPr>
              <a:t>Let </a:t>
            </a:r>
            <a:r>
              <a:rPr lang="en-US" sz="1900" b="0" i="1" dirty="0">
                <a:effectLst/>
                <a:latin typeface="Times New Roman" panose="02020603050405020304" pitchFamily="18" charset="0"/>
                <a:cs typeface="Times New Roman" panose="02020603050405020304" pitchFamily="18" charset="0"/>
              </a:rPr>
              <a:t>W L ji </a:t>
            </a:r>
            <a:r>
              <a:rPr lang="en-US" sz="1900" b="0" i="0" dirty="0">
                <a:effectLst/>
                <a:latin typeface="Times New Roman" panose="02020603050405020304" pitchFamily="18" charset="0"/>
                <a:cs typeface="Times New Roman" panose="02020603050405020304" pitchFamily="18" charset="0"/>
              </a:rPr>
              <a:t>be the weight matrices denoting the value of the synaptic weight that connects the </a:t>
            </a:r>
            <a:r>
              <a:rPr lang="en-US" sz="1900" b="0" i="1" dirty="0">
                <a:effectLst/>
                <a:latin typeface="Times New Roman" panose="02020603050405020304" pitchFamily="18" charset="0"/>
                <a:cs typeface="Times New Roman" panose="02020603050405020304" pitchFamily="18" charset="0"/>
              </a:rPr>
              <a:t>j</a:t>
            </a:r>
            <a:r>
              <a:rPr lang="en-US" sz="1900" b="0" i="0" dirty="0">
                <a:effectLst/>
                <a:latin typeface="Times New Roman" panose="02020603050405020304" pitchFamily="18" charset="0"/>
                <a:cs typeface="Times New Roman" panose="02020603050405020304" pitchFamily="18" charset="0"/>
              </a:rPr>
              <a:t>th neuron of layer (</a:t>
            </a:r>
            <a:r>
              <a:rPr lang="en-US" sz="1900" b="0" i="1" dirty="0">
                <a:effectLst/>
                <a:latin typeface="Times New Roman" panose="02020603050405020304" pitchFamily="18" charset="0"/>
                <a:cs typeface="Times New Roman" panose="02020603050405020304" pitchFamily="18" charset="0"/>
              </a:rPr>
              <a:t>L</a:t>
            </a:r>
            <a:r>
              <a:rPr lang="en-US" sz="1900" b="0" i="0" dirty="0">
                <a:effectLst/>
                <a:latin typeface="Times New Roman" panose="02020603050405020304" pitchFamily="18" charset="0"/>
                <a:cs typeface="Times New Roman" panose="02020603050405020304" pitchFamily="18" charset="0"/>
              </a:rPr>
              <a:t>) to the </a:t>
            </a:r>
            <a:r>
              <a:rPr lang="en-US" sz="1900" b="0" i="1" dirty="0">
                <a:effectLst/>
                <a:latin typeface="Times New Roman" panose="02020603050405020304" pitchFamily="18" charset="0"/>
                <a:cs typeface="Times New Roman" panose="02020603050405020304" pitchFamily="18" charset="0"/>
              </a:rPr>
              <a:t>i</a:t>
            </a:r>
            <a:r>
              <a:rPr lang="en-US" sz="1900" b="0" i="0" dirty="0">
                <a:effectLst/>
                <a:latin typeface="Times New Roman" panose="02020603050405020304" pitchFamily="18" charset="0"/>
                <a:cs typeface="Times New Roman" panose="02020603050405020304" pitchFamily="18" charset="0"/>
              </a:rPr>
              <a:t>th neuron of layer (</a:t>
            </a:r>
            <a:r>
              <a:rPr lang="en-US" sz="1900" b="0" i="1" dirty="0">
                <a:effectLst/>
                <a:latin typeface="Times New Roman" panose="02020603050405020304" pitchFamily="18" charset="0"/>
                <a:cs typeface="Times New Roman" panose="02020603050405020304" pitchFamily="18" charset="0"/>
              </a:rPr>
              <a:t>L - </a:t>
            </a:r>
            <a:r>
              <a:rPr lang="en-US" sz="1900" b="0" i="0" dirty="0">
                <a:effectLst/>
                <a:latin typeface="Times New Roman" panose="02020603050405020304" pitchFamily="18" charset="0"/>
                <a:cs typeface="Times New Roman" panose="02020603050405020304" pitchFamily="18" charset="0"/>
              </a:rPr>
              <a:t>1). Consider the image in figure  alongside.</a:t>
            </a:r>
          </a:p>
          <a:p>
            <a:r>
              <a:rPr lang="en-US" sz="1900" b="0" i="0" dirty="0">
                <a:effectLst/>
                <a:latin typeface="Times New Roman" panose="02020603050405020304" pitchFamily="18" charset="0"/>
                <a:cs typeface="Times New Roman" panose="02020603050405020304" pitchFamily="18" charset="0"/>
              </a:rPr>
              <a:t>1. </a:t>
            </a:r>
            <a:r>
              <a:rPr lang="en-US" sz="1900" b="0" i="1" dirty="0">
                <a:effectLst/>
                <a:latin typeface="Times New Roman" panose="02020603050405020304" pitchFamily="18" charset="0"/>
                <a:cs typeface="Times New Roman" panose="02020603050405020304" pitchFamily="18" charset="0"/>
              </a:rPr>
              <a:t>W </a:t>
            </a:r>
            <a:r>
              <a:rPr lang="en-US" sz="1900" b="0" i="0" dirty="0">
                <a:effectLst/>
                <a:latin typeface="Times New Roman" panose="02020603050405020304" pitchFamily="18" charset="0"/>
                <a:cs typeface="Times New Roman" panose="02020603050405020304" pitchFamily="18" charset="0"/>
              </a:rPr>
              <a:t>(3) </a:t>
            </a:r>
            <a:r>
              <a:rPr lang="en-US" sz="1900" b="0" i="1" dirty="0">
                <a:effectLst/>
                <a:latin typeface="Times New Roman" panose="02020603050405020304" pitchFamily="18" charset="0"/>
                <a:cs typeface="Times New Roman" panose="02020603050405020304" pitchFamily="18" charset="0"/>
              </a:rPr>
              <a:t>ji </a:t>
            </a:r>
            <a:r>
              <a:rPr lang="en-US" sz="1900" b="0" i="0" dirty="0">
                <a:effectLst/>
                <a:latin typeface="Times New Roman" panose="02020603050405020304" pitchFamily="18" charset="0"/>
                <a:cs typeface="Times New Roman" panose="02020603050405020304" pitchFamily="18" charset="0"/>
              </a:rPr>
              <a:t>is the synaptic weight connecting the </a:t>
            </a:r>
            <a:r>
              <a:rPr lang="en-US" sz="1900" b="0" i="1" dirty="0">
                <a:effectLst/>
                <a:latin typeface="Times New Roman" panose="02020603050405020304" pitchFamily="18" charset="0"/>
                <a:cs typeface="Times New Roman" panose="02020603050405020304" pitchFamily="18" charset="0"/>
              </a:rPr>
              <a:t>j</a:t>
            </a:r>
            <a:r>
              <a:rPr lang="en-US" sz="1900" b="0" i="0" dirty="0">
                <a:effectLst/>
                <a:latin typeface="Times New Roman" panose="02020603050405020304" pitchFamily="18" charset="0"/>
                <a:cs typeface="Times New Roman" panose="02020603050405020304" pitchFamily="18" charset="0"/>
              </a:rPr>
              <a:t>th neuron of the output layer to the </a:t>
            </a:r>
            <a:r>
              <a:rPr lang="en-US" sz="1900" b="0" i="1" dirty="0">
                <a:effectLst/>
                <a:latin typeface="Times New Roman" panose="02020603050405020304" pitchFamily="18" charset="0"/>
                <a:cs typeface="Times New Roman" panose="02020603050405020304" pitchFamily="18" charset="0"/>
              </a:rPr>
              <a:t>i</a:t>
            </a:r>
            <a:r>
              <a:rPr lang="en-US" sz="1900" b="0" i="0" dirty="0">
                <a:effectLst/>
                <a:latin typeface="Times New Roman" panose="02020603050405020304" pitchFamily="18" charset="0"/>
                <a:cs typeface="Times New Roman" panose="02020603050405020304" pitchFamily="18" charset="0"/>
              </a:rPr>
              <a:t>th neuron of layer 2.</a:t>
            </a:r>
          </a:p>
          <a:p>
            <a:r>
              <a:rPr lang="en-US" sz="1900" b="0" i="0" dirty="0">
                <a:effectLst/>
                <a:latin typeface="Times New Roman" panose="02020603050405020304" pitchFamily="18" charset="0"/>
                <a:cs typeface="Times New Roman" panose="02020603050405020304" pitchFamily="18" charset="0"/>
              </a:rPr>
              <a:t>2. </a:t>
            </a:r>
            <a:r>
              <a:rPr lang="en-US" sz="1900" b="0" i="1" dirty="0">
                <a:effectLst/>
                <a:latin typeface="Times New Roman" panose="02020603050405020304" pitchFamily="18" charset="0"/>
                <a:cs typeface="Times New Roman" panose="02020603050405020304" pitchFamily="18" charset="0"/>
              </a:rPr>
              <a:t>W </a:t>
            </a:r>
            <a:r>
              <a:rPr lang="en-US" sz="1900" b="0" i="0" dirty="0">
                <a:effectLst/>
                <a:latin typeface="Times New Roman" panose="02020603050405020304" pitchFamily="18" charset="0"/>
                <a:cs typeface="Times New Roman" panose="02020603050405020304" pitchFamily="18" charset="0"/>
              </a:rPr>
              <a:t>(2) </a:t>
            </a:r>
            <a:r>
              <a:rPr lang="en-US" sz="1900" b="0" i="1" dirty="0">
                <a:effectLst/>
                <a:latin typeface="Times New Roman" panose="02020603050405020304" pitchFamily="18" charset="0"/>
                <a:cs typeface="Times New Roman" panose="02020603050405020304" pitchFamily="18" charset="0"/>
              </a:rPr>
              <a:t>ji </a:t>
            </a:r>
            <a:r>
              <a:rPr lang="en-US" sz="1900" b="0" i="0" dirty="0">
                <a:effectLst/>
                <a:latin typeface="Times New Roman" panose="02020603050405020304" pitchFamily="18" charset="0"/>
                <a:cs typeface="Times New Roman" panose="02020603050405020304" pitchFamily="18" charset="0"/>
              </a:rPr>
              <a:t>is the synaptic weight connecting the </a:t>
            </a:r>
            <a:r>
              <a:rPr lang="en-US" sz="1900" b="0" i="1" dirty="0">
                <a:effectLst/>
                <a:latin typeface="Times New Roman" panose="02020603050405020304" pitchFamily="18" charset="0"/>
                <a:cs typeface="Times New Roman" panose="02020603050405020304" pitchFamily="18" charset="0"/>
              </a:rPr>
              <a:t>j</a:t>
            </a:r>
            <a:r>
              <a:rPr lang="en-US" sz="1900" b="0" i="0" dirty="0">
                <a:effectLst/>
                <a:latin typeface="Times New Roman" panose="02020603050405020304" pitchFamily="18" charset="0"/>
                <a:cs typeface="Times New Roman" panose="02020603050405020304" pitchFamily="18" charset="0"/>
              </a:rPr>
              <a:t>th neuron of hidden layer 2 to the </a:t>
            </a:r>
            <a:r>
              <a:rPr lang="en-US" sz="1900" b="0" i="1" dirty="0">
                <a:effectLst/>
                <a:latin typeface="Times New Roman" panose="02020603050405020304" pitchFamily="18" charset="0"/>
                <a:cs typeface="Times New Roman" panose="02020603050405020304" pitchFamily="18" charset="0"/>
              </a:rPr>
              <a:t>i</a:t>
            </a:r>
            <a:r>
              <a:rPr lang="en-US" sz="1900" b="0" i="0" dirty="0">
                <a:effectLst/>
                <a:latin typeface="Times New Roman" panose="02020603050405020304" pitchFamily="18" charset="0"/>
                <a:cs typeface="Times New Roman" panose="02020603050405020304" pitchFamily="18" charset="0"/>
              </a:rPr>
              <a:t>th neuron of layer 1.</a:t>
            </a:r>
            <a:endParaRPr lang="en-US" sz="1900" dirty="0">
              <a:latin typeface="Times New Roman" panose="02020603050405020304" pitchFamily="18" charset="0"/>
              <a:cs typeface="Times New Roman" panose="02020603050405020304" pitchFamily="18" charset="0"/>
            </a:endParaRPr>
          </a:p>
          <a:p>
            <a:r>
              <a:rPr lang="en-US" sz="1900" b="0" i="0" dirty="0">
                <a:effectLst/>
                <a:latin typeface="Times New Roman" panose="02020603050405020304" pitchFamily="18" charset="0"/>
                <a:cs typeface="Times New Roman" panose="02020603050405020304" pitchFamily="18" charset="0"/>
              </a:rPr>
              <a:t>3. </a:t>
            </a:r>
            <a:r>
              <a:rPr lang="en-US" sz="1900" b="0" i="1" dirty="0">
                <a:effectLst/>
                <a:latin typeface="Times New Roman" panose="02020603050405020304" pitchFamily="18" charset="0"/>
                <a:cs typeface="Times New Roman" panose="02020603050405020304" pitchFamily="18" charset="0"/>
              </a:rPr>
              <a:t>W</a:t>
            </a:r>
            <a:r>
              <a:rPr lang="en-US" sz="1900" b="0" i="0" dirty="0">
                <a:effectLst/>
                <a:latin typeface="Times New Roman" panose="02020603050405020304" pitchFamily="18" charset="0"/>
                <a:cs typeface="Times New Roman" panose="02020603050405020304" pitchFamily="18" charset="0"/>
              </a:rPr>
              <a:t>(1) </a:t>
            </a:r>
            <a:r>
              <a:rPr lang="en-US" sz="1900" b="0" i="1" dirty="0">
                <a:effectLst/>
                <a:latin typeface="Times New Roman" panose="02020603050405020304" pitchFamily="18" charset="0"/>
                <a:cs typeface="Times New Roman" panose="02020603050405020304" pitchFamily="18" charset="0"/>
              </a:rPr>
              <a:t>ji </a:t>
            </a:r>
            <a:r>
              <a:rPr lang="en-US" sz="1900" b="0" i="0" dirty="0">
                <a:effectLst/>
                <a:latin typeface="Times New Roman" panose="02020603050405020304" pitchFamily="18" charset="0"/>
                <a:cs typeface="Times New Roman" panose="02020603050405020304" pitchFamily="18" charset="0"/>
              </a:rPr>
              <a:t>is the synaptic weight connecting the </a:t>
            </a:r>
            <a:r>
              <a:rPr lang="en-US" sz="1900" b="0" i="1" dirty="0">
                <a:effectLst/>
                <a:latin typeface="Times New Roman" panose="02020603050405020304" pitchFamily="18" charset="0"/>
                <a:cs typeface="Times New Roman" panose="02020603050405020304" pitchFamily="18" charset="0"/>
              </a:rPr>
              <a:t>j</a:t>
            </a:r>
            <a:r>
              <a:rPr lang="en-US" sz="1900" b="0" i="0" dirty="0">
                <a:effectLst/>
                <a:latin typeface="Times New Roman" panose="02020603050405020304" pitchFamily="18" charset="0"/>
                <a:cs typeface="Times New Roman" panose="02020603050405020304" pitchFamily="18" charset="0"/>
              </a:rPr>
              <a:t>th neuron of hidden layer 1 to the </a:t>
            </a:r>
            <a:r>
              <a:rPr lang="en-US" sz="1900" b="0" i="1" dirty="0">
                <a:effectLst/>
                <a:latin typeface="Times New Roman" panose="02020603050405020304" pitchFamily="18" charset="0"/>
                <a:cs typeface="Times New Roman" panose="02020603050405020304" pitchFamily="18" charset="0"/>
              </a:rPr>
              <a:t>i</a:t>
            </a:r>
            <a:r>
              <a:rPr lang="en-US" sz="1900" b="0" i="0" dirty="0">
                <a:effectLst/>
                <a:latin typeface="Times New Roman" panose="02020603050405020304" pitchFamily="18" charset="0"/>
                <a:cs typeface="Times New Roman" panose="02020603050405020304" pitchFamily="18" charset="0"/>
              </a:rPr>
              <a:t>th signal of the input layer.</a:t>
            </a:r>
            <a:r>
              <a:rPr lang="en-US" sz="1900" dirty="0">
                <a:latin typeface="Times New Roman" panose="02020603050405020304" pitchFamily="18" charset="0"/>
                <a:cs typeface="Times New Roman" panose="02020603050405020304" pitchFamily="18" charset="0"/>
              </a:rPr>
              <a:t> </a:t>
            </a:r>
            <a:br>
              <a:rPr lang="en-US" dirty="0"/>
            </a:br>
            <a:endParaRPr lang="en-KE" dirty="0"/>
          </a:p>
        </p:txBody>
      </p:sp>
      <p:sp>
        <p:nvSpPr>
          <p:cNvPr id="5" name="Slide Number Placeholder 4">
            <a:extLst>
              <a:ext uri="{FF2B5EF4-FFF2-40B4-BE49-F238E27FC236}">
                <a16:creationId xmlns:a16="http://schemas.microsoft.com/office/drawing/2014/main" id="{460F9E98-3EC0-BE5D-7BCC-385C0C74ACFF}"/>
              </a:ext>
            </a:extLst>
          </p:cNvPr>
          <p:cNvSpPr>
            <a:spLocks noGrp="1"/>
          </p:cNvSpPr>
          <p:nvPr>
            <p:ph type="sldNum" sz="quarter" idx="12"/>
          </p:nvPr>
        </p:nvSpPr>
        <p:spPr/>
        <p:txBody>
          <a:bodyPr/>
          <a:lstStyle/>
          <a:p>
            <a:fld id="{A755A77B-A17B-45F4-84E2-294C20E72625}" type="slidenum">
              <a:rPr lang="en-KE" smtClean="0"/>
              <a:t>19</a:t>
            </a:fld>
            <a:endParaRPr lang="en-KE"/>
          </a:p>
        </p:txBody>
      </p:sp>
      <p:sp>
        <p:nvSpPr>
          <p:cNvPr id="8" name="TextBox 7">
            <a:extLst>
              <a:ext uri="{FF2B5EF4-FFF2-40B4-BE49-F238E27FC236}">
                <a16:creationId xmlns:a16="http://schemas.microsoft.com/office/drawing/2014/main" id="{313A71CA-C107-E6FE-FA66-6385E4437E85}"/>
              </a:ext>
            </a:extLst>
          </p:cNvPr>
          <p:cNvSpPr txBox="1"/>
          <p:nvPr/>
        </p:nvSpPr>
        <p:spPr>
          <a:xfrm>
            <a:off x="914400" y="5943600"/>
            <a:ext cx="1051891" cy="369332"/>
          </a:xfrm>
          <a:prstGeom prst="rect">
            <a:avLst/>
          </a:prstGeom>
          <a:noFill/>
        </p:spPr>
        <p:txBody>
          <a:bodyPr wrap="none" rtlCol="0">
            <a:spAutoFit/>
          </a:bodyPr>
          <a:lstStyle/>
          <a:p>
            <a:r>
              <a:rPr lang="en-US" dirty="0"/>
              <a:t>Figure 2</a:t>
            </a:r>
            <a:endParaRPr lang="en-KE" dirty="0"/>
          </a:p>
        </p:txBody>
      </p:sp>
    </p:spTree>
    <p:extLst>
      <p:ext uri="{BB962C8B-B14F-4D97-AF65-F5344CB8AC3E}">
        <p14:creationId xmlns:p14="http://schemas.microsoft.com/office/powerpoint/2010/main" val="12303719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D0126-6B63-4F1F-3700-5A51A9B15421}"/>
              </a:ext>
            </a:extLst>
          </p:cNvPr>
          <p:cNvSpPr>
            <a:spLocks noGrp="1"/>
          </p:cNvSpPr>
          <p:nvPr>
            <p:ph type="title"/>
          </p:nvPr>
        </p:nvSpPr>
        <p:spPr/>
        <p:txBody>
          <a:bodyPr/>
          <a:lstStyle/>
          <a:p>
            <a:endParaRPr lang="en-KE"/>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1BFAF67-B57F-397E-34A1-AE11A04BAA3B}"/>
                  </a:ext>
                </a:extLst>
              </p:cNvPr>
              <p:cNvSpPr>
                <a:spLocks noGrp="1"/>
              </p:cNvSpPr>
              <p:nvPr>
                <p:ph idx="1"/>
              </p:nvPr>
            </p:nvSpPr>
            <p:spPr>
              <a:xfrm>
                <a:off x="165100" y="2052918"/>
                <a:ext cx="11849100" cy="4805082"/>
              </a:xfrm>
            </p:spPr>
            <p:txBody>
              <a:bodyPr/>
              <a:lstStyle/>
              <a:p>
                <a:pPr>
                  <a:spcBef>
                    <a:spcPts val="600"/>
                  </a:spcBef>
                  <a:spcAft>
                    <a:spcPts val="600"/>
                  </a:spcAft>
                </a:pPr>
                <a14:m>
                  <m:oMath xmlns:m="http://schemas.openxmlformats.org/officeDocument/2006/math">
                    <m:sSubSup>
                      <m:sSubSupPr>
                        <m:ctrlPr>
                          <a:rPr lang="en-KE" sz="1800" i="1" kern="100" smtClean="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𝐼</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1</m:t>
                        </m:r>
                      </m:sup>
                    </m:sSubSup>
                    <m:r>
                      <a:rPr lang="en-US" sz="1800" i="1" kern="100">
                        <a:effectLst/>
                        <a:latin typeface="Cambria Math" panose="02040503050406030204" pitchFamily="18" charset="0"/>
                        <a:ea typeface="Noto Serif CJK SC"/>
                        <a:cs typeface="Lohit Devanagari"/>
                      </a:rPr>
                      <m:t>= </m:t>
                    </m:r>
                    <m:nary>
                      <m:naryPr>
                        <m:chr m:val="∑"/>
                        <m:limLoc m:val="undOvr"/>
                        <m:ctrlPr>
                          <a:rPr lang="en-KE" sz="1800" i="1" kern="100">
                            <a:effectLst/>
                            <a:latin typeface="Cambria Math" panose="02040503050406030204" pitchFamily="18" charset="0"/>
                            <a:ea typeface="Noto Serif CJK SC"/>
                            <a:cs typeface="Lohit Devanagari"/>
                          </a:rPr>
                        </m:ctrlPr>
                      </m:naryPr>
                      <m:sub>
                        <m:r>
                          <a:rPr lang="en-US" sz="1800" i="1" kern="100">
                            <a:effectLst/>
                            <a:latin typeface="Cambria Math" panose="02040503050406030204" pitchFamily="18" charset="0"/>
                            <a:ea typeface="Noto Serif CJK SC"/>
                            <a:cs typeface="Lohit Devanagari"/>
                          </a:rPr>
                          <m:t>𝑖</m:t>
                        </m:r>
                        <m:r>
                          <a:rPr lang="en-US" sz="1800" i="1" kern="100">
                            <a:effectLst/>
                            <a:latin typeface="Cambria Math" panose="02040503050406030204" pitchFamily="18" charset="0"/>
                            <a:ea typeface="Noto Serif CJK SC"/>
                            <a:cs typeface="Lohit Devanagari"/>
                          </a:rPr>
                          <m:t>=0</m:t>
                        </m:r>
                      </m:sub>
                      <m:sup>
                        <m:r>
                          <a:rPr lang="en-US" sz="1800" i="1" kern="100">
                            <a:effectLst/>
                            <a:latin typeface="Cambria Math" panose="02040503050406030204" pitchFamily="18" charset="0"/>
                            <a:ea typeface="Noto Serif CJK SC"/>
                            <a:cs typeface="Lohit Devanagari"/>
                          </a:rPr>
                          <m:t>𝑛</m:t>
                        </m:r>
                      </m:sup>
                      <m:e>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𝑊</m:t>
                            </m:r>
                          </m:e>
                          <m:sub>
                            <m:r>
                              <a:rPr lang="en-US" sz="1800" i="1" kern="100">
                                <a:effectLst/>
                                <a:latin typeface="Cambria Math" panose="02040503050406030204" pitchFamily="18" charset="0"/>
                                <a:ea typeface="Noto Serif CJK SC"/>
                                <a:cs typeface="Lohit Devanagari"/>
                              </a:rPr>
                              <m:t>𝑗𝑖</m:t>
                            </m:r>
                          </m:sub>
                          <m:sup>
                            <m:r>
                              <a:rPr lang="en-US" sz="1800" i="1" kern="100">
                                <a:effectLst/>
                                <a:latin typeface="Cambria Math" panose="02040503050406030204" pitchFamily="18" charset="0"/>
                                <a:ea typeface="Noto Serif CJK SC"/>
                                <a:cs typeface="Lohit Devanagari"/>
                              </a:rPr>
                              <m:t>1</m:t>
                            </m:r>
                          </m:sup>
                        </m:sSubSup>
                        <m:r>
                          <a:rPr lang="en-US" sz="1800" i="1" kern="100">
                            <a:effectLst/>
                            <a:latin typeface="Cambria Math" panose="02040503050406030204" pitchFamily="18" charset="0"/>
                            <a:ea typeface="Noto Serif CJK SC"/>
                            <a:cs typeface="Lohit Devanagari"/>
                          </a:rPr>
                          <m:t>∗ </m:t>
                        </m:r>
                        <m:sSub>
                          <m:sSubPr>
                            <m:ctrlPr>
                              <a:rPr lang="en-KE" sz="1800" i="1" kern="100">
                                <a:effectLst/>
                                <a:latin typeface="Cambria Math" panose="02040503050406030204" pitchFamily="18" charset="0"/>
                                <a:ea typeface="Noto Serif CJK SC"/>
                                <a:cs typeface="Lohit Devanagari"/>
                              </a:rPr>
                            </m:ctrlPr>
                          </m:sSubPr>
                          <m:e>
                            <m:r>
                              <a:rPr lang="en-US" sz="1800" i="1" kern="100">
                                <a:effectLst/>
                                <a:latin typeface="Cambria Math" panose="02040503050406030204" pitchFamily="18" charset="0"/>
                                <a:ea typeface="Noto Serif CJK SC"/>
                                <a:cs typeface="Lohit Devanagari"/>
                              </a:rPr>
                              <m:t>𝑥</m:t>
                            </m:r>
                          </m:e>
                          <m:sub>
                            <m:r>
                              <a:rPr lang="en-US" sz="1800" i="1" kern="100">
                                <a:effectLst/>
                                <a:latin typeface="Cambria Math" panose="02040503050406030204" pitchFamily="18" charset="0"/>
                                <a:ea typeface="Noto Serif CJK SC"/>
                                <a:cs typeface="Lohit Devanagari"/>
                              </a:rPr>
                              <m:t>𝑖</m:t>
                            </m:r>
                          </m:sub>
                        </m:sSub>
                        <m:r>
                          <a:rPr lang="en-US" sz="1800" i="1" kern="100">
                            <a:effectLst/>
                            <a:latin typeface="Cambria Math" panose="02040503050406030204" pitchFamily="18" charset="0"/>
                            <a:ea typeface="Noto Serif CJK SC"/>
                            <a:cs typeface="Lohit Devanagari"/>
                          </a:rPr>
                          <m:t> </m:t>
                        </m:r>
                        <m:r>
                          <a:rPr lang="en-US" sz="1800" i="1" kern="100">
                            <a:effectLst/>
                            <a:latin typeface="Cambria Math" panose="02040503050406030204" pitchFamily="18" charset="0"/>
                            <a:ea typeface="Noto Serif CJK SC"/>
                            <a:cs typeface="Lohit Devanagari"/>
                          </a:rPr>
                          <m:t>↔</m:t>
                        </m:r>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𝐼</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1</m:t>
                            </m:r>
                          </m:sup>
                        </m:sSubSup>
                      </m:e>
                    </m:nary>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𝑊</m:t>
                        </m:r>
                      </m:e>
                      <m:sub>
                        <m:r>
                          <a:rPr lang="en-US" sz="1800" i="1" kern="100">
                            <a:effectLst/>
                            <a:latin typeface="Cambria Math" panose="02040503050406030204" pitchFamily="18" charset="0"/>
                            <a:ea typeface="Noto Serif CJK SC"/>
                            <a:cs typeface="Lohit Devanagari"/>
                          </a:rPr>
                          <m:t>1,0</m:t>
                        </m:r>
                      </m:sub>
                      <m:sup>
                        <m:r>
                          <a:rPr lang="en-US" sz="1800" i="1" kern="100">
                            <a:effectLst/>
                            <a:latin typeface="Cambria Math" panose="02040503050406030204" pitchFamily="18" charset="0"/>
                            <a:ea typeface="Noto Serif CJK SC"/>
                            <a:cs typeface="Lohit Devanagari"/>
                          </a:rPr>
                          <m:t>1</m:t>
                        </m:r>
                      </m:sup>
                    </m:sSubSup>
                    <m:r>
                      <a:rPr lang="en-US" sz="1800" i="1" kern="100">
                        <a:effectLst/>
                        <a:latin typeface="Cambria Math" panose="02040503050406030204" pitchFamily="18" charset="0"/>
                        <a:ea typeface="Noto Serif CJK SC"/>
                        <a:cs typeface="Lohit Devanagari"/>
                      </a:rPr>
                      <m:t>∗</m:t>
                    </m:r>
                    <m:sSub>
                      <m:sSubPr>
                        <m:ctrlPr>
                          <a:rPr lang="en-KE" sz="1800" i="1" kern="100">
                            <a:effectLst/>
                            <a:latin typeface="Cambria Math" panose="02040503050406030204" pitchFamily="18" charset="0"/>
                            <a:ea typeface="Noto Serif CJK SC"/>
                            <a:cs typeface="Lohit Devanagari"/>
                          </a:rPr>
                        </m:ctrlPr>
                      </m:sSubPr>
                      <m:e>
                        <m:r>
                          <a:rPr lang="en-US" sz="1800" i="1" kern="100">
                            <a:effectLst/>
                            <a:latin typeface="Cambria Math" panose="02040503050406030204" pitchFamily="18" charset="0"/>
                            <a:ea typeface="Noto Serif CJK SC"/>
                            <a:cs typeface="Lohit Devanagari"/>
                          </a:rPr>
                          <m:t>𝑥</m:t>
                        </m:r>
                      </m:e>
                      <m:sub>
                        <m:r>
                          <a:rPr lang="en-US" sz="1800" i="1" kern="100">
                            <a:effectLst/>
                            <a:latin typeface="Cambria Math" panose="02040503050406030204" pitchFamily="18" charset="0"/>
                            <a:ea typeface="Noto Serif CJK SC"/>
                            <a:cs typeface="Lohit Devanagari"/>
                          </a:rPr>
                          <m:t>0</m:t>
                        </m:r>
                      </m:sub>
                    </m:sSub>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𝑊</m:t>
                        </m:r>
                      </m:e>
                      <m:sub>
                        <m:r>
                          <a:rPr lang="en-US" sz="1800" i="1" kern="100">
                            <a:effectLst/>
                            <a:latin typeface="Cambria Math" panose="02040503050406030204" pitchFamily="18" charset="0"/>
                            <a:ea typeface="Noto Serif CJK SC"/>
                            <a:cs typeface="Lohit Devanagari"/>
                          </a:rPr>
                          <m:t>1,1</m:t>
                        </m:r>
                      </m:sub>
                      <m:sup>
                        <m:r>
                          <a:rPr lang="en-US" sz="1800" i="1" kern="100">
                            <a:effectLst/>
                            <a:latin typeface="Cambria Math" panose="02040503050406030204" pitchFamily="18" charset="0"/>
                            <a:ea typeface="Noto Serif CJK SC"/>
                            <a:cs typeface="Lohit Devanagari"/>
                          </a:rPr>
                          <m:t>1</m:t>
                        </m:r>
                      </m:sup>
                    </m:sSubSup>
                    <m:r>
                      <a:rPr lang="en-US" sz="1800" i="1" kern="100">
                        <a:effectLst/>
                        <a:latin typeface="Cambria Math" panose="02040503050406030204" pitchFamily="18" charset="0"/>
                        <a:ea typeface="Noto Serif CJK SC"/>
                        <a:cs typeface="Lohit Devanagari"/>
                      </a:rPr>
                      <m:t>∗</m:t>
                    </m:r>
                    <m:sSub>
                      <m:sSubPr>
                        <m:ctrlPr>
                          <a:rPr lang="en-KE" sz="1800" i="1" kern="100">
                            <a:effectLst/>
                            <a:latin typeface="Cambria Math" panose="02040503050406030204" pitchFamily="18" charset="0"/>
                            <a:ea typeface="Noto Serif CJK SC"/>
                            <a:cs typeface="Lohit Devanagari"/>
                          </a:rPr>
                        </m:ctrlPr>
                      </m:sSubPr>
                      <m:e>
                        <m:r>
                          <a:rPr lang="en-US" sz="1800" i="1" kern="100">
                            <a:effectLst/>
                            <a:latin typeface="Cambria Math" panose="02040503050406030204" pitchFamily="18" charset="0"/>
                            <a:ea typeface="Noto Serif CJK SC"/>
                            <a:cs typeface="Lohit Devanagari"/>
                          </a:rPr>
                          <m:t>𝑥</m:t>
                        </m:r>
                      </m:e>
                      <m:sub>
                        <m:r>
                          <a:rPr lang="en-US" sz="1800" i="1" kern="100">
                            <a:effectLst/>
                            <a:latin typeface="Cambria Math" panose="02040503050406030204" pitchFamily="18" charset="0"/>
                            <a:ea typeface="Noto Serif CJK SC"/>
                            <a:cs typeface="Lohit Devanagari"/>
                          </a:rPr>
                          <m:t>1</m:t>
                        </m:r>
                      </m:sub>
                    </m:sSub>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𝑊</m:t>
                        </m:r>
                      </m:e>
                      <m:sub>
                        <m:r>
                          <a:rPr lang="en-US" sz="1800" i="1" kern="100">
                            <a:effectLst/>
                            <a:latin typeface="Cambria Math" panose="02040503050406030204" pitchFamily="18" charset="0"/>
                            <a:ea typeface="Noto Serif CJK SC"/>
                            <a:cs typeface="Lohit Devanagari"/>
                          </a:rPr>
                          <m:t>1,</m:t>
                        </m:r>
                        <m:r>
                          <a:rPr lang="en-US" sz="1800" i="1" kern="100">
                            <a:effectLst/>
                            <a:latin typeface="Cambria Math" panose="02040503050406030204" pitchFamily="18" charset="0"/>
                            <a:ea typeface="Noto Serif CJK SC"/>
                            <a:cs typeface="Lohit Devanagari"/>
                          </a:rPr>
                          <m:t>𝑛</m:t>
                        </m:r>
                      </m:sub>
                      <m:sup>
                        <m:r>
                          <a:rPr lang="en-US" sz="1800" i="1" kern="100">
                            <a:effectLst/>
                            <a:latin typeface="Cambria Math" panose="02040503050406030204" pitchFamily="18" charset="0"/>
                            <a:ea typeface="Noto Serif CJK SC"/>
                            <a:cs typeface="Lohit Devanagari"/>
                          </a:rPr>
                          <m:t>1</m:t>
                        </m:r>
                      </m:sup>
                    </m:sSubSup>
                    <m:r>
                      <a:rPr lang="en-US" sz="1800" i="1" kern="100">
                        <a:effectLst/>
                        <a:latin typeface="Cambria Math" panose="02040503050406030204" pitchFamily="18" charset="0"/>
                        <a:ea typeface="Noto Serif CJK SC"/>
                        <a:cs typeface="Lohit Devanagari"/>
                      </a:rPr>
                      <m:t>∗</m:t>
                    </m:r>
                    <m:sSub>
                      <m:sSubPr>
                        <m:ctrlPr>
                          <a:rPr lang="en-KE" sz="1800" i="1" kern="100">
                            <a:effectLst/>
                            <a:latin typeface="Cambria Math" panose="02040503050406030204" pitchFamily="18" charset="0"/>
                            <a:ea typeface="Noto Serif CJK SC"/>
                            <a:cs typeface="Lohit Devanagari"/>
                          </a:rPr>
                        </m:ctrlPr>
                      </m:sSubPr>
                      <m:e>
                        <m:r>
                          <a:rPr lang="en-US" sz="1800" i="1" kern="100">
                            <a:effectLst/>
                            <a:latin typeface="Cambria Math" panose="02040503050406030204" pitchFamily="18" charset="0"/>
                            <a:ea typeface="Noto Serif CJK SC"/>
                            <a:cs typeface="Lohit Devanagari"/>
                          </a:rPr>
                          <m:t>𝑥</m:t>
                        </m:r>
                      </m:e>
                      <m:sub>
                        <m:r>
                          <a:rPr lang="en-US" sz="1800" i="1" kern="100">
                            <a:effectLst/>
                            <a:latin typeface="Cambria Math" panose="02040503050406030204" pitchFamily="18" charset="0"/>
                            <a:ea typeface="Noto Serif CJK SC"/>
                            <a:cs typeface="Lohit Devanagari"/>
                          </a:rPr>
                          <m:t>𝑛</m:t>
                        </m:r>
                      </m:sub>
                    </m:sSub>
                  </m:oMath>
                </a14:m>
                <a:r>
                  <a:rPr lang="en-US" sz="1800" i="1" kern="100" dirty="0">
                    <a:effectLst/>
                    <a:latin typeface="Liberation Serif"/>
                    <a:ea typeface="Noto Serif CJK SC"/>
                    <a:cs typeface="Lohit Devanagari"/>
                  </a:rPr>
                  <a:t>                                      </a:t>
                </a:r>
                <a:r>
                  <a:rPr lang="en-US" sz="1800" i="0" kern="100" dirty="0">
                    <a:effectLst/>
                    <a:latin typeface="Liberation Serif"/>
                    <a:ea typeface="Noto Serif CJK SC"/>
                    <a:cs typeface="Lohit Devanagari"/>
                  </a:rPr>
                  <a:t>(1)</a:t>
                </a:r>
                <a:endParaRPr lang="en-KE" sz="1800" i="1" kern="100" dirty="0">
                  <a:effectLst/>
                  <a:latin typeface="Liberation Serif"/>
                  <a:ea typeface="Noto Serif CJK SC"/>
                  <a:cs typeface="Lohit Devanagari"/>
                </a:endParaRPr>
              </a:p>
              <a:p>
                <a:pPr>
                  <a:spcBef>
                    <a:spcPts val="600"/>
                  </a:spcBef>
                  <a:spcAft>
                    <a:spcPts val="600"/>
                  </a:spcAft>
                </a:pPr>
                <a14:m>
                  <m:oMath xmlns:m="http://schemas.openxmlformats.org/officeDocument/2006/math">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𝐼</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2</m:t>
                        </m:r>
                      </m:sup>
                    </m:sSubSup>
                    <m:r>
                      <a:rPr lang="en-US" sz="1800" i="1" kern="100">
                        <a:effectLst/>
                        <a:latin typeface="Cambria Math" panose="02040503050406030204" pitchFamily="18" charset="0"/>
                        <a:ea typeface="Noto Serif CJK SC"/>
                        <a:cs typeface="Lohit Devanagari"/>
                      </a:rPr>
                      <m:t>= </m:t>
                    </m:r>
                    <m:nary>
                      <m:naryPr>
                        <m:chr m:val="∑"/>
                        <m:limLoc m:val="undOvr"/>
                        <m:ctrlPr>
                          <a:rPr lang="en-KE" sz="1800" i="1" kern="100">
                            <a:effectLst/>
                            <a:latin typeface="Cambria Math" panose="02040503050406030204" pitchFamily="18" charset="0"/>
                            <a:ea typeface="Noto Serif CJK SC"/>
                            <a:cs typeface="Lohit Devanagari"/>
                          </a:rPr>
                        </m:ctrlPr>
                      </m:naryPr>
                      <m:sub>
                        <m:r>
                          <a:rPr lang="en-US" sz="1800" i="1" kern="100">
                            <a:effectLst/>
                            <a:latin typeface="Cambria Math" panose="02040503050406030204" pitchFamily="18" charset="0"/>
                            <a:ea typeface="Noto Serif CJK SC"/>
                            <a:cs typeface="Lohit Devanagari"/>
                          </a:rPr>
                          <m:t>𝑖</m:t>
                        </m:r>
                        <m:r>
                          <a:rPr lang="en-US" sz="1800" i="1" kern="100">
                            <a:effectLst/>
                            <a:latin typeface="Cambria Math" panose="02040503050406030204" pitchFamily="18" charset="0"/>
                            <a:ea typeface="Noto Serif CJK SC"/>
                            <a:cs typeface="Lohit Devanagari"/>
                          </a:rPr>
                          <m:t>=0</m:t>
                        </m:r>
                      </m:sub>
                      <m:sup>
                        <m:r>
                          <a:rPr lang="en-US" sz="1800" i="1" kern="100">
                            <a:effectLst/>
                            <a:latin typeface="Cambria Math" panose="02040503050406030204" pitchFamily="18" charset="0"/>
                            <a:ea typeface="Noto Serif CJK SC"/>
                            <a:cs typeface="Lohit Devanagari"/>
                          </a:rPr>
                          <m:t>𝑛</m:t>
                        </m:r>
                        <m:r>
                          <a:rPr lang="en-US" sz="1800" i="1" kern="100">
                            <a:effectLst/>
                            <a:latin typeface="Cambria Math" panose="02040503050406030204" pitchFamily="18" charset="0"/>
                            <a:ea typeface="Noto Serif CJK SC"/>
                            <a:cs typeface="Lohit Devanagari"/>
                          </a:rPr>
                          <m:t>1</m:t>
                        </m:r>
                      </m:sup>
                      <m:e>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𝑊</m:t>
                            </m:r>
                          </m:e>
                          <m:sub>
                            <m:r>
                              <a:rPr lang="en-US" sz="1800" i="1" kern="100">
                                <a:effectLst/>
                                <a:latin typeface="Cambria Math" panose="02040503050406030204" pitchFamily="18" charset="0"/>
                                <a:ea typeface="Noto Serif CJK SC"/>
                                <a:cs typeface="Lohit Devanagari"/>
                              </a:rPr>
                              <m:t>𝑗𝑖</m:t>
                            </m:r>
                          </m:sub>
                          <m:sup>
                            <m:r>
                              <a:rPr lang="en-US" sz="1800" i="1" kern="100">
                                <a:effectLst/>
                                <a:latin typeface="Cambria Math" panose="02040503050406030204" pitchFamily="18" charset="0"/>
                                <a:ea typeface="Noto Serif CJK SC"/>
                                <a:cs typeface="Lohit Devanagari"/>
                              </a:rPr>
                              <m:t>2</m:t>
                            </m:r>
                          </m:sup>
                        </m:sSubSup>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𝑦</m:t>
                            </m:r>
                          </m:e>
                          <m:sub>
                            <m:r>
                              <a:rPr lang="en-US" sz="1800" i="1" kern="100">
                                <a:effectLst/>
                                <a:latin typeface="Cambria Math" panose="02040503050406030204" pitchFamily="18" charset="0"/>
                                <a:ea typeface="Noto Serif CJK SC"/>
                                <a:cs typeface="Lohit Devanagari"/>
                              </a:rPr>
                              <m:t>𝑖</m:t>
                            </m:r>
                          </m:sub>
                          <m:sup>
                            <m:r>
                              <a:rPr lang="en-US" sz="1800" i="1" kern="100">
                                <a:effectLst/>
                                <a:latin typeface="Cambria Math" panose="02040503050406030204" pitchFamily="18" charset="0"/>
                                <a:ea typeface="Noto Serif CJK SC"/>
                                <a:cs typeface="Lohit Devanagari"/>
                              </a:rPr>
                              <m:t>1</m:t>
                            </m:r>
                          </m:sup>
                        </m:sSubSup>
                        <m:r>
                          <a:rPr lang="en-US" sz="1800" i="1" kern="100">
                            <a:effectLst/>
                            <a:latin typeface="Cambria Math" panose="02040503050406030204" pitchFamily="18" charset="0"/>
                            <a:ea typeface="Noto Serif CJK SC"/>
                            <a:cs typeface="Lohit Devanagari"/>
                          </a:rPr>
                          <m:t> </m:t>
                        </m:r>
                        <m:r>
                          <a:rPr lang="en-US" sz="1800" i="1" kern="100">
                            <a:effectLst/>
                            <a:latin typeface="Cambria Math" panose="02040503050406030204" pitchFamily="18" charset="0"/>
                            <a:ea typeface="Noto Serif CJK SC"/>
                            <a:cs typeface="Lohit Devanagari"/>
                          </a:rPr>
                          <m:t>↔</m:t>
                        </m:r>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𝐼</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2</m:t>
                            </m:r>
                          </m:sup>
                        </m:sSubSup>
                      </m:e>
                    </m:nary>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𝑊</m:t>
                        </m:r>
                      </m:e>
                      <m:sub>
                        <m:r>
                          <a:rPr lang="en-US" sz="1800" i="1" kern="100">
                            <a:effectLst/>
                            <a:latin typeface="Cambria Math" panose="02040503050406030204" pitchFamily="18" charset="0"/>
                            <a:ea typeface="Noto Serif CJK SC"/>
                            <a:cs typeface="Lohit Devanagari"/>
                          </a:rPr>
                          <m:t>1,0</m:t>
                        </m:r>
                      </m:sub>
                      <m:sup>
                        <m:r>
                          <a:rPr lang="en-US" sz="1800" i="1" kern="100">
                            <a:effectLst/>
                            <a:latin typeface="Cambria Math" panose="02040503050406030204" pitchFamily="18" charset="0"/>
                            <a:ea typeface="Noto Serif CJK SC"/>
                            <a:cs typeface="Lohit Devanagari"/>
                          </a:rPr>
                          <m:t>2</m:t>
                        </m:r>
                      </m:sup>
                    </m:sSubSup>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𝑦</m:t>
                        </m:r>
                      </m:e>
                      <m:sub>
                        <m:r>
                          <a:rPr lang="en-US" sz="1800" i="1" kern="100">
                            <a:effectLst/>
                            <a:latin typeface="Cambria Math" panose="02040503050406030204" pitchFamily="18" charset="0"/>
                            <a:ea typeface="Noto Serif CJK SC"/>
                            <a:cs typeface="Lohit Devanagari"/>
                          </a:rPr>
                          <m:t>0</m:t>
                        </m:r>
                      </m:sub>
                      <m:sup>
                        <m:r>
                          <a:rPr lang="en-US" sz="1800" i="1" kern="100">
                            <a:effectLst/>
                            <a:latin typeface="Cambria Math" panose="02040503050406030204" pitchFamily="18" charset="0"/>
                            <a:ea typeface="Noto Serif CJK SC"/>
                            <a:cs typeface="Lohit Devanagari"/>
                          </a:rPr>
                          <m:t>1</m:t>
                        </m:r>
                      </m:sup>
                    </m:sSubSup>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𝑊</m:t>
                        </m:r>
                      </m:e>
                      <m:sub>
                        <m:r>
                          <a:rPr lang="en-US" sz="1800" i="1" kern="100">
                            <a:effectLst/>
                            <a:latin typeface="Cambria Math" panose="02040503050406030204" pitchFamily="18" charset="0"/>
                            <a:ea typeface="Noto Serif CJK SC"/>
                            <a:cs typeface="Lohit Devanagari"/>
                          </a:rPr>
                          <m:t>1,1</m:t>
                        </m:r>
                      </m:sub>
                      <m:sup>
                        <m:r>
                          <a:rPr lang="en-US" sz="1800" i="1" kern="100">
                            <a:effectLst/>
                            <a:latin typeface="Cambria Math" panose="02040503050406030204" pitchFamily="18" charset="0"/>
                            <a:ea typeface="Noto Serif CJK SC"/>
                            <a:cs typeface="Lohit Devanagari"/>
                          </a:rPr>
                          <m:t>2</m:t>
                        </m:r>
                      </m:sup>
                    </m:sSubSup>
                    <m:r>
                      <a:rPr lang="en-US" sz="1800" i="1" kern="100">
                        <a:effectLst/>
                        <a:latin typeface="Cambria Math" panose="02040503050406030204" pitchFamily="18" charset="0"/>
                        <a:ea typeface="Noto Serif CJK SC"/>
                        <a:cs typeface="Lohit Devanagari"/>
                      </a:rPr>
                      <m:t>∗</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𝑦</m:t>
                        </m:r>
                      </m:e>
                      <m:sub>
                        <m:r>
                          <a:rPr lang="en-US" sz="1800" i="1" kern="100">
                            <a:effectLst/>
                            <a:latin typeface="Cambria Math" panose="02040503050406030204" pitchFamily="18" charset="0"/>
                            <a:ea typeface="Noto Serif CJK SC"/>
                            <a:cs typeface="Lohit Devanagari"/>
                          </a:rPr>
                          <m:t>1</m:t>
                        </m:r>
                      </m:sub>
                      <m:sup>
                        <m:r>
                          <a:rPr lang="en-US" sz="1800" i="1" kern="100">
                            <a:effectLst/>
                            <a:latin typeface="Cambria Math" panose="02040503050406030204" pitchFamily="18" charset="0"/>
                            <a:ea typeface="Noto Serif CJK SC"/>
                            <a:cs typeface="Lohit Devanagari"/>
                          </a:rPr>
                          <m:t>1</m:t>
                        </m:r>
                      </m:sup>
                    </m:sSubSup>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𝑊</m:t>
                        </m:r>
                      </m:e>
                      <m:sub>
                        <m:r>
                          <a:rPr lang="en-US" sz="1800" i="1" kern="100">
                            <a:effectLst/>
                            <a:latin typeface="Cambria Math" panose="02040503050406030204" pitchFamily="18" charset="0"/>
                            <a:ea typeface="Noto Serif CJK SC"/>
                            <a:cs typeface="Lohit Devanagari"/>
                          </a:rPr>
                          <m:t>1,</m:t>
                        </m:r>
                        <m:r>
                          <a:rPr lang="en-US" sz="1800" i="1" kern="100">
                            <a:effectLst/>
                            <a:latin typeface="Cambria Math" panose="02040503050406030204" pitchFamily="18" charset="0"/>
                            <a:ea typeface="Noto Serif CJK SC"/>
                            <a:cs typeface="Lohit Devanagari"/>
                          </a:rPr>
                          <m:t>𝑛</m:t>
                        </m:r>
                        <m:r>
                          <a:rPr lang="en-US" sz="1800" i="1" kern="100">
                            <a:effectLst/>
                            <a:latin typeface="Cambria Math" panose="02040503050406030204" pitchFamily="18" charset="0"/>
                            <a:ea typeface="Noto Serif CJK SC"/>
                            <a:cs typeface="Lohit Devanagari"/>
                          </a:rPr>
                          <m:t>1</m:t>
                        </m:r>
                      </m:sub>
                      <m:sup>
                        <m:r>
                          <a:rPr lang="en-US" sz="1800" i="1" kern="100">
                            <a:effectLst/>
                            <a:latin typeface="Cambria Math" panose="02040503050406030204" pitchFamily="18" charset="0"/>
                            <a:ea typeface="Noto Serif CJK SC"/>
                            <a:cs typeface="Lohit Devanagari"/>
                          </a:rPr>
                          <m:t>2</m:t>
                        </m:r>
                      </m:sup>
                    </m:sSubSup>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𝑦</m:t>
                        </m:r>
                      </m:e>
                      <m:sub>
                        <m:r>
                          <a:rPr lang="en-US" sz="1800" i="1" kern="100">
                            <a:effectLst/>
                            <a:latin typeface="Cambria Math" panose="02040503050406030204" pitchFamily="18" charset="0"/>
                            <a:ea typeface="Noto Serif CJK SC"/>
                            <a:cs typeface="Lohit Devanagari"/>
                          </a:rPr>
                          <m:t>𝑛</m:t>
                        </m:r>
                        <m:r>
                          <a:rPr lang="en-US" sz="1800" i="1" kern="100">
                            <a:effectLst/>
                            <a:latin typeface="Cambria Math" panose="02040503050406030204" pitchFamily="18" charset="0"/>
                            <a:ea typeface="Noto Serif CJK SC"/>
                            <a:cs typeface="Lohit Devanagari"/>
                          </a:rPr>
                          <m:t>1</m:t>
                        </m:r>
                      </m:sub>
                      <m:sup>
                        <m:r>
                          <a:rPr lang="en-US" sz="1800" i="1" kern="100">
                            <a:effectLst/>
                            <a:latin typeface="Cambria Math" panose="02040503050406030204" pitchFamily="18" charset="0"/>
                            <a:ea typeface="Noto Serif CJK SC"/>
                            <a:cs typeface="Lohit Devanagari"/>
                          </a:rPr>
                          <m:t>1</m:t>
                        </m:r>
                      </m:sup>
                    </m:sSubSup>
                  </m:oMath>
                </a14:m>
                <a:r>
                  <a:rPr lang="en-US" sz="1800" i="1" kern="100" dirty="0">
                    <a:effectLst/>
                    <a:latin typeface="Liberation Serif"/>
                    <a:ea typeface="Noto Serif CJK SC"/>
                    <a:cs typeface="Lohit Devanagari"/>
                  </a:rPr>
                  <a:t>                               </a:t>
                </a:r>
                <a:r>
                  <a:rPr lang="en-US" sz="1800" i="0" kern="100" dirty="0">
                    <a:effectLst/>
                    <a:latin typeface="Liberation Serif"/>
                    <a:ea typeface="Noto Serif CJK SC"/>
                    <a:cs typeface="Lohit Devanagari"/>
                  </a:rPr>
                  <a:t>(2)</a:t>
                </a:r>
                <a:endParaRPr lang="en-KE" sz="1800" i="1" kern="100" dirty="0">
                  <a:effectLst/>
                  <a:latin typeface="Liberation Serif"/>
                  <a:ea typeface="Noto Serif CJK SC"/>
                  <a:cs typeface="Lohit Devanagari"/>
                </a:endParaRPr>
              </a:p>
              <a:p>
                <a:pPr>
                  <a:spcBef>
                    <a:spcPts val="600"/>
                  </a:spcBef>
                  <a:spcAft>
                    <a:spcPts val="600"/>
                  </a:spcAft>
                </a:pPr>
                <a14:m>
                  <m:oMath xmlns:m="http://schemas.openxmlformats.org/officeDocument/2006/math">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𝐼</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3</m:t>
                        </m:r>
                      </m:sup>
                    </m:sSubSup>
                    <m:r>
                      <a:rPr lang="en-US" sz="1800" i="1" kern="100">
                        <a:effectLst/>
                        <a:latin typeface="Cambria Math" panose="02040503050406030204" pitchFamily="18" charset="0"/>
                        <a:ea typeface="Noto Serif CJK SC"/>
                        <a:cs typeface="Lohit Devanagari"/>
                      </a:rPr>
                      <m:t>= </m:t>
                    </m:r>
                    <m:nary>
                      <m:naryPr>
                        <m:chr m:val="∑"/>
                        <m:limLoc m:val="undOvr"/>
                        <m:ctrlPr>
                          <a:rPr lang="en-KE" sz="1800" i="1" kern="100">
                            <a:effectLst/>
                            <a:latin typeface="Cambria Math" panose="02040503050406030204" pitchFamily="18" charset="0"/>
                            <a:ea typeface="Noto Serif CJK SC"/>
                            <a:cs typeface="Lohit Devanagari"/>
                          </a:rPr>
                        </m:ctrlPr>
                      </m:naryPr>
                      <m:sub>
                        <m:r>
                          <a:rPr lang="en-US" sz="1800" i="1" kern="100">
                            <a:effectLst/>
                            <a:latin typeface="Cambria Math" panose="02040503050406030204" pitchFamily="18" charset="0"/>
                            <a:ea typeface="Noto Serif CJK SC"/>
                            <a:cs typeface="Lohit Devanagari"/>
                          </a:rPr>
                          <m:t>𝑖</m:t>
                        </m:r>
                        <m:r>
                          <a:rPr lang="en-US" sz="1800" i="1" kern="100">
                            <a:effectLst/>
                            <a:latin typeface="Cambria Math" panose="02040503050406030204" pitchFamily="18" charset="0"/>
                            <a:ea typeface="Noto Serif CJK SC"/>
                            <a:cs typeface="Lohit Devanagari"/>
                          </a:rPr>
                          <m:t>=0</m:t>
                        </m:r>
                      </m:sub>
                      <m:sup>
                        <m:r>
                          <a:rPr lang="en-US" sz="1800" i="1" kern="100">
                            <a:effectLst/>
                            <a:latin typeface="Cambria Math" panose="02040503050406030204" pitchFamily="18" charset="0"/>
                            <a:ea typeface="Noto Serif CJK SC"/>
                            <a:cs typeface="Lohit Devanagari"/>
                          </a:rPr>
                          <m:t>𝑛</m:t>
                        </m:r>
                        <m:r>
                          <a:rPr lang="en-US" sz="1800" i="1" kern="100">
                            <a:effectLst/>
                            <a:latin typeface="Cambria Math" panose="02040503050406030204" pitchFamily="18" charset="0"/>
                            <a:ea typeface="Noto Serif CJK SC"/>
                            <a:cs typeface="Lohit Devanagari"/>
                          </a:rPr>
                          <m:t>2</m:t>
                        </m:r>
                      </m:sup>
                      <m:e>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𝑊</m:t>
                            </m:r>
                          </m:e>
                          <m:sub>
                            <m:r>
                              <a:rPr lang="en-US" sz="1800" i="1" kern="100">
                                <a:effectLst/>
                                <a:latin typeface="Cambria Math" panose="02040503050406030204" pitchFamily="18" charset="0"/>
                                <a:ea typeface="Noto Serif CJK SC"/>
                                <a:cs typeface="Lohit Devanagari"/>
                              </a:rPr>
                              <m:t>𝑗𝑖</m:t>
                            </m:r>
                          </m:sub>
                          <m:sup>
                            <m:r>
                              <a:rPr lang="en-US" sz="1800" i="1" kern="100">
                                <a:effectLst/>
                                <a:latin typeface="Cambria Math" panose="02040503050406030204" pitchFamily="18" charset="0"/>
                                <a:ea typeface="Noto Serif CJK SC"/>
                                <a:cs typeface="Lohit Devanagari"/>
                              </a:rPr>
                              <m:t>3</m:t>
                            </m:r>
                          </m:sup>
                        </m:sSubSup>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𝑦</m:t>
                            </m:r>
                          </m:e>
                          <m:sub>
                            <m:r>
                              <a:rPr lang="en-US" sz="1800" i="1" kern="100">
                                <a:effectLst/>
                                <a:latin typeface="Cambria Math" panose="02040503050406030204" pitchFamily="18" charset="0"/>
                                <a:ea typeface="Noto Serif CJK SC"/>
                                <a:cs typeface="Lohit Devanagari"/>
                              </a:rPr>
                              <m:t>𝑖</m:t>
                            </m:r>
                          </m:sub>
                          <m:sup>
                            <m:r>
                              <a:rPr lang="en-US" sz="1800" i="1" kern="100">
                                <a:effectLst/>
                                <a:latin typeface="Cambria Math" panose="02040503050406030204" pitchFamily="18" charset="0"/>
                                <a:ea typeface="Noto Serif CJK SC"/>
                                <a:cs typeface="Lohit Devanagari"/>
                              </a:rPr>
                              <m:t>2</m:t>
                            </m:r>
                          </m:sup>
                        </m:sSubSup>
                        <m:r>
                          <a:rPr lang="en-US" sz="1800" i="1" kern="100">
                            <a:effectLst/>
                            <a:latin typeface="Cambria Math" panose="02040503050406030204" pitchFamily="18" charset="0"/>
                            <a:ea typeface="Noto Serif CJK SC"/>
                            <a:cs typeface="Lohit Devanagari"/>
                          </a:rPr>
                          <m:t> </m:t>
                        </m:r>
                        <m:r>
                          <a:rPr lang="en-US" sz="1800" i="1" kern="100">
                            <a:effectLst/>
                            <a:latin typeface="Cambria Math" panose="02040503050406030204" pitchFamily="18" charset="0"/>
                            <a:ea typeface="Noto Serif CJK SC"/>
                            <a:cs typeface="Lohit Devanagari"/>
                          </a:rPr>
                          <m:t>↔</m:t>
                        </m:r>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𝐼</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3</m:t>
                            </m:r>
                          </m:sup>
                        </m:sSubSup>
                      </m:e>
                    </m:nary>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𝑊</m:t>
                        </m:r>
                      </m:e>
                      <m:sub>
                        <m:r>
                          <a:rPr lang="en-US" sz="1800" i="1" kern="100">
                            <a:effectLst/>
                            <a:latin typeface="Cambria Math" panose="02040503050406030204" pitchFamily="18" charset="0"/>
                            <a:ea typeface="Noto Serif CJK SC"/>
                            <a:cs typeface="Lohit Devanagari"/>
                          </a:rPr>
                          <m:t>1,0</m:t>
                        </m:r>
                      </m:sub>
                      <m:sup>
                        <m:r>
                          <a:rPr lang="en-US" sz="1800" i="1" kern="100">
                            <a:effectLst/>
                            <a:latin typeface="Cambria Math" panose="02040503050406030204" pitchFamily="18" charset="0"/>
                            <a:ea typeface="Noto Serif CJK SC"/>
                            <a:cs typeface="Lohit Devanagari"/>
                          </a:rPr>
                          <m:t>3</m:t>
                        </m:r>
                      </m:sup>
                    </m:sSubSup>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𝑦</m:t>
                        </m:r>
                      </m:e>
                      <m:sub>
                        <m:r>
                          <a:rPr lang="en-US" sz="1800" i="1" kern="100">
                            <a:effectLst/>
                            <a:latin typeface="Cambria Math" panose="02040503050406030204" pitchFamily="18" charset="0"/>
                            <a:ea typeface="Noto Serif CJK SC"/>
                            <a:cs typeface="Lohit Devanagari"/>
                          </a:rPr>
                          <m:t>0</m:t>
                        </m:r>
                      </m:sub>
                      <m:sup>
                        <m:r>
                          <a:rPr lang="en-US" sz="1800" i="1" kern="100">
                            <a:effectLst/>
                            <a:latin typeface="Cambria Math" panose="02040503050406030204" pitchFamily="18" charset="0"/>
                            <a:ea typeface="Noto Serif CJK SC"/>
                            <a:cs typeface="Lohit Devanagari"/>
                          </a:rPr>
                          <m:t>2</m:t>
                        </m:r>
                      </m:sup>
                    </m:sSubSup>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𝑊</m:t>
                        </m:r>
                      </m:e>
                      <m:sub>
                        <m:r>
                          <a:rPr lang="en-US" sz="1800" i="1" kern="100">
                            <a:effectLst/>
                            <a:latin typeface="Cambria Math" panose="02040503050406030204" pitchFamily="18" charset="0"/>
                            <a:ea typeface="Noto Serif CJK SC"/>
                            <a:cs typeface="Lohit Devanagari"/>
                          </a:rPr>
                          <m:t>1,1</m:t>
                        </m:r>
                      </m:sub>
                      <m:sup>
                        <m:r>
                          <a:rPr lang="en-US" sz="1800" i="1" kern="100">
                            <a:effectLst/>
                            <a:latin typeface="Cambria Math" panose="02040503050406030204" pitchFamily="18" charset="0"/>
                            <a:ea typeface="Noto Serif CJK SC"/>
                            <a:cs typeface="Lohit Devanagari"/>
                          </a:rPr>
                          <m:t>3</m:t>
                        </m:r>
                      </m:sup>
                    </m:sSubSup>
                    <m:r>
                      <a:rPr lang="en-US" sz="1800" i="1" kern="100">
                        <a:effectLst/>
                        <a:latin typeface="Cambria Math" panose="02040503050406030204" pitchFamily="18" charset="0"/>
                        <a:ea typeface="Noto Serif CJK SC"/>
                        <a:cs typeface="Lohit Devanagari"/>
                      </a:rPr>
                      <m:t>∗</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𝑦</m:t>
                        </m:r>
                      </m:e>
                      <m:sub>
                        <m:r>
                          <a:rPr lang="en-US" sz="1800" i="1" kern="100">
                            <a:effectLst/>
                            <a:latin typeface="Cambria Math" panose="02040503050406030204" pitchFamily="18" charset="0"/>
                            <a:ea typeface="Noto Serif CJK SC"/>
                            <a:cs typeface="Lohit Devanagari"/>
                          </a:rPr>
                          <m:t>1</m:t>
                        </m:r>
                      </m:sub>
                      <m:sup>
                        <m:r>
                          <a:rPr lang="en-US" sz="1800" i="1" kern="100">
                            <a:effectLst/>
                            <a:latin typeface="Cambria Math" panose="02040503050406030204" pitchFamily="18" charset="0"/>
                            <a:ea typeface="Noto Serif CJK SC"/>
                            <a:cs typeface="Lohit Devanagari"/>
                          </a:rPr>
                          <m:t>2</m:t>
                        </m:r>
                      </m:sup>
                    </m:sSubSup>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𝑊</m:t>
                        </m:r>
                      </m:e>
                      <m:sub>
                        <m:r>
                          <a:rPr lang="en-US" sz="1800" i="1" kern="100">
                            <a:effectLst/>
                            <a:latin typeface="Cambria Math" panose="02040503050406030204" pitchFamily="18" charset="0"/>
                            <a:ea typeface="Noto Serif CJK SC"/>
                            <a:cs typeface="Lohit Devanagari"/>
                          </a:rPr>
                          <m:t>1,</m:t>
                        </m:r>
                        <m:r>
                          <a:rPr lang="en-US" sz="1800" i="1" kern="100">
                            <a:effectLst/>
                            <a:latin typeface="Cambria Math" panose="02040503050406030204" pitchFamily="18" charset="0"/>
                            <a:ea typeface="Noto Serif CJK SC"/>
                            <a:cs typeface="Lohit Devanagari"/>
                          </a:rPr>
                          <m:t>𝑛</m:t>
                        </m:r>
                        <m:r>
                          <a:rPr lang="en-US" sz="1800" i="1" kern="100">
                            <a:effectLst/>
                            <a:latin typeface="Cambria Math" panose="02040503050406030204" pitchFamily="18" charset="0"/>
                            <a:ea typeface="Noto Serif CJK SC"/>
                            <a:cs typeface="Lohit Devanagari"/>
                          </a:rPr>
                          <m:t>1</m:t>
                        </m:r>
                      </m:sub>
                      <m:sup>
                        <m:r>
                          <a:rPr lang="en-US" sz="1800" i="1" kern="100">
                            <a:effectLst/>
                            <a:latin typeface="Cambria Math" panose="02040503050406030204" pitchFamily="18" charset="0"/>
                            <a:ea typeface="Noto Serif CJK SC"/>
                            <a:cs typeface="Lohit Devanagari"/>
                          </a:rPr>
                          <m:t>3</m:t>
                        </m:r>
                      </m:sup>
                    </m:sSubSup>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𝑦</m:t>
                        </m:r>
                      </m:e>
                      <m:sub>
                        <m:r>
                          <a:rPr lang="en-US" sz="1800" i="1" kern="100">
                            <a:effectLst/>
                            <a:latin typeface="Cambria Math" panose="02040503050406030204" pitchFamily="18" charset="0"/>
                            <a:ea typeface="Noto Serif CJK SC"/>
                            <a:cs typeface="Lohit Devanagari"/>
                          </a:rPr>
                          <m:t>𝑛</m:t>
                        </m:r>
                        <m:r>
                          <a:rPr lang="en-US" sz="1800" i="1" kern="100">
                            <a:effectLst/>
                            <a:latin typeface="Cambria Math" panose="02040503050406030204" pitchFamily="18" charset="0"/>
                            <a:ea typeface="Noto Serif CJK SC"/>
                            <a:cs typeface="Lohit Devanagari"/>
                          </a:rPr>
                          <m:t>2</m:t>
                        </m:r>
                      </m:sub>
                      <m:sup>
                        <m:r>
                          <a:rPr lang="en-US" sz="1800" i="1" kern="100">
                            <a:effectLst/>
                            <a:latin typeface="Cambria Math" panose="02040503050406030204" pitchFamily="18" charset="0"/>
                            <a:ea typeface="Noto Serif CJK SC"/>
                            <a:cs typeface="Lohit Devanagari"/>
                          </a:rPr>
                          <m:t>2</m:t>
                        </m:r>
                      </m:sup>
                    </m:sSubSup>
                  </m:oMath>
                </a14:m>
                <a:r>
                  <a:rPr lang="en-US" sz="1800" i="1" kern="100" dirty="0">
                    <a:effectLst/>
                    <a:latin typeface="Liberation Serif"/>
                    <a:ea typeface="Noto Serif CJK SC"/>
                    <a:cs typeface="Lohit Devanagari"/>
                  </a:rPr>
                  <a:t>                               </a:t>
                </a:r>
                <a:r>
                  <a:rPr lang="en-US" sz="1800" i="0" kern="100" dirty="0">
                    <a:effectLst/>
                    <a:latin typeface="Liberation Serif"/>
                    <a:ea typeface="Noto Serif CJK SC"/>
                    <a:cs typeface="Lohit Devanagari"/>
                  </a:rPr>
                  <a:t>(</a:t>
                </a:r>
                <a:r>
                  <a:rPr lang="en-US" sz="1800" kern="100" dirty="0">
                    <a:latin typeface="Liberation Serif"/>
                    <a:ea typeface="Noto Serif CJK SC"/>
                    <a:cs typeface="Lohit Devanagari"/>
                  </a:rPr>
                  <a:t>4</a:t>
                </a:r>
                <a:r>
                  <a:rPr lang="en-US" sz="1800" i="0" kern="100" dirty="0">
                    <a:effectLst/>
                    <a:latin typeface="Liberation Serif"/>
                    <a:ea typeface="Noto Serif CJK SC"/>
                    <a:cs typeface="Lohit Devanagari"/>
                  </a:rPr>
                  <a:t>)</a:t>
                </a:r>
              </a:p>
              <a:p>
                <a:pPr>
                  <a:spcBef>
                    <a:spcPts val="600"/>
                  </a:spcBef>
                  <a:spcAft>
                    <a:spcPts val="600"/>
                  </a:spcAft>
                </a:pPr>
                <a:r>
                  <a:rPr lang="en-US" sz="1800" kern="100" dirty="0">
                    <a:effectLst/>
                    <a:latin typeface="Liberation Serif"/>
                    <a:ea typeface="Noto Serif CJK SC"/>
                    <a:cs typeface="Lohit Devanagari"/>
                  </a:rPr>
                  <a:t>Let </a:t>
                </a:r>
                <a14:m>
                  <m:oMath xmlns:m="http://schemas.openxmlformats.org/officeDocument/2006/math">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𝑌</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𝐿</m:t>
                        </m:r>
                      </m:sup>
                    </m:sSubSup>
                  </m:oMath>
                </a14:m>
                <a:r>
                  <a:rPr lang="en-US" sz="1800" kern="100" dirty="0">
                    <a:effectLst/>
                    <a:latin typeface="Liberation Serif"/>
                    <a:ea typeface="Noto Serif CJK SC"/>
                    <a:cs typeface="Lohit Devanagari"/>
                  </a:rPr>
                  <a:t> be vectors whose elements denote the output of the jth neuron related to the layer L and are defined as:</a:t>
                </a:r>
                <a:endParaRPr lang="en-KE" sz="1800" kern="100" dirty="0">
                  <a:effectLst/>
                  <a:latin typeface="Liberation Serif"/>
                  <a:ea typeface="Noto Serif CJK SC"/>
                  <a:cs typeface="Lohit Devanagari"/>
                </a:endParaRPr>
              </a:p>
              <a:p>
                <a:pPr>
                  <a:spcBef>
                    <a:spcPts val="600"/>
                  </a:spcBef>
                  <a:spcAft>
                    <a:spcPts val="600"/>
                  </a:spcAft>
                </a:pPr>
                <a14:m>
                  <m:oMath xmlns:m="http://schemas.openxmlformats.org/officeDocument/2006/math">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𝑌</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1</m:t>
                        </m:r>
                      </m:sup>
                    </m:sSubSup>
                    <m:r>
                      <a:rPr lang="en-US" sz="1800" i="1" kern="100">
                        <a:effectLst/>
                        <a:latin typeface="Cambria Math" panose="02040503050406030204" pitchFamily="18" charset="0"/>
                        <a:ea typeface="Noto Serif CJK SC"/>
                        <a:cs typeface="Lohit Devanagari"/>
                      </a:rPr>
                      <m:t>=</m:t>
                    </m:r>
                    <m:r>
                      <a:rPr lang="en-US" sz="1800" i="1" kern="100">
                        <a:effectLst/>
                        <a:latin typeface="Cambria Math" panose="02040503050406030204" pitchFamily="18" charset="0"/>
                        <a:ea typeface="Noto Serif CJK SC"/>
                        <a:cs typeface="Lohit Devanagari"/>
                      </a:rPr>
                      <m:t>𝑔</m:t>
                    </m:r>
                    <m:d>
                      <m:dPr>
                        <m:ctrlPr>
                          <a:rPr lang="en-KE" sz="1800" i="1" kern="100">
                            <a:effectLst/>
                            <a:latin typeface="Cambria Math" panose="02040503050406030204" pitchFamily="18" charset="0"/>
                            <a:ea typeface="Noto Serif CJK SC"/>
                            <a:cs typeface="Lohit Devanagari"/>
                          </a:rPr>
                        </m:ctrlPr>
                      </m:dPr>
                      <m:e>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𝐼</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1</m:t>
                            </m:r>
                          </m:sup>
                        </m:sSubSup>
                      </m:e>
                    </m:d>
                  </m:oMath>
                </a14:m>
                <a:r>
                  <a:rPr lang="en-US" sz="1800" i="1" kern="100" dirty="0">
                    <a:effectLst/>
                    <a:latin typeface="Liberation Serif"/>
                    <a:ea typeface="Noto Serif CJK SC"/>
                    <a:cs typeface="Lohit Devanagari"/>
                  </a:rPr>
                  <a:t>											                                               </a:t>
                </a:r>
                <a:r>
                  <a:rPr lang="en-US" sz="1800" i="0" kern="100" dirty="0">
                    <a:effectLst/>
                    <a:latin typeface="Liberation Serif"/>
                    <a:ea typeface="Noto Serif CJK SC"/>
                    <a:cs typeface="Lohit Devanagari"/>
                  </a:rPr>
                  <a:t>(5)</a:t>
                </a:r>
                <a:endParaRPr lang="en-KE" sz="1800" i="1" kern="100" dirty="0">
                  <a:effectLst/>
                  <a:latin typeface="Liberation Serif"/>
                  <a:ea typeface="Noto Serif CJK SC"/>
                  <a:cs typeface="Lohit Devanagari"/>
                </a:endParaRPr>
              </a:p>
              <a:p>
                <a:pPr>
                  <a:spcBef>
                    <a:spcPts val="600"/>
                  </a:spcBef>
                  <a:spcAft>
                    <a:spcPts val="600"/>
                  </a:spcAft>
                </a:pPr>
                <a14:m>
                  <m:oMath xmlns:m="http://schemas.openxmlformats.org/officeDocument/2006/math">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𝑌</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2</m:t>
                        </m:r>
                      </m:sup>
                    </m:sSubSup>
                    <m:r>
                      <a:rPr lang="en-US" sz="1800" i="1" kern="100">
                        <a:effectLst/>
                        <a:latin typeface="Cambria Math" panose="02040503050406030204" pitchFamily="18" charset="0"/>
                        <a:ea typeface="Noto Serif CJK SC"/>
                        <a:cs typeface="Lohit Devanagari"/>
                      </a:rPr>
                      <m:t>=</m:t>
                    </m:r>
                    <m:r>
                      <a:rPr lang="en-US" sz="1800" i="1" kern="100">
                        <a:effectLst/>
                        <a:latin typeface="Cambria Math" panose="02040503050406030204" pitchFamily="18" charset="0"/>
                        <a:ea typeface="Noto Serif CJK SC"/>
                        <a:cs typeface="Lohit Devanagari"/>
                      </a:rPr>
                      <m:t>𝑔</m:t>
                    </m:r>
                    <m:d>
                      <m:dPr>
                        <m:ctrlPr>
                          <a:rPr lang="en-KE" sz="1800" i="1" kern="100">
                            <a:effectLst/>
                            <a:latin typeface="Cambria Math" panose="02040503050406030204" pitchFamily="18" charset="0"/>
                            <a:ea typeface="Noto Serif CJK SC"/>
                            <a:cs typeface="Lohit Devanagari"/>
                          </a:rPr>
                        </m:ctrlPr>
                      </m:dPr>
                      <m:e>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𝐼</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2</m:t>
                            </m:r>
                          </m:sup>
                        </m:sSubSup>
                      </m:e>
                    </m:d>
                  </m:oMath>
                </a14:m>
                <a:r>
                  <a:rPr lang="en-US" sz="1800" i="1" kern="100" dirty="0">
                    <a:effectLst/>
                    <a:latin typeface="Liberation Serif"/>
                    <a:ea typeface="Noto Serif CJK SC"/>
                    <a:cs typeface="Lohit Devanagari"/>
                  </a:rPr>
                  <a:t>											</a:t>
                </a:r>
                <a:r>
                  <a:rPr lang="en-US" sz="1800" i="0" kern="100" dirty="0">
                    <a:effectLst/>
                    <a:latin typeface="Liberation Serif"/>
                    <a:ea typeface="Noto Serif CJK SC"/>
                    <a:cs typeface="Lohit Devanagari"/>
                  </a:rPr>
                  <a:t>                                               (6)</a:t>
                </a:r>
                <a:endParaRPr lang="en-KE" sz="1800" i="1" kern="100" dirty="0">
                  <a:effectLst/>
                  <a:latin typeface="Liberation Serif"/>
                  <a:ea typeface="Noto Serif CJK SC"/>
                  <a:cs typeface="Lohit Devanagari"/>
                </a:endParaRPr>
              </a:p>
              <a:p>
                <a:pPr>
                  <a:spcBef>
                    <a:spcPts val="600"/>
                  </a:spcBef>
                  <a:spcAft>
                    <a:spcPts val="600"/>
                  </a:spcAft>
                </a:pPr>
                <a14:m>
                  <m:oMath xmlns:m="http://schemas.openxmlformats.org/officeDocument/2006/math">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𝑌</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3</m:t>
                        </m:r>
                      </m:sup>
                    </m:sSubSup>
                    <m:r>
                      <a:rPr lang="en-US" sz="1800" i="1" kern="100">
                        <a:effectLst/>
                        <a:latin typeface="Cambria Math" panose="02040503050406030204" pitchFamily="18" charset="0"/>
                        <a:ea typeface="Noto Serif CJK SC"/>
                        <a:cs typeface="Lohit Devanagari"/>
                      </a:rPr>
                      <m:t>=</m:t>
                    </m:r>
                    <m:r>
                      <a:rPr lang="en-US" sz="1800" i="1" kern="100">
                        <a:effectLst/>
                        <a:latin typeface="Cambria Math" panose="02040503050406030204" pitchFamily="18" charset="0"/>
                        <a:ea typeface="Noto Serif CJK SC"/>
                        <a:cs typeface="Lohit Devanagari"/>
                      </a:rPr>
                      <m:t>𝑔</m:t>
                    </m:r>
                    <m:r>
                      <a:rPr lang="en-US" sz="1800" i="1" kern="100">
                        <a:effectLst/>
                        <a:latin typeface="Cambria Math" panose="02040503050406030204" pitchFamily="18" charset="0"/>
                        <a:ea typeface="Noto Serif CJK SC"/>
                        <a:cs typeface="Lohit Devanagari"/>
                      </a:rPr>
                      <m:t>(</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𝐼</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3</m:t>
                        </m:r>
                      </m:sup>
                    </m:sSubSup>
                    <m:r>
                      <a:rPr lang="en-US" sz="1800" i="1" kern="100">
                        <a:effectLst/>
                        <a:latin typeface="Cambria Math" panose="02040503050406030204" pitchFamily="18" charset="0"/>
                        <a:ea typeface="Noto Serif CJK SC"/>
                        <a:cs typeface="Lohit Devanagari"/>
                      </a:rPr>
                      <m:t>)</m:t>
                    </m:r>
                  </m:oMath>
                </a14:m>
                <a:r>
                  <a:rPr lang="en-US" sz="1800" i="1" kern="100" dirty="0">
                    <a:effectLst/>
                    <a:latin typeface="Liberation Serif"/>
                    <a:ea typeface="Noto Serif CJK SC"/>
                    <a:cs typeface="Lohit Devanagari"/>
                  </a:rPr>
                  <a:t>											</a:t>
                </a:r>
                <a:r>
                  <a:rPr lang="en-US" sz="1800" i="0" kern="100" dirty="0">
                    <a:effectLst/>
                    <a:latin typeface="Liberation Serif"/>
                    <a:ea typeface="Noto Serif CJK SC"/>
                    <a:cs typeface="Lohit Devanagari"/>
                  </a:rPr>
                  <a:t>                                                (7)</a:t>
                </a:r>
                <a:endParaRPr lang="en-KE" sz="1800" i="1" kern="100" dirty="0">
                  <a:effectLst/>
                  <a:latin typeface="Liberation Serif"/>
                  <a:ea typeface="Noto Serif CJK SC"/>
                  <a:cs typeface="Lohit Devanagari"/>
                </a:endParaRPr>
              </a:p>
              <a:p>
                <a:pPr marL="0" indent="0">
                  <a:spcBef>
                    <a:spcPts val="600"/>
                  </a:spcBef>
                  <a:spcAft>
                    <a:spcPts val="600"/>
                  </a:spcAft>
                  <a:buNone/>
                </a:pPr>
                <a:r>
                  <a:rPr lang="en-US" sz="1800" b="1" kern="100" dirty="0">
                    <a:solidFill>
                      <a:schemeClr val="accent3">
                        <a:lumMod val="75000"/>
                      </a:schemeClr>
                    </a:solidFill>
                    <a:effectLst/>
                    <a:latin typeface="Liberation Serif"/>
                    <a:ea typeface="Noto Serif CJK SC"/>
                    <a:cs typeface="Lohit Devanagari"/>
                  </a:rPr>
                  <a:t>Adjusting the Synaptic Weights of the Output Layer</a:t>
                </a:r>
              </a:p>
              <a:p>
                <a:pPr marL="0" indent="0">
                  <a:spcBef>
                    <a:spcPts val="600"/>
                  </a:spcBef>
                  <a:spcAft>
                    <a:spcPts val="600"/>
                  </a:spcAft>
                  <a:buNone/>
                </a:pPr>
                <a14:m>
                  <m:oMath xmlns:m="http://schemas.openxmlformats.org/officeDocument/2006/math">
                    <m:r>
                      <a:rPr lang="en-US" sz="1800" i="1" kern="100" smtClean="0">
                        <a:effectLst/>
                        <a:latin typeface="Cambria Math" panose="02040503050406030204" pitchFamily="18" charset="0"/>
                        <a:ea typeface="Noto Serif CJK SC"/>
                        <a:cs typeface="Lohit Devanagari"/>
                      </a:rPr>
                      <m:t>𝛻</m:t>
                    </m:r>
                    <m:sSup>
                      <m:sSupPr>
                        <m:ctrlPr>
                          <a:rPr lang="en-KE" sz="1600" i="1">
                            <a:effectLst/>
                            <a:latin typeface="Cambria Math" panose="02040503050406030204" pitchFamily="18" charset="0"/>
                          </a:rPr>
                        </m:ctrlPr>
                      </m:sSupPr>
                      <m:e>
                        <m:r>
                          <a:rPr lang="en-US" sz="1800" i="1" kern="100">
                            <a:effectLst/>
                            <a:latin typeface="Cambria Math" panose="02040503050406030204" pitchFamily="18" charset="0"/>
                            <a:ea typeface="Noto Serif CJK SC"/>
                            <a:cs typeface="Lohit Devanagari"/>
                          </a:rPr>
                          <m:t>𝐸</m:t>
                        </m:r>
                      </m:e>
                      <m:sup>
                        <m:r>
                          <a:rPr lang="en-US" sz="1800" i="1" kern="100">
                            <a:effectLst/>
                            <a:latin typeface="Cambria Math" panose="02040503050406030204" pitchFamily="18" charset="0"/>
                            <a:ea typeface="Noto Serif CJK SC"/>
                            <a:cs typeface="Lohit Devanagari"/>
                          </a:rPr>
                          <m:t>3</m:t>
                        </m:r>
                      </m:sup>
                    </m:sSup>
                    <m:r>
                      <a:rPr lang="en-US" sz="1800" i="1" kern="100">
                        <a:effectLst/>
                        <a:latin typeface="Cambria Math" panose="02040503050406030204" pitchFamily="18" charset="0"/>
                        <a:ea typeface="Noto Serif CJK SC"/>
                        <a:cs typeface="Lohit Devanagari"/>
                      </a:rPr>
                      <m:t>= </m:t>
                    </m:r>
                    <m:f>
                      <m:fPr>
                        <m:ctrlPr>
                          <a:rPr lang="en-KE" sz="1600" i="1">
                            <a:effectLst/>
                            <a:latin typeface="Cambria Math" panose="02040503050406030204" pitchFamily="18" charset="0"/>
                          </a:rPr>
                        </m:ctrlPr>
                      </m:fPr>
                      <m:num>
                        <m:r>
                          <a:rPr lang="en-US" sz="1800" i="1" kern="100">
                            <a:effectLst/>
                            <a:latin typeface="Cambria Math" panose="02040503050406030204" pitchFamily="18" charset="0"/>
                            <a:ea typeface="Noto Serif CJK SC"/>
                            <a:cs typeface="Lohit Devanagari"/>
                          </a:rPr>
                          <m:t>𝜕</m:t>
                        </m:r>
                        <m:r>
                          <a:rPr lang="en-US" sz="1800" i="1" kern="100">
                            <a:effectLst/>
                            <a:latin typeface="Cambria Math" panose="02040503050406030204" pitchFamily="18" charset="0"/>
                            <a:ea typeface="Noto Serif CJK SC"/>
                            <a:cs typeface="Lohit Devanagari"/>
                          </a:rPr>
                          <m:t>𝐸</m:t>
                        </m:r>
                      </m:num>
                      <m:den>
                        <m:sSubSup>
                          <m:sSubSupPr>
                            <m:ctrlPr>
                              <a:rPr lang="en-KE" sz="1600" i="1">
                                <a:effectLst/>
                                <a:latin typeface="Cambria Math" panose="02040503050406030204" pitchFamily="18" charset="0"/>
                              </a:rPr>
                            </m:ctrlPr>
                          </m:sSubSupPr>
                          <m:e>
                            <m:r>
                              <a:rPr lang="en-US" sz="1800" i="1" kern="100">
                                <a:effectLst/>
                                <a:latin typeface="Cambria Math" panose="02040503050406030204" pitchFamily="18" charset="0"/>
                                <a:ea typeface="Noto Serif CJK SC"/>
                                <a:cs typeface="Lohit Devanagari"/>
                              </a:rPr>
                              <m:t>𝜕</m:t>
                            </m:r>
                            <m:r>
                              <a:rPr lang="en-US" sz="1800" i="1" kern="100">
                                <a:effectLst/>
                                <a:latin typeface="Cambria Math" panose="02040503050406030204" pitchFamily="18" charset="0"/>
                                <a:ea typeface="Noto Serif CJK SC"/>
                                <a:cs typeface="Lohit Devanagari"/>
                              </a:rPr>
                              <m:t>𝑊</m:t>
                            </m:r>
                          </m:e>
                          <m:sub>
                            <m:r>
                              <a:rPr lang="en-US" sz="1800" i="1" kern="100">
                                <a:effectLst/>
                                <a:latin typeface="Cambria Math" panose="02040503050406030204" pitchFamily="18" charset="0"/>
                                <a:ea typeface="Noto Serif CJK SC"/>
                                <a:cs typeface="Lohit Devanagari"/>
                              </a:rPr>
                              <m:t>𝑗𝑖</m:t>
                            </m:r>
                          </m:sub>
                          <m:sup>
                            <m:r>
                              <a:rPr lang="en-US" sz="1800" i="1" kern="100">
                                <a:effectLst/>
                                <a:latin typeface="Cambria Math" panose="02040503050406030204" pitchFamily="18" charset="0"/>
                                <a:ea typeface="Noto Serif CJK SC"/>
                                <a:cs typeface="Lohit Devanagari"/>
                              </a:rPr>
                              <m:t>(3)</m:t>
                            </m:r>
                          </m:sup>
                        </m:sSubSup>
                      </m:den>
                    </m:f>
                    <m:r>
                      <a:rPr lang="en-US" sz="1800" i="1" kern="100">
                        <a:effectLst/>
                        <a:latin typeface="Cambria Math" panose="02040503050406030204" pitchFamily="18" charset="0"/>
                        <a:ea typeface="Noto Serif CJK SC"/>
                        <a:cs typeface="Lohit Devanagari"/>
                      </a:rPr>
                      <m:t>= </m:t>
                    </m:r>
                    <m:f>
                      <m:fPr>
                        <m:ctrlPr>
                          <a:rPr lang="en-KE" sz="1600" i="1">
                            <a:effectLst/>
                            <a:latin typeface="Cambria Math" panose="02040503050406030204" pitchFamily="18" charset="0"/>
                          </a:rPr>
                        </m:ctrlPr>
                      </m:fPr>
                      <m:num>
                        <m:r>
                          <a:rPr lang="en-US" sz="1800" i="1" kern="100">
                            <a:effectLst/>
                            <a:latin typeface="Cambria Math" panose="02040503050406030204" pitchFamily="18" charset="0"/>
                            <a:ea typeface="Noto Serif CJK SC"/>
                            <a:cs typeface="Lohit Devanagari"/>
                          </a:rPr>
                          <m:t>𝜕</m:t>
                        </m:r>
                        <m:r>
                          <a:rPr lang="en-US" sz="1800" i="1" kern="100">
                            <a:effectLst/>
                            <a:latin typeface="Cambria Math" panose="02040503050406030204" pitchFamily="18" charset="0"/>
                            <a:ea typeface="Noto Serif CJK SC"/>
                            <a:cs typeface="Lohit Devanagari"/>
                          </a:rPr>
                          <m:t>𝐸</m:t>
                        </m:r>
                      </m:num>
                      <m:den>
                        <m:sSubSup>
                          <m:sSubSupPr>
                            <m:ctrlPr>
                              <a:rPr lang="en-KE" sz="1600" i="1">
                                <a:effectLst/>
                                <a:latin typeface="Cambria Math" panose="02040503050406030204" pitchFamily="18" charset="0"/>
                              </a:rPr>
                            </m:ctrlPr>
                          </m:sSubSupPr>
                          <m:e>
                            <m:r>
                              <a:rPr lang="en-US" sz="1800" i="1" kern="100">
                                <a:effectLst/>
                                <a:latin typeface="Cambria Math" panose="02040503050406030204" pitchFamily="18" charset="0"/>
                                <a:ea typeface="Noto Serif CJK SC"/>
                                <a:cs typeface="Lohit Devanagari"/>
                              </a:rPr>
                              <m:t>𝜕</m:t>
                            </m:r>
                            <m:r>
                              <a:rPr lang="en-US" sz="1800" i="1" kern="100">
                                <a:effectLst/>
                                <a:latin typeface="Cambria Math" panose="02040503050406030204" pitchFamily="18" charset="0"/>
                                <a:ea typeface="Noto Serif CJK SC"/>
                                <a:cs typeface="Lohit Devanagari"/>
                              </a:rPr>
                              <m:t>𝑌</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(3)</m:t>
                            </m:r>
                          </m:sup>
                        </m:sSubSup>
                      </m:den>
                    </m:f>
                    <m:r>
                      <a:rPr lang="en-US" sz="1800" i="1" kern="100">
                        <a:effectLst/>
                        <a:latin typeface="Cambria Math" panose="02040503050406030204" pitchFamily="18" charset="0"/>
                        <a:ea typeface="Noto Serif CJK SC"/>
                        <a:cs typeface="Lohit Devanagari"/>
                      </a:rPr>
                      <m:t> ∗ </m:t>
                    </m:r>
                    <m:f>
                      <m:fPr>
                        <m:ctrlPr>
                          <a:rPr lang="en-KE" sz="1600" i="1">
                            <a:effectLst/>
                            <a:latin typeface="Cambria Math" panose="02040503050406030204" pitchFamily="18" charset="0"/>
                          </a:rPr>
                        </m:ctrlPr>
                      </m:fPr>
                      <m:num>
                        <m:r>
                          <a:rPr lang="en-US" sz="1800" i="1" kern="100">
                            <a:effectLst/>
                            <a:latin typeface="Cambria Math" panose="02040503050406030204" pitchFamily="18" charset="0"/>
                            <a:ea typeface="Noto Serif CJK SC"/>
                            <a:cs typeface="Lohit Devanagari"/>
                          </a:rPr>
                          <m:t>𝜕</m:t>
                        </m:r>
                        <m:sSubSup>
                          <m:sSubSupPr>
                            <m:ctrlPr>
                              <a:rPr lang="en-KE" sz="1600" i="1">
                                <a:effectLst/>
                                <a:latin typeface="Cambria Math" panose="02040503050406030204" pitchFamily="18" charset="0"/>
                              </a:rPr>
                            </m:ctrlPr>
                          </m:sSubSupPr>
                          <m:e>
                            <m:r>
                              <a:rPr lang="en-US" sz="1800" i="1" kern="100">
                                <a:effectLst/>
                                <a:latin typeface="Cambria Math" panose="02040503050406030204" pitchFamily="18" charset="0"/>
                                <a:ea typeface="Noto Serif CJK SC"/>
                                <a:cs typeface="Lohit Devanagari"/>
                              </a:rPr>
                              <m:t>𝑌</m:t>
                            </m:r>
                          </m:e>
                          <m:sub>
                            <m:r>
                              <a:rPr lang="en-US" sz="1800" i="1" kern="100">
                                <a:effectLst/>
                                <a:latin typeface="Cambria Math" panose="02040503050406030204" pitchFamily="18" charset="0"/>
                                <a:ea typeface="Noto Serif CJK SC"/>
                                <a:cs typeface="Lohit Devanagari"/>
                              </a:rPr>
                              <m:t>𝑗</m:t>
                            </m:r>
                          </m:sub>
                          <m:sup>
                            <m:d>
                              <m:dPr>
                                <m:ctrlPr>
                                  <a:rPr lang="en-KE" sz="1600" i="1">
                                    <a:effectLst/>
                                    <a:latin typeface="Cambria Math" panose="02040503050406030204" pitchFamily="18" charset="0"/>
                                  </a:rPr>
                                </m:ctrlPr>
                              </m:dPr>
                              <m:e>
                                <m:r>
                                  <a:rPr lang="en-US" sz="1800" i="1" kern="100">
                                    <a:effectLst/>
                                    <a:latin typeface="Cambria Math" panose="02040503050406030204" pitchFamily="18" charset="0"/>
                                    <a:ea typeface="Noto Serif CJK SC"/>
                                    <a:cs typeface="Lohit Devanagari"/>
                                  </a:rPr>
                                  <m:t>3</m:t>
                                </m:r>
                              </m:e>
                            </m:d>
                          </m:sup>
                        </m:sSubSup>
                      </m:num>
                      <m:den>
                        <m:r>
                          <a:rPr lang="en-US" sz="1800" i="1" kern="100">
                            <a:effectLst/>
                            <a:latin typeface="Cambria Math" panose="02040503050406030204" pitchFamily="18" charset="0"/>
                            <a:ea typeface="Noto Serif CJK SC"/>
                            <a:cs typeface="Lohit Devanagari"/>
                          </a:rPr>
                          <m:t>𝜕</m:t>
                        </m:r>
                        <m:sSubSup>
                          <m:sSubSupPr>
                            <m:ctrlPr>
                              <a:rPr lang="en-KE" sz="1600" i="1">
                                <a:effectLst/>
                                <a:latin typeface="Cambria Math" panose="02040503050406030204" pitchFamily="18" charset="0"/>
                              </a:rPr>
                            </m:ctrlPr>
                          </m:sSubSupPr>
                          <m:e>
                            <m:r>
                              <a:rPr lang="en-US" sz="1800" i="1" kern="100">
                                <a:effectLst/>
                                <a:latin typeface="Cambria Math" panose="02040503050406030204" pitchFamily="18" charset="0"/>
                                <a:ea typeface="Noto Serif CJK SC"/>
                                <a:cs typeface="Lohit Devanagari"/>
                              </a:rPr>
                              <m:t>𝐼</m:t>
                            </m:r>
                          </m:e>
                          <m:sub>
                            <m:r>
                              <a:rPr lang="en-US" sz="1800" i="1" kern="100">
                                <a:effectLst/>
                                <a:latin typeface="Cambria Math" panose="02040503050406030204" pitchFamily="18" charset="0"/>
                                <a:ea typeface="Noto Serif CJK SC"/>
                                <a:cs typeface="Lohit Devanagari"/>
                              </a:rPr>
                              <m:t>𝑗</m:t>
                            </m:r>
                          </m:sub>
                          <m:sup>
                            <m:d>
                              <m:dPr>
                                <m:ctrlPr>
                                  <a:rPr lang="en-KE" sz="1600" i="1">
                                    <a:effectLst/>
                                    <a:latin typeface="Cambria Math" panose="02040503050406030204" pitchFamily="18" charset="0"/>
                                  </a:rPr>
                                </m:ctrlPr>
                              </m:dPr>
                              <m:e>
                                <m:r>
                                  <a:rPr lang="en-US" sz="1800" i="1" kern="100">
                                    <a:effectLst/>
                                    <a:latin typeface="Cambria Math" panose="02040503050406030204" pitchFamily="18" charset="0"/>
                                    <a:ea typeface="Noto Serif CJK SC"/>
                                    <a:cs typeface="Lohit Devanagari"/>
                                  </a:rPr>
                                  <m:t>3</m:t>
                                </m:r>
                              </m:e>
                            </m:d>
                          </m:sup>
                        </m:sSubSup>
                      </m:den>
                    </m:f>
                    <m:r>
                      <a:rPr lang="en-US" sz="1800" i="1" kern="100">
                        <a:effectLst/>
                        <a:latin typeface="Cambria Math" panose="02040503050406030204" pitchFamily="18" charset="0"/>
                        <a:ea typeface="Noto Serif CJK SC"/>
                        <a:cs typeface="Lohit Devanagari"/>
                      </a:rPr>
                      <m:t> ∗ </m:t>
                    </m:r>
                    <m:f>
                      <m:fPr>
                        <m:ctrlPr>
                          <a:rPr lang="en-KE" sz="1600" i="1">
                            <a:effectLst/>
                            <a:latin typeface="Cambria Math" panose="02040503050406030204" pitchFamily="18" charset="0"/>
                          </a:rPr>
                        </m:ctrlPr>
                      </m:fPr>
                      <m:num>
                        <m:r>
                          <a:rPr lang="en-US" sz="1800" i="1" kern="100">
                            <a:effectLst/>
                            <a:latin typeface="Cambria Math" panose="02040503050406030204" pitchFamily="18" charset="0"/>
                            <a:ea typeface="Noto Serif CJK SC"/>
                            <a:cs typeface="Lohit Devanagari"/>
                          </a:rPr>
                          <m:t>𝜕</m:t>
                        </m:r>
                        <m:sSubSup>
                          <m:sSubSupPr>
                            <m:ctrlPr>
                              <a:rPr lang="en-KE" sz="1600" i="1">
                                <a:effectLst/>
                                <a:latin typeface="Cambria Math" panose="02040503050406030204" pitchFamily="18" charset="0"/>
                              </a:rPr>
                            </m:ctrlPr>
                          </m:sSubSupPr>
                          <m:e>
                            <m:r>
                              <a:rPr lang="en-US" sz="1800" i="1" kern="100">
                                <a:effectLst/>
                                <a:latin typeface="Cambria Math" panose="02040503050406030204" pitchFamily="18" charset="0"/>
                                <a:ea typeface="Noto Serif CJK SC"/>
                                <a:cs typeface="Lohit Devanagari"/>
                              </a:rPr>
                              <m:t>𝐼</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(3)</m:t>
                            </m:r>
                          </m:sup>
                        </m:sSubSup>
                      </m:num>
                      <m:den>
                        <m:r>
                          <a:rPr lang="en-US" sz="1800" i="1" kern="100">
                            <a:effectLst/>
                            <a:latin typeface="Cambria Math" panose="02040503050406030204" pitchFamily="18" charset="0"/>
                            <a:ea typeface="Noto Serif CJK SC"/>
                            <a:cs typeface="Lohit Devanagari"/>
                          </a:rPr>
                          <m:t>𝜕</m:t>
                        </m:r>
                        <m:sSubSup>
                          <m:sSubSupPr>
                            <m:ctrlPr>
                              <a:rPr lang="en-KE" sz="1600" i="1">
                                <a:effectLst/>
                                <a:latin typeface="Cambria Math" panose="02040503050406030204" pitchFamily="18" charset="0"/>
                              </a:rPr>
                            </m:ctrlPr>
                          </m:sSubSupPr>
                          <m:e>
                            <m:r>
                              <a:rPr lang="en-US" sz="1800" i="1" kern="100">
                                <a:effectLst/>
                                <a:latin typeface="Cambria Math" panose="02040503050406030204" pitchFamily="18" charset="0"/>
                                <a:ea typeface="Noto Serif CJK SC"/>
                                <a:cs typeface="Lohit Devanagari"/>
                              </a:rPr>
                              <m:t>𝑊</m:t>
                            </m:r>
                          </m:e>
                          <m:sub>
                            <m:r>
                              <a:rPr lang="en-US" sz="1800" i="1" kern="100">
                                <a:effectLst/>
                                <a:latin typeface="Cambria Math" panose="02040503050406030204" pitchFamily="18" charset="0"/>
                                <a:ea typeface="Noto Serif CJK SC"/>
                                <a:cs typeface="Lohit Devanagari"/>
                              </a:rPr>
                              <m:t>𝑗𝑖</m:t>
                            </m:r>
                          </m:sub>
                          <m:sup>
                            <m:r>
                              <a:rPr lang="en-US" sz="1800" i="1" kern="100">
                                <a:effectLst/>
                                <a:latin typeface="Cambria Math" panose="02040503050406030204" pitchFamily="18" charset="0"/>
                                <a:ea typeface="Noto Serif CJK SC"/>
                                <a:cs typeface="Lohit Devanagari"/>
                              </a:rPr>
                              <m:t>(3)</m:t>
                            </m:r>
                          </m:sup>
                        </m:sSubSup>
                      </m:den>
                    </m:f>
                  </m:oMath>
                </a14:m>
                <a:r>
                  <a:rPr lang="en-US" sz="1800" kern="100" dirty="0">
                    <a:solidFill>
                      <a:schemeClr val="accent3">
                        <a:lumMod val="75000"/>
                      </a:schemeClr>
                    </a:solidFill>
                    <a:effectLst/>
                    <a:latin typeface="Liberation Serif"/>
                    <a:ea typeface="Noto Serif CJK SC"/>
                    <a:cs typeface="Lohit Devanagari"/>
                  </a:rPr>
                  <a:t>                                                                                                   </a:t>
                </a:r>
                <a:r>
                  <a:rPr lang="en-US" sz="1800" kern="100" dirty="0">
                    <a:effectLst/>
                    <a:latin typeface="Liberation Serif"/>
                    <a:ea typeface="Noto Serif CJK SC"/>
                    <a:cs typeface="Lohit Devanagari"/>
                  </a:rPr>
                  <a:t> (8)</a:t>
                </a:r>
                <a:endParaRPr lang="en-KE" sz="1800" kern="100" dirty="0">
                  <a:effectLst/>
                  <a:latin typeface="Liberation Serif"/>
                  <a:ea typeface="Noto Serif CJK SC"/>
                  <a:cs typeface="Lohit Devanagari"/>
                </a:endParaRPr>
              </a:p>
              <a:p>
                <a:pPr marL="0" indent="0">
                  <a:spcBef>
                    <a:spcPts val="600"/>
                  </a:spcBef>
                  <a:spcAft>
                    <a:spcPts val="600"/>
                  </a:spcAft>
                  <a:buNone/>
                </a:pPr>
                <a:endParaRPr lang="en-KE" sz="1800" i="1" kern="100" dirty="0">
                  <a:effectLst/>
                  <a:latin typeface="Liberation Serif"/>
                  <a:ea typeface="Noto Serif CJK SC"/>
                  <a:cs typeface="Lohit Devanagari"/>
                </a:endParaRPr>
              </a:p>
              <a:p>
                <a:endParaRPr lang="en-KE" dirty="0"/>
              </a:p>
            </p:txBody>
          </p:sp>
        </mc:Choice>
        <mc:Fallback>
          <p:sp>
            <p:nvSpPr>
              <p:cNvPr id="3" name="Content Placeholder 2">
                <a:extLst>
                  <a:ext uri="{FF2B5EF4-FFF2-40B4-BE49-F238E27FC236}">
                    <a16:creationId xmlns:a16="http://schemas.microsoft.com/office/drawing/2014/main" id="{E1BFAF67-B57F-397E-34A1-AE11A04BAA3B}"/>
                  </a:ext>
                </a:extLst>
              </p:cNvPr>
              <p:cNvSpPr>
                <a:spLocks noGrp="1" noRot="1" noChangeAspect="1" noMove="1" noResize="1" noEditPoints="1" noAdjustHandles="1" noChangeArrowheads="1" noChangeShapeType="1" noTextEdit="1"/>
              </p:cNvSpPr>
              <p:nvPr>
                <p:ph idx="1"/>
              </p:nvPr>
            </p:nvSpPr>
            <p:spPr>
              <a:xfrm>
                <a:off x="165100" y="2052918"/>
                <a:ext cx="11849100" cy="4805082"/>
              </a:xfrm>
              <a:blipFill>
                <a:blip r:embed="rId2"/>
                <a:stretch>
                  <a:fillRect l="-412" t="-888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8B35270-A732-BAFB-7072-5429D1C4FDD9}"/>
              </a:ext>
            </a:extLst>
          </p:cNvPr>
          <p:cNvSpPr>
            <a:spLocks noGrp="1"/>
          </p:cNvSpPr>
          <p:nvPr>
            <p:ph type="sldNum" sz="quarter" idx="12"/>
          </p:nvPr>
        </p:nvSpPr>
        <p:spPr/>
        <p:txBody>
          <a:bodyPr/>
          <a:lstStyle/>
          <a:p>
            <a:fld id="{A755A77B-A17B-45F4-84E2-294C20E72625}" type="slidenum">
              <a:rPr lang="en-KE" smtClean="0"/>
              <a:t>20</a:t>
            </a:fld>
            <a:endParaRPr lang="en-KE"/>
          </a:p>
        </p:txBody>
      </p:sp>
    </p:spTree>
    <p:extLst>
      <p:ext uri="{BB962C8B-B14F-4D97-AF65-F5344CB8AC3E}">
        <p14:creationId xmlns:p14="http://schemas.microsoft.com/office/powerpoint/2010/main" val="32291557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05491-6620-87DF-0FA0-E3AEE134774F}"/>
              </a:ext>
            </a:extLst>
          </p:cNvPr>
          <p:cNvSpPr>
            <a:spLocks noGrp="1"/>
          </p:cNvSpPr>
          <p:nvPr>
            <p:ph type="title"/>
          </p:nvPr>
        </p:nvSpPr>
        <p:spPr>
          <a:xfrm>
            <a:off x="646111" y="452718"/>
            <a:ext cx="9404723" cy="767687"/>
          </a:xfrm>
        </p:spPr>
        <p:txBody>
          <a:bodyPr/>
          <a:lstStyle/>
          <a:p>
            <a:endParaRPr lang="en-K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E4588C5-4904-939C-ECC5-FB05D061A3A6}"/>
                  </a:ext>
                </a:extLst>
              </p:cNvPr>
              <p:cNvSpPr>
                <a:spLocks noGrp="1"/>
              </p:cNvSpPr>
              <p:nvPr>
                <p:ph idx="1"/>
              </p:nvPr>
            </p:nvSpPr>
            <p:spPr>
              <a:xfrm>
                <a:off x="177800" y="1397000"/>
                <a:ext cx="11836400" cy="5461000"/>
              </a:xfrm>
            </p:spPr>
            <p:txBody>
              <a:bodyPr/>
              <a:lstStyle/>
              <a:p>
                <a:pPr>
                  <a:spcBef>
                    <a:spcPts val="600"/>
                  </a:spcBef>
                  <a:spcAft>
                    <a:spcPts val="600"/>
                  </a:spcAft>
                </a:pPr>
                <a14:m>
                  <m:oMath xmlns:m="http://schemas.openxmlformats.org/officeDocument/2006/math">
                    <m:f>
                      <m:fPr>
                        <m:ctrlPr>
                          <a:rPr lang="en-KE" sz="1800" i="1" kern="100" smtClean="0">
                            <a:effectLst/>
                            <a:latin typeface="Cambria Math" panose="02040503050406030204" pitchFamily="18" charset="0"/>
                            <a:ea typeface="Noto Serif CJK SC"/>
                            <a:cs typeface="Lohit Devanagari"/>
                          </a:rPr>
                        </m:ctrlPr>
                      </m:fPr>
                      <m:num>
                        <m:r>
                          <a:rPr lang="en-US" sz="1800" i="1" kern="100">
                            <a:effectLst/>
                            <a:latin typeface="Cambria Math" panose="02040503050406030204" pitchFamily="18" charset="0"/>
                            <a:ea typeface="Noto Serif CJK SC"/>
                            <a:cs typeface="Lohit Devanagari"/>
                          </a:rPr>
                          <m:t>𝜕</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𝐼</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(3)</m:t>
                            </m:r>
                          </m:sup>
                        </m:sSubSup>
                      </m:num>
                      <m:den>
                        <m:r>
                          <a:rPr lang="en-US" sz="1800" i="1" kern="100">
                            <a:effectLst/>
                            <a:latin typeface="Cambria Math" panose="02040503050406030204" pitchFamily="18" charset="0"/>
                            <a:ea typeface="Noto Serif CJK SC"/>
                            <a:cs typeface="Lohit Devanagari"/>
                          </a:rPr>
                          <m:t>𝜕</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𝑊</m:t>
                            </m:r>
                          </m:e>
                          <m:sub>
                            <m:r>
                              <a:rPr lang="en-US" sz="1800" i="1" kern="100">
                                <a:effectLst/>
                                <a:latin typeface="Cambria Math" panose="02040503050406030204" pitchFamily="18" charset="0"/>
                                <a:ea typeface="Noto Serif CJK SC"/>
                                <a:cs typeface="Lohit Devanagari"/>
                              </a:rPr>
                              <m:t>𝑗𝑖</m:t>
                            </m:r>
                          </m:sub>
                          <m:sup>
                            <m:r>
                              <a:rPr lang="en-US" sz="1800" i="1" kern="100">
                                <a:effectLst/>
                                <a:latin typeface="Cambria Math" panose="02040503050406030204" pitchFamily="18" charset="0"/>
                                <a:ea typeface="Noto Serif CJK SC"/>
                                <a:cs typeface="Lohit Devanagari"/>
                              </a:rPr>
                              <m:t>(3)</m:t>
                            </m:r>
                          </m:sup>
                        </m:sSubSup>
                      </m:den>
                    </m:f>
                    <m:r>
                      <a:rPr lang="en-US" sz="1800" i="1" kern="100">
                        <a:effectLst/>
                        <a:latin typeface="Cambria Math" panose="02040503050406030204" pitchFamily="18" charset="0"/>
                        <a:ea typeface="Noto Serif CJK SC"/>
                        <a:cs typeface="Lohit Devanagari"/>
                      </a:rPr>
                      <m:t>=</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𝑌</m:t>
                        </m:r>
                      </m:e>
                      <m:sub>
                        <m:r>
                          <a:rPr lang="en-US" sz="1800" i="1" kern="100">
                            <a:effectLst/>
                            <a:latin typeface="Cambria Math" panose="02040503050406030204" pitchFamily="18" charset="0"/>
                            <a:ea typeface="Noto Serif CJK SC"/>
                            <a:cs typeface="Lohit Devanagari"/>
                          </a:rPr>
                          <m:t>𝑖</m:t>
                        </m:r>
                      </m:sub>
                      <m:sup>
                        <m:d>
                          <m:dPr>
                            <m:ctrlPr>
                              <a:rPr lang="en-KE" sz="1800" i="1" kern="100">
                                <a:effectLst/>
                                <a:latin typeface="Cambria Math" panose="02040503050406030204" pitchFamily="18" charset="0"/>
                                <a:ea typeface="Noto Serif CJK SC"/>
                                <a:cs typeface="Lohit Devanagari"/>
                              </a:rPr>
                            </m:ctrlPr>
                          </m:dPr>
                          <m:e>
                            <m:r>
                              <a:rPr lang="en-US" sz="1800" i="1" kern="100">
                                <a:effectLst/>
                                <a:latin typeface="Cambria Math" panose="02040503050406030204" pitchFamily="18" charset="0"/>
                                <a:ea typeface="Noto Serif CJK SC"/>
                                <a:cs typeface="Lohit Devanagari"/>
                              </a:rPr>
                              <m:t>2</m:t>
                            </m:r>
                          </m:e>
                        </m:d>
                      </m:sup>
                    </m:sSubSup>
                  </m:oMath>
                </a14:m>
                <a:r>
                  <a:rPr lang="en-US" sz="1800" i="1" kern="100" dirty="0">
                    <a:effectLst/>
                    <a:latin typeface="Liberation Serif"/>
                    <a:ea typeface="Noto Serif CJK SC"/>
                    <a:cs typeface="Lohit Devanagari"/>
                  </a:rPr>
                  <a:t>          (Obtained from the partial derivative of equation 4 with respect to </a:t>
                </a:r>
                <a14:m>
                  <m:oMath xmlns:m="http://schemas.openxmlformats.org/officeDocument/2006/math">
                    <m:sSub>
                      <m:sSubPr>
                        <m:ctrlPr>
                          <a:rPr lang="en-KE" sz="1800" i="1" kern="100">
                            <a:effectLst/>
                            <a:latin typeface="Cambria Math" panose="02040503050406030204" pitchFamily="18" charset="0"/>
                            <a:ea typeface="Noto Serif CJK SC"/>
                            <a:cs typeface="Lohit Devanagari"/>
                          </a:rPr>
                        </m:ctrlPr>
                      </m:sSubPr>
                      <m:e>
                        <m:r>
                          <a:rPr lang="en-US" sz="1800" i="1" kern="100">
                            <a:effectLst/>
                            <a:latin typeface="Cambria Math" panose="02040503050406030204" pitchFamily="18" charset="0"/>
                            <a:ea typeface="Noto Serif CJK SC"/>
                            <a:cs typeface="Lohit Devanagari"/>
                          </a:rPr>
                          <m:t>𝑊</m:t>
                        </m:r>
                      </m:e>
                      <m:sub>
                        <m:r>
                          <a:rPr lang="en-US" sz="1800" i="1" kern="100">
                            <a:effectLst/>
                            <a:latin typeface="Cambria Math" panose="02040503050406030204" pitchFamily="18" charset="0"/>
                            <a:ea typeface="Noto Serif CJK SC"/>
                            <a:cs typeface="Lohit Devanagari"/>
                          </a:rPr>
                          <m:t>𝑗𝑖</m:t>
                        </m:r>
                      </m:sub>
                    </m:sSub>
                  </m:oMath>
                </a14:m>
                <a:r>
                  <a:rPr lang="en-US" sz="1800" i="1" kern="100" dirty="0">
                    <a:effectLst/>
                    <a:latin typeface="Liberation Serif"/>
                    <a:ea typeface="Noto Serif CJK SC"/>
                    <a:cs typeface="Lohit Devanagari"/>
                  </a:rPr>
                  <a:t>)                                     </a:t>
                </a:r>
                <a:r>
                  <a:rPr lang="en-US" sz="1800" i="0" kern="100" dirty="0">
                    <a:effectLst/>
                    <a:latin typeface="Liberation Serif"/>
                    <a:ea typeface="Noto Serif CJK SC"/>
                    <a:cs typeface="Lohit Devanagari"/>
                  </a:rPr>
                  <a:t>(9)</a:t>
                </a:r>
                <a:endParaRPr lang="en-KE" sz="1800" i="1" kern="100" dirty="0">
                  <a:effectLst/>
                  <a:latin typeface="Liberation Serif"/>
                  <a:ea typeface="Noto Serif CJK SC"/>
                  <a:cs typeface="Lohit Devanagari"/>
                </a:endParaRPr>
              </a:p>
              <a:p>
                <a:pPr>
                  <a:spcBef>
                    <a:spcPts val="600"/>
                  </a:spcBef>
                  <a:spcAft>
                    <a:spcPts val="600"/>
                  </a:spcAft>
                </a:pPr>
                <a14:m>
                  <m:oMath xmlns:m="http://schemas.openxmlformats.org/officeDocument/2006/math">
                    <m:f>
                      <m:fPr>
                        <m:ctrlPr>
                          <a:rPr lang="en-KE" sz="1800" i="1" kern="100">
                            <a:effectLst/>
                            <a:latin typeface="Cambria Math" panose="02040503050406030204" pitchFamily="18" charset="0"/>
                            <a:ea typeface="Noto Serif CJK SC"/>
                            <a:cs typeface="Lohit Devanagari"/>
                          </a:rPr>
                        </m:ctrlPr>
                      </m:fPr>
                      <m:num>
                        <m:r>
                          <a:rPr lang="en-US" sz="1800" i="1" kern="100">
                            <a:effectLst/>
                            <a:latin typeface="Cambria Math" panose="02040503050406030204" pitchFamily="18" charset="0"/>
                            <a:ea typeface="Noto Serif CJK SC"/>
                            <a:cs typeface="Lohit Devanagari"/>
                          </a:rPr>
                          <m:t>𝜕</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𝑌</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(3)</m:t>
                            </m:r>
                          </m:sup>
                        </m:sSubSup>
                      </m:num>
                      <m:den>
                        <m:r>
                          <a:rPr lang="en-US" sz="1800" i="1" kern="100">
                            <a:effectLst/>
                            <a:latin typeface="Cambria Math" panose="02040503050406030204" pitchFamily="18" charset="0"/>
                            <a:ea typeface="Noto Serif CJK SC"/>
                            <a:cs typeface="Lohit Devanagari"/>
                          </a:rPr>
                          <m:t>𝜕</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𝐼</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(3)</m:t>
                            </m:r>
                          </m:sup>
                        </m:sSubSup>
                      </m:den>
                    </m:f>
                    <m:r>
                      <a:rPr lang="en-US" sz="1800" i="1" kern="100">
                        <a:effectLst/>
                        <a:latin typeface="Cambria Math" panose="02040503050406030204" pitchFamily="18" charset="0"/>
                        <a:ea typeface="Noto Serif CJK SC"/>
                        <a:cs typeface="Lohit Devanagari"/>
                      </a:rPr>
                      <m:t>= </m:t>
                    </m:r>
                    <m:sSup>
                      <m:sSupPr>
                        <m:ctrlPr>
                          <a:rPr lang="en-KE" sz="1800" i="1" kern="100">
                            <a:effectLst/>
                            <a:latin typeface="Cambria Math" panose="02040503050406030204" pitchFamily="18" charset="0"/>
                            <a:ea typeface="Noto Serif CJK SC"/>
                            <a:cs typeface="Lohit Devanagari"/>
                          </a:rPr>
                        </m:ctrlPr>
                      </m:sSupPr>
                      <m:e>
                        <m:r>
                          <a:rPr lang="en-US" sz="1800" i="1" kern="100">
                            <a:effectLst/>
                            <a:latin typeface="Cambria Math" panose="02040503050406030204" pitchFamily="18" charset="0"/>
                            <a:ea typeface="Noto Serif CJK SC"/>
                            <a:cs typeface="Lohit Devanagari"/>
                          </a:rPr>
                          <m:t>𝑔</m:t>
                        </m:r>
                      </m:e>
                      <m:sup>
                        <m:r>
                          <a:rPr lang="en-US" sz="1800" i="1" kern="100">
                            <a:effectLst/>
                            <a:latin typeface="Cambria Math" panose="02040503050406030204" pitchFamily="18" charset="0"/>
                            <a:ea typeface="Noto Serif CJK SC"/>
                            <a:cs typeface="Lohit Devanagari"/>
                          </a:rPr>
                          <m:t>′</m:t>
                        </m:r>
                      </m:sup>
                    </m:sSup>
                    <m:d>
                      <m:dPr>
                        <m:ctrlPr>
                          <a:rPr lang="en-KE" sz="1800" i="1" kern="100">
                            <a:effectLst/>
                            <a:latin typeface="Cambria Math" panose="02040503050406030204" pitchFamily="18" charset="0"/>
                            <a:ea typeface="Noto Serif CJK SC"/>
                            <a:cs typeface="Lohit Devanagari"/>
                          </a:rPr>
                        </m:ctrlPr>
                      </m:dPr>
                      <m:e>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𝐼</m:t>
                            </m:r>
                          </m:e>
                          <m:sub>
                            <m:r>
                              <a:rPr lang="en-US" sz="1800" i="1" kern="100">
                                <a:effectLst/>
                                <a:latin typeface="Cambria Math" panose="02040503050406030204" pitchFamily="18" charset="0"/>
                                <a:ea typeface="Noto Serif CJK SC"/>
                                <a:cs typeface="Lohit Devanagari"/>
                              </a:rPr>
                              <m:t>𝑗</m:t>
                            </m:r>
                          </m:sub>
                          <m:sup>
                            <m:d>
                              <m:dPr>
                                <m:ctrlPr>
                                  <a:rPr lang="en-KE" sz="1800" i="1" kern="100">
                                    <a:effectLst/>
                                    <a:latin typeface="Cambria Math" panose="02040503050406030204" pitchFamily="18" charset="0"/>
                                    <a:ea typeface="Noto Serif CJK SC"/>
                                    <a:cs typeface="Lohit Devanagari"/>
                                  </a:rPr>
                                </m:ctrlPr>
                              </m:dPr>
                              <m:e>
                                <m:r>
                                  <a:rPr lang="en-US" sz="1800" i="1" kern="100">
                                    <a:effectLst/>
                                    <a:latin typeface="Cambria Math" panose="02040503050406030204" pitchFamily="18" charset="0"/>
                                    <a:ea typeface="Noto Serif CJK SC"/>
                                    <a:cs typeface="Lohit Devanagari"/>
                                  </a:rPr>
                                  <m:t>3</m:t>
                                </m:r>
                              </m:e>
                            </m:d>
                          </m:sup>
                        </m:sSubSup>
                      </m:e>
                    </m:d>
                  </m:oMath>
                </a14:m>
                <a:r>
                  <a:rPr lang="en-US" sz="1800" i="1" kern="100" dirty="0">
                    <a:effectLst/>
                    <a:latin typeface="Liberation Serif"/>
                    <a:ea typeface="Noto Serif CJK SC"/>
                    <a:cs typeface="Lohit Devanagari"/>
                  </a:rPr>
                  <a:t>                  (Obtained from equation 7)					</a:t>
                </a:r>
                <a:r>
                  <a:rPr lang="en-US" sz="1800" i="0" kern="100" dirty="0">
                    <a:effectLst/>
                    <a:latin typeface="Liberation Serif"/>
                    <a:ea typeface="Noto Serif CJK SC"/>
                    <a:cs typeface="Lohit Devanagari"/>
                  </a:rPr>
                  <a:t>                                                           (10)</a:t>
                </a:r>
                <a:endParaRPr lang="en-KE" sz="1800" i="1" kern="100" dirty="0">
                  <a:effectLst/>
                  <a:latin typeface="Liberation Serif"/>
                  <a:ea typeface="Noto Serif CJK SC"/>
                  <a:cs typeface="Lohit Devanagari"/>
                </a:endParaRPr>
              </a:p>
              <a:p>
                <a:pPr>
                  <a:spcBef>
                    <a:spcPts val="600"/>
                  </a:spcBef>
                  <a:spcAft>
                    <a:spcPts val="600"/>
                  </a:spcAft>
                </a:pPr>
                <a14:m>
                  <m:oMath xmlns:m="http://schemas.openxmlformats.org/officeDocument/2006/math">
                    <m:f>
                      <m:fPr>
                        <m:ctrlPr>
                          <a:rPr lang="en-KE" sz="1800" i="1" kern="100">
                            <a:effectLst/>
                            <a:latin typeface="Cambria Math" panose="02040503050406030204" pitchFamily="18" charset="0"/>
                            <a:ea typeface="Noto Serif CJK SC"/>
                            <a:cs typeface="Lohit Devanagari"/>
                          </a:rPr>
                        </m:ctrlPr>
                      </m:fPr>
                      <m:num>
                        <m:r>
                          <a:rPr lang="en-US" sz="1800" i="1" kern="100">
                            <a:effectLst/>
                            <a:latin typeface="Cambria Math" panose="02040503050406030204" pitchFamily="18" charset="0"/>
                            <a:ea typeface="Noto Serif CJK SC"/>
                            <a:cs typeface="Lohit Devanagari"/>
                          </a:rPr>
                          <m:t>𝜕</m:t>
                        </m:r>
                        <m:r>
                          <a:rPr lang="en-US" sz="1800" i="1" kern="100">
                            <a:effectLst/>
                            <a:latin typeface="Cambria Math" panose="02040503050406030204" pitchFamily="18" charset="0"/>
                            <a:ea typeface="Noto Serif CJK SC"/>
                            <a:cs typeface="Lohit Devanagari"/>
                          </a:rPr>
                          <m:t>𝐸</m:t>
                        </m:r>
                      </m:num>
                      <m:den>
                        <m:r>
                          <a:rPr lang="en-US" sz="1800" i="1" kern="100">
                            <a:effectLst/>
                            <a:latin typeface="Cambria Math" panose="02040503050406030204" pitchFamily="18" charset="0"/>
                            <a:ea typeface="Noto Serif CJK SC"/>
                            <a:cs typeface="Lohit Devanagari"/>
                          </a:rPr>
                          <m:t>𝜕</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𝑌</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(3)</m:t>
                            </m:r>
                          </m:sup>
                        </m:sSubSup>
                      </m:den>
                    </m:f>
                    <m:r>
                      <a:rPr lang="en-US" sz="1800" i="1" kern="100">
                        <a:effectLst/>
                        <a:latin typeface="Cambria Math" panose="02040503050406030204" pitchFamily="18" charset="0"/>
                        <a:ea typeface="Noto Serif CJK SC"/>
                        <a:cs typeface="Lohit Devanagari"/>
                      </a:rPr>
                      <m:t>= −</m:t>
                    </m:r>
                    <m:d>
                      <m:dPr>
                        <m:ctrlPr>
                          <a:rPr lang="en-KE" sz="1800" i="1" kern="100">
                            <a:effectLst/>
                            <a:latin typeface="Cambria Math" panose="02040503050406030204" pitchFamily="18" charset="0"/>
                            <a:ea typeface="Noto Serif CJK SC"/>
                            <a:cs typeface="Lohit Devanagari"/>
                          </a:rPr>
                        </m:ctrlPr>
                      </m:dPr>
                      <m:e>
                        <m:sSub>
                          <m:sSubPr>
                            <m:ctrlPr>
                              <a:rPr lang="en-KE" sz="1800" i="1" kern="100">
                                <a:effectLst/>
                                <a:latin typeface="Cambria Math" panose="02040503050406030204" pitchFamily="18" charset="0"/>
                                <a:ea typeface="Noto Serif CJK SC"/>
                                <a:cs typeface="Lohit Devanagari"/>
                              </a:rPr>
                            </m:ctrlPr>
                          </m:sSubPr>
                          <m:e>
                            <m:r>
                              <a:rPr lang="en-US" sz="1800" i="1" kern="100">
                                <a:effectLst/>
                                <a:latin typeface="Cambria Math" panose="02040503050406030204" pitchFamily="18" charset="0"/>
                                <a:ea typeface="Noto Serif CJK SC"/>
                                <a:cs typeface="Lohit Devanagari"/>
                              </a:rPr>
                              <m:t>𝑑</m:t>
                            </m:r>
                          </m:e>
                          <m:sub>
                            <m:r>
                              <a:rPr lang="en-US" sz="1800" i="1" kern="100">
                                <a:effectLst/>
                                <a:latin typeface="Cambria Math" panose="02040503050406030204" pitchFamily="18" charset="0"/>
                                <a:ea typeface="Noto Serif CJK SC"/>
                                <a:cs typeface="Lohit Devanagari"/>
                              </a:rPr>
                              <m:t>𝑗</m:t>
                            </m:r>
                          </m:sub>
                        </m:sSub>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𝑌</m:t>
                            </m:r>
                          </m:e>
                          <m:sub>
                            <m:r>
                              <a:rPr lang="en-US" sz="1800" i="1" kern="100">
                                <a:effectLst/>
                                <a:latin typeface="Cambria Math" panose="02040503050406030204" pitchFamily="18" charset="0"/>
                                <a:ea typeface="Noto Serif CJK SC"/>
                                <a:cs typeface="Lohit Devanagari"/>
                              </a:rPr>
                              <m:t>𝑗</m:t>
                            </m:r>
                          </m:sub>
                          <m:sup>
                            <m:d>
                              <m:dPr>
                                <m:ctrlPr>
                                  <a:rPr lang="en-KE" sz="1800" i="1" kern="100">
                                    <a:effectLst/>
                                    <a:latin typeface="Cambria Math" panose="02040503050406030204" pitchFamily="18" charset="0"/>
                                    <a:ea typeface="Noto Serif CJK SC"/>
                                    <a:cs typeface="Lohit Devanagari"/>
                                  </a:rPr>
                                </m:ctrlPr>
                              </m:dPr>
                              <m:e>
                                <m:r>
                                  <a:rPr lang="en-US" sz="1800" i="1" kern="100">
                                    <a:effectLst/>
                                    <a:latin typeface="Cambria Math" panose="02040503050406030204" pitchFamily="18" charset="0"/>
                                    <a:ea typeface="Noto Serif CJK SC"/>
                                    <a:cs typeface="Lohit Devanagari"/>
                                  </a:rPr>
                                  <m:t>3</m:t>
                                </m:r>
                              </m:e>
                            </m:d>
                          </m:sup>
                        </m:sSubSup>
                      </m:e>
                    </m:d>
                  </m:oMath>
                </a14:m>
                <a:r>
                  <a:rPr lang="en-US" sz="1800" i="1" kern="100" dirty="0">
                    <a:effectLst/>
                    <a:latin typeface="Liberation Serif"/>
                    <a:ea typeface="Noto Serif CJK SC"/>
                    <a:cs typeface="Lohit Devanagari"/>
                  </a:rPr>
                  <a:t>        (Obtained from equation 8)					</a:t>
                </a:r>
                <a:r>
                  <a:rPr lang="en-US" sz="1800" i="0" kern="100" dirty="0">
                    <a:effectLst/>
                    <a:latin typeface="Liberation Serif"/>
                    <a:ea typeface="Noto Serif CJK SC"/>
                    <a:cs typeface="Lohit Devanagari"/>
                  </a:rPr>
                  <a:t>                                                           (</a:t>
                </a:r>
                <a:r>
                  <a:rPr lang="en-US" sz="1800" kern="100" dirty="0">
                    <a:latin typeface="Liberation Serif"/>
                    <a:ea typeface="Noto Serif CJK SC"/>
                    <a:cs typeface="Lohit Devanagari"/>
                  </a:rPr>
                  <a:t>11</a:t>
                </a:r>
                <a:r>
                  <a:rPr lang="en-US" sz="1800" i="0" kern="100" dirty="0">
                    <a:effectLst/>
                    <a:latin typeface="Liberation Serif"/>
                    <a:ea typeface="Noto Serif CJK SC"/>
                    <a:cs typeface="Lohit Devanagari"/>
                  </a:rPr>
                  <a:t>)</a:t>
                </a:r>
                <a:endParaRPr lang="en-KE" sz="1800" i="1" kern="100" dirty="0">
                  <a:effectLst/>
                  <a:latin typeface="Liberation Serif"/>
                  <a:ea typeface="Noto Serif CJK SC"/>
                  <a:cs typeface="Lohit Devanagari"/>
                </a:endParaRPr>
              </a:p>
              <a:p>
                <a14:m>
                  <m:oMath xmlns:m="http://schemas.openxmlformats.org/officeDocument/2006/math">
                    <m:f>
                      <m:fPr>
                        <m:ctrlPr>
                          <a:rPr lang="en-KE" sz="1800" i="1" kern="100" smtClean="0">
                            <a:effectLst/>
                            <a:latin typeface="Cambria Math" panose="02040503050406030204" pitchFamily="18" charset="0"/>
                            <a:ea typeface="Noto Serif CJK SC"/>
                            <a:cs typeface="Lohit Devanagari"/>
                          </a:rPr>
                        </m:ctrlPr>
                      </m:fPr>
                      <m:num>
                        <m:r>
                          <a:rPr lang="en-US" sz="1800" i="1" kern="100">
                            <a:effectLst/>
                            <a:latin typeface="Cambria Math" panose="02040503050406030204" pitchFamily="18" charset="0"/>
                            <a:ea typeface="Noto Serif CJK SC"/>
                            <a:cs typeface="Lohit Devanagari"/>
                          </a:rPr>
                          <m:t>𝜕</m:t>
                        </m:r>
                        <m:r>
                          <a:rPr lang="en-US" sz="1800" i="1" kern="100">
                            <a:effectLst/>
                            <a:latin typeface="Cambria Math" panose="02040503050406030204" pitchFamily="18" charset="0"/>
                            <a:ea typeface="Noto Serif CJK SC"/>
                            <a:cs typeface="Lohit Devanagari"/>
                          </a:rPr>
                          <m:t>𝐸</m:t>
                        </m:r>
                      </m:num>
                      <m:den>
                        <m:r>
                          <a:rPr lang="en-US" sz="1800" i="1" kern="100">
                            <a:effectLst/>
                            <a:latin typeface="Cambria Math" panose="02040503050406030204" pitchFamily="18" charset="0"/>
                            <a:ea typeface="Noto Serif CJK SC"/>
                            <a:cs typeface="Lohit Devanagari"/>
                          </a:rPr>
                          <m:t>𝜕</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𝑊</m:t>
                            </m:r>
                          </m:e>
                          <m:sub>
                            <m:r>
                              <a:rPr lang="en-US" sz="1800" i="1" kern="100">
                                <a:effectLst/>
                                <a:latin typeface="Cambria Math" panose="02040503050406030204" pitchFamily="18" charset="0"/>
                                <a:ea typeface="Noto Serif CJK SC"/>
                                <a:cs typeface="Lohit Devanagari"/>
                              </a:rPr>
                              <m:t>𝑗𝑖</m:t>
                            </m:r>
                          </m:sub>
                          <m:sup>
                            <m:r>
                              <a:rPr lang="en-US" sz="1800" i="1" kern="100">
                                <a:effectLst/>
                                <a:latin typeface="Cambria Math" panose="02040503050406030204" pitchFamily="18" charset="0"/>
                                <a:ea typeface="Noto Serif CJK SC"/>
                                <a:cs typeface="Lohit Devanagari"/>
                              </a:rPr>
                              <m:t>(3)</m:t>
                            </m:r>
                          </m:sup>
                        </m:sSubSup>
                      </m:den>
                    </m:f>
                    <m:r>
                      <a:rPr lang="en-US" sz="1800" i="1" kern="100">
                        <a:effectLst/>
                        <a:latin typeface="Cambria Math" panose="02040503050406030204" pitchFamily="18" charset="0"/>
                        <a:ea typeface="Noto Serif CJK SC"/>
                        <a:cs typeface="Lohit Devanagari"/>
                      </a:rPr>
                      <m:t>= −</m:t>
                    </m:r>
                    <m:d>
                      <m:dPr>
                        <m:ctrlPr>
                          <a:rPr lang="en-KE" sz="1800" i="1" kern="100">
                            <a:effectLst/>
                            <a:latin typeface="Cambria Math" panose="02040503050406030204" pitchFamily="18" charset="0"/>
                            <a:ea typeface="Noto Serif CJK SC"/>
                            <a:cs typeface="Lohit Devanagari"/>
                          </a:rPr>
                        </m:ctrlPr>
                      </m:dPr>
                      <m:e>
                        <m:sSub>
                          <m:sSubPr>
                            <m:ctrlPr>
                              <a:rPr lang="en-KE" sz="1800" i="1" kern="100">
                                <a:effectLst/>
                                <a:latin typeface="Cambria Math" panose="02040503050406030204" pitchFamily="18" charset="0"/>
                                <a:ea typeface="Noto Serif CJK SC"/>
                                <a:cs typeface="Lohit Devanagari"/>
                              </a:rPr>
                            </m:ctrlPr>
                          </m:sSubPr>
                          <m:e>
                            <m:r>
                              <a:rPr lang="en-US" sz="1800" i="1" kern="100">
                                <a:effectLst/>
                                <a:latin typeface="Cambria Math" panose="02040503050406030204" pitchFamily="18" charset="0"/>
                                <a:ea typeface="Noto Serif CJK SC"/>
                                <a:cs typeface="Lohit Devanagari"/>
                              </a:rPr>
                              <m:t>𝑑</m:t>
                            </m:r>
                          </m:e>
                          <m:sub>
                            <m:r>
                              <a:rPr lang="en-US" sz="1800" i="1" kern="100">
                                <a:effectLst/>
                                <a:latin typeface="Cambria Math" panose="02040503050406030204" pitchFamily="18" charset="0"/>
                                <a:ea typeface="Noto Serif CJK SC"/>
                                <a:cs typeface="Lohit Devanagari"/>
                              </a:rPr>
                              <m:t>𝑗</m:t>
                            </m:r>
                          </m:sub>
                        </m:sSub>
                        <m:r>
                          <a:rPr lang="en-US" sz="1800" i="1" kern="100">
                            <a:effectLst/>
                            <a:latin typeface="Cambria Math" panose="02040503050406030204" pitchFamily="18" charset="0"/>
                            <a:ea typeface="Noto Serif CJK SC"/>
                            <a:cs typeface="Lohit Devanagari"/>
                          </a:rPr>
                          <m:t>− </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𝑌</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(3)</m:t>
                            </m:r>
                          </m:sup>
                        </m:sSubSup>
                      </m:e>
                    </m:d>
                    <m:r>
                      <a:rPr lang="en-US" sz="1800" i="1" kern="100">
                        <a:effectLst/>
                        <a:latin typeface="Cambria Math" panose="02040503050406030204" pitchFamily="18" charset="0"/>
                        <a:ea typeface="Noto Serif CJK SC"/>
                        <a:cs typeface="Lohit Devanagari"/>
                      </a:rPr>
                      <m:t>∗</m:t>
                    </m:r>
                    <m:sSup>
                      <m:sSupPr>
                        <m:ctrlPr>
                          <a:rPr lang="en-KE" sz="1800" i="1" kern="100">
                            <a:effectLst/>
                            <a:latin typeface="Cambria Math" panose="02040503050406030204" pitchFamily="18" charset="0"/>
                            <a:ea typeface="Noto Serif CJK SC"/>
                            <a:cs typeface="Lohit Devanagari"/>
                          </a:rPr>
                        </m:ctrlPr>
                      </m:sSupPr>
                      <m:e>
                        <m:r>
                          <a:rPr lang="en-US" sz="1800" i="1" kern="100">
                            <a:effectLst/>
                            <a:latin typeface="Cambria Math" panose="02040503050406030204" pitchFamily="18" charset="0"/>
                            <a:ea typeface="Noto Serif CJK SC"/>
                            <a:cs typeface="Lohit Devanagari"/>
                          </a:rPr>
                          <m:t>𝑔</m:t>
                        </m:r>
                      </m:e>
                      <m:sup>
                        <m:r>
                          <a:rPr lang="en-US" sz="1800" i="1" kern="100">
                            <a:effectLst/>
                            <a:latin typeface="Cambria Math" panose="02040503050406030204" pitchFamily="18" charset="0"/>
                            <a:ea typeface="Noto Serif CJK SC"/>
                            <a:cs typeface="Lohit Devanagari"/>
                          </a:rPr>
                          <m:t>′</m:t>
                        </m:r>
                      </m:sup>
                    </m:sSup>
                    <m:d>
                      <m:dPr>
                        <m:ctrlPr>
                          <a:rPr lang="en-KE" sz="1800" i="1" kern="100">
                            <a:effectLst/>
                            <a:latin typeface="Cambria Math" panose="02040503050406030204" pitchFamily="18" charset="0"/>
                            <a:ea typeface="Noto Serif CJK SC"/>
                            <a:cs typeface="Lohit Devanagari"/>
                          </a:rPr>
                        </m:ctrlPr>
                      </m:dPr>
                      <m:e>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𝐼</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(3)</m:t>
                            </m:r>
                          </m:sup>
                        </m:sSubSup>
                      </m:e>
                    </m:d>
                    <m:r>
                      <a:rPr lang="en-US" sz="1800" i="1" kern="100">
                        <a:effectLst/>
                        <a:latin typeface="Cambria Math" panose="02040503050406030204" pitchFamily="18" charset="0"/>
                        <a:ea typeface="Noto Serif CJK SC"/>
                        <a:cs typeface="Lohit Devanagari"/>
                      </a:rPr>
                      <m:t>∗</m:t>
                    </m:r>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𝑌</m:t>
                        </m:r>
                      </m:e>
                      <m:sub>
                        <m:r>
                          <a:rPr lang="en-US" sz="1800" i="1" kern="100">
                            <a:effectLst/>
                            <a:latin typeface="Cambria Math" panose="02040503050406030204" pitchFamily="18" charset="0"/>
                            <a:ea typeface="Noto Serif CJK SC"/>
                            <a:cs typeface="Lohit Devanagari"/>
                          </a:rPr>
                          <m:t>𝑖</m:t>
                        </m:r>
                      </m:sub>
                      <m:sup>
                        <m:r>
                          <a:rPr lang="en-US" sz="1800" i="1" kern="100">
                            <a:effectLst/>
                            <a:latin typeface="Cambria Math" panose="02040503050406030204" pitchFamily="18" charset="0"/>
                            <a:ea typeface="Noto Serif CJK SC"/>
                            <a:cs typeface="Lohit Devanagari"/>
                          </a:rPr>
                          <m:t>(2)</m:t>
                        </m:r>
                      </m:sup>
                    </m:sSubSup>
                  </m:oMath>
                </a14:m>
                <a:r>
                  <a:rPr lang="en-US" sz="1800" i="1" kern="100" dirty="0">
                    <a:effectLst/>
                    <a:latin typeface="Liberation Serif"/>
                    <a:ea typeface="Noto Serif CJK SC"/>
                    <a:cs typeface="Lohit Devanagari"/>
                  </a:rPr>
                  <a:t>       						      	</a:t>
                </a:r>
                <a:r>
                  <a:rPr lang="en-US" sz="1800" i="0" kern="100" dirty="0">
                    <a:effectLst/>
                    <a:latin typeface="Liberation Serif"/>
                    <a:ea typeface="Noto Serif CJK SC"/>
                    <a:cs typeface="Lohit Devanagari"/>
                  </a:rPr>
                  <a:t>                                                           (12)</a:t>
                </a:r>
                <a:endParaRPr lang="en-KE" sz="1800" i="1" kern="100" dirty="0">
                  <a:effectLst/>
                  <a:latin typeface="Liberation Serif"/>
                  <a:ea typeface="Noto Serif CJK SC"/>
                  <a:cs typeface="Lohit Devanagari"/>
                </a:endParaRPr>
              </a:p>
              <a:p>
                <a:r>
                  <a:rPr lang="en-US" sz="1800" kern="100" dirty="0">
                    <a:effectLst/>
                    <a:latin typeface="Liberation Serif"/>
                    <a:ea typeface="Noto Serif CJK SC"/>
                    <a:cs typeface="Lohit Devanagari"/>
                  </a:rPr>
                  <a:t>Let </a:t>
                </a:r>
                <a14:m>
                  <m:oMath xmlns:m="http://schemas.openxmlformats.org/officeDocument/2006/math">
                    <m:sSubSup>
                      <m:sSubSupPr>
                        <m:ctrlPr>
                          <a:rPr lang="en-KE" i="1">
                            <a:effectLst/>
                            <a:latin typeface="Cambria Math" panose="02040503050406030204" pitchFamily="18" charset="0"/>
                          </a:rPr>
                        </m:ctrlPr>
                      </m:sSubSupPr>
                      <m:e>
                        <m:r>
                          <a:rPr lang="en-US" sz="1800" i="1" kern="100">
                            <a:effectLst/>
                            <a:latin typeface="Cambria Math" panose="02040503050406030204" pitchFamily="18" charset="0"/>
                            <a:ea typeface="Noto Serif CJK SC"/>
                            <a:cs typeface="Lohit Devanagari"/>
                          </a:rPr>
                          <m:t>𝛿</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3</m:t>
                        </m:r>
                      </m:sup>
                    </m:sSubSup>
                    <m:r>
                      <a:rPr lang="en-US" sz="1800" i="1" kern="100">
                        <a:effectLst/>
                        <a:latin typeface="Cambria Math" panose="02040503050406030204" pitchFamily="18" charset="0"/>
                        <a:ea typeface="Noto Serif CJK SC"/>
                        <a:cs typeface="Lohit Devanagari"/>
                      </a:rPr>
                      <m:t>= −</m:t>
                    </m:r>
                    <m:d>
                      <m:dPr>
                        <m:ctrlPr>
                          <a:rPr lang="en-KE" i="1">
                            <a:effectLst/>
                            <a:latin typeface="Cambria Math" panose="02040503050406030204" pitchFamily="18" charset="0"/>
                          </a:rPr>
                        </m:ctrlPr>
                      </m:dPr>
                      <m:e>
                        <m:sSub>
                          <m:sSubPr>
                            <m:ctrlPr>
                              <a:rPr lang="en-KE" i="1">
                                <a:effectLst/>
                                <a:latin typeface="Cambria Math" panose="02040503050406030204" pitchFamily="18" charset="0"/>
                              </a:rPr>
                            </m:ctrlPr>
                          </m:sSubPr>
                          <m:e>
                            <m:r>
                              <a:rPr lang="en-US" sz="1800" i="1" kern="100">
                                <a:effectLst/>
                                <a:latin typeface="Cambria Math" panose="02040503050406030204" pitchFamily="18" charset="0"/>
                                <a:ea typeface="Noto Serif CJK SC"/>
                                <a:cs typeface="Lohit Devanagari"/>
                              </a:rPr>
                              <m:t>𝑑</m:t>
                            </m:r>
                          </m:e>
                          <m:sub>
                            <m:r>
                              <a:rPr lang="en-US" sz="1800" i="1" kern="100">
                                <a:effectLst/>
                                <a:latin typeface="Cambria Math" panose="02040503050406030204" pitchFamily="18" charset="0"/>
                                <a:ea typeface="Noto Serif CJK SC"/>
                                <a:cs typeface="Lohit Devanagari"/>
                              </a:rPr>
                              <m:t>𝑗</m:t>
                            </m:r>
                          </m:sub>
                        </m:sSub>
                        <m:r>
                          <a:rPr lang="en-US" sz="1800" i="1" kern="100">
                            <a:effectLst/>
                            <a:latin typeface="Cambria Math" panose="02040503050406030204" pitchFamily="18" charset="0"/>
                            <a:ea typeface="Noto Serif CJK SC"/>
                            <a:cs typeface="Lohit Devanagari"/>
                          </a:rPr>
                          <m:t>− </m:t>
                        </m:r>
                        <m:sSubSup>
                          <m:sSubSupPr>
                            <m:ctrlPr>
                              <a:rPr lang="en-KE" i="1">
                                <a:effectLst/>
                                <a:latin typeface="Cambria Math" panose="02040503050406030204" pitchFamily="18" charset="0"/>
                              </a:rPr>
                            </m:ctrlPr>
                          </m:sSubSupPr>
                          <m:e>
                            <m:r>
                              <a:rPr lang="en-US" sz="1800" i="1" kern="100">
                                <a:effectLst/>
                                <a:latin typeface="Cambria Math" panose="02040503050406030204" pitchFamily="18" charset="0"/>
                                <a:ea typeface="Noto Serif CJK SC"/>
                                <a:cs typeface="Lohit Devanagari"/>
                              </a:rPr>
                              <m:t>𝑌</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(3)</m:t>
                            </m:r>
                          </m:sup>
                        </m:sSubSup>
                      </m:e>
                    </m:d>
                    <m:r>
                      <a:rPr lang="en-US" sz="1800" i="1" kern="100">
                        <a:effectLst/>
                        <a:latin typeface="Cambria Math" panose="02040503050406030204" pitchFamily="18" charset="0"/>
                        <a:ea typeface="Noto Serif CJK SC"/>
                        <a:cs typeface="Lohit Devanagari"/>
                      </a:rPr>
                      <m:t>∗</m:t>
                    </m:r>
                    <m:sSup>
                      <m:sSupPr>
                        <m:ctrlPr>
                          <a:rPr lang="en-KE" i="1">
                            <a:effectLst/>
                            <a:latin typeface="Cambria Math" panose="02040503050406030204" pitchFamily="18" charset="0"/>
                          </a:rPr>
                        </m:ctrlPr>
                      </m:sSupPr>
                      <m:e>
                        <m:r>
                          <a:rPr lang="en-US" sz="1800" i="1" kern="100">
                            <a:effectLst/>
                            <a:latin typeface="Cambria Math" panose="02040503050406030204" pitchFamily="18" charset="0"/>
                            <a:ea typeface="Noto Serif CJK SC"/>
                            <a:cs typeface="Lohit Devanagari"/>
                          </a:rPr>
                          <m:t>𝑔</m:t>
                        </m:r>
                      </m:e>
                      <m:sup>
                        <m:r>
                          <a:rPr lang="en-US" sz="1800" i="1" kern="100">
                            <a:effectLst/>
                            <a:latin typeface="Cambria Math" panose="02040503050406030204" pitchFamily="18" charset="0"/>
                            <a:ea typeface="Noto Serif CJK SC"/>
                            <a:cs typeface="Lohit Devanagari"/>
                          </a:rPr>
                          <m:t>′</m:t>
                        </m:r>
                      </m:sup>
                    </m:sSup>
                    <m:d>
                      <m:dPr>
                        <m:ctrlPr>
                          <a:rPr lang="en-KE" i="1">
                            <a:effectLst/>
                            <a:latin typeface="Cambria Math" panose="02040503050406030204" pitchFamily="18" charset="0"/>
                          </a:rPr>
                        </m:ctrlPr>
                      </m:dPr>
                      <m:e>
                        <m:sSubSup>
                          <m:sSubSupPr>
                            <m:ctrlPr>
                              <a:rPr lang="en-KE" i="1">
                                <a:effectLst/>
                                <a:latin typeface="Cambria Math" panose="02040503050406030204" pitchFamily="18" charset="0"/>
                              </a:rPr>
                            </m:ctrlPr>
                          </m:sSubSupPr>
                          <m:e>
                            <m:r>
                              <a:rPr lang="en-US" sz="1800" i="1" kern="100">
                                <a:effectLst/>
                                <a:latin typeface="Cambria Math" panose="02040503050406030204" pitchFamily="18" charset="0"/>
                                <a:ea typeface="Noto Serif CJK SC"/>
                                <a:cs typeface="Lohit Devanagari"/>
                              </a:rPr>
                              <m:t>𝐼</m:t>
                            </m:r>
                          </m:e>
                          <m:sub>
                            <m:r>
                              <a:rPr lang="en-US" sz="1800" i="1" kern="100">
                                <a:effectLst/>
                                <a:latin typeface="Cambria Math" panose="02040503050406030204" pitchFamily="18" charset="0"/>
                                <a:ea typeface="Noto Serif CJK SC"/>
                                <a:cs typeface="Lohit Devanagari"/>
                              </a:rPr>
                              <m:t>𝑗</m:t>
                            </m:r>
                          </m:sub>
                          <m:sup>
                            <m:r>
                              <a:rPr lang="en-US" sz="1800" i="1" kern="100">
                                <a:effectLst/>
                                <a:latin typeface="Cambria Math" panose="02040503050406030204" pitchFamily="18" charset="0"/>
                                <a:ea typeface="Noto Serif CJK SC"/>
                                <a:cs typeface="Lohit Devanagari"/>
                              </a:rPr>
                              <m:t>(3)</m:t>
                            </m:r>
                          </m:sup>
                        </m:sSubSup>
                      </m:e>
                    </m:d>
                    <m:r>
                      <a:rPr lang="en-US" sz="1800" i="1" kern="100">
                        <a:effectLst/>
                        <a:latin typeface="Cambria Math" panose="02040503050406030204" pitchFamily="18" charset="0"/>
                        <a:ea typeface="Noto Serif CJK SC"/>
                        <a:cs typeface="Lohit Devanagari"/>
                      </a:rPr>
                      <m:t> </m:t>
                    </m:r>
                  </m:oMath>
                </a14:m>
                <a:r>
                  <a:rPr lang="en-US" sz="1800" kern="100" dirty="0">
                    <a:effectLst/>
                    <a:latin typeface="Liberation Serif"/>
                    <a:ea typeface="Noto Serif CJK SC"/>
                    <a:cs typeface="Lohit Devanagari"/>
                  </a:rPr>
                  <a:t> and </a:t>
                </a:r>
                <a14:m>
                  <m:oMath xmlns:m="http://schemas.openxmlformats.org/officeDocument/2006/math">
                    <m:r>
                      <a:rPr lang="en-US" sz="1800" i="1" kern="100">
                        <a:effectLst/>
                        <a:latin typeface="Cambria Math" panose="02040503050406030204" pitchFamily="18" charset="0"/>
                        <a:ea typeface="Noto Serif CJK SC"/>
                        <a:cs typeface="Lohit Devanagari"/>
                      </a:rPr>
                      <m:t>ŋ</m:t>
                    </m:r>
                  </m:oMath>
                </a14:m>
                <a:r>
                  <a:rPr lang="en-US" sz="1800" kern="100" dirty="0">
                    <a:effectLst/>
                    <a:latin typeface="Liberation Serif"/>
                    <a:ea typeface="Noto Serif CJK SC"/>
                    <a:cs typeface="Lohit Devanagari"/>
                  </a:rPr>
                  <a:t> be the learning rate. 										    (13)</a:t>
                </a:r>
              </a:p>
              <a:p>
                <a:r>
                  <a:rPr lang="en-US" sz="1800" kern="100" dirty="0">
                    <a:effectLst/>
                    <a:latin typeface="Liberation Serif"/>
                    <a:ea typeface="Noto Serif CJK SC"/>
                    <a:cs typeface="Lohit Devanagari"/>
                  </a:rPr>
                  <a:t>Also, note that the direction of the weight </a:t>
                </a:r>
                <a14:m>
                  <m:oMath xmlns:m="http://schemas.openxmlformats.org/officeDocument/2006/math">
                    <m:sSubSup>
                      <m:sSubSupPr>
                        <m:ctrlPr>
                          <a:rPr lang="en-KE" sz="1800" i="1" kern="100">
                            <a:effectLst/>
                            <a:latin typeface="Cambria Math" panose="02040503050406030204" pitchFamily="18" charset="0"/>
                            <a:ea typeface="Noto Serif CJK SC"/>
                            <a:cs typeface="Lohit Devanagari"/>
                          </a:rPr>
                        </m:ctrlPr>
                      </m:sSubSupPr>
                      <m:e>
                        <m:r>
                          <a:rPr lang="en-US" sz="1800" i="1" kern="100">
                            <a:effectLst/>
                            <a:latin typeface="Cambria Math" panose="02040503050406030204" pitchFamily="18" charset="0"/>
                            <a:ea typeface="Noto Serif CJK SC"/>
                            <a:cs typeface="Lohit Devanagari"/>
                          </a:rPr>
                          <m:t>𝑊</m:t>
                        </m:r>
                      </m:e>
                      <m:sub>
                        <m:r>
                          <a:rPr lang="en-US" sz="1800" i="1" kern="100">
                            <a:effectLst/>
                            <a:latin typeface="Cambria Math" panose="02040503050406030204" pitchFamily="18" charset="0"/>
                            <a:ea typeface="Noto Serif CJK SC"/>
                            <a:cs typeface="Lohit Devanagari"/>
                          </a:rPr>
                          <m:t>𝑗𝑖</m:t>
                        </m:r>
                      </m:sub>
                      <m:sup>
                        <m:r>
                          <a:rPr lang="en-US" sz="1800" i="1" kern="100">
                            <a:effectLst/>
                            <a:latin typeface="Cambria Math" panose="02040503050406030204" pitchFamily="18" charset="0"/>
                            <a:ea typeface="Noto Serif CJK SC"/>
                            <a:cs typeface="Lohit Devanagari"/>
                          </a:rPr>
                          <m:t>(3)</m:t>
                        </m:r>
                      </m:sup>
                    </m:sSubSup>
                  </m:oMath>
                </a14:m>
                <a:r>
                  <a:rPr lang="en-US" sz="1800" kern="100" dirty="0">
                    <a:effectLst/>
                    <a:latin typeface="Liberation Serif"/>
                    <a:ea typeface="Noto Serif CJK SC"/>
                    <a:cs typeface="Lohit Devanagari"/>
                  </a:rPr>
                  <a:t> matrix must be made in the opposite direction of the gradient because the optimization goal is to minimize the squared error (Da Silva et al., 2017). </a:t>
                </a:r>
                <a:endParaRPr lang="en-KE" sz="1800" kern="100" dirty="0">
                  <a:effectLst/>
                  <a:latin typeface="Liberation Serif"/>
                  <a:ea typeface="Noto Serif CJK SC"/>
                  <a:cs typeface="Lohit Devanagari"/>
                </a:endParaRPr>
              </a:p>
            </p:txBody>
          </p:sp>
        </mc:Choice>
        <mc:Fallback>
          <p:sp>
            <p:nvSpPr>
              <p:cNvPr id="3" name="Content Placeholder 2">
                <a:extLst>
                  <a:ext uri="{FF2B5EF4-FFF2-40B4-BE49-F238E27FC236}">
                    <a16:creationId xmlns:a16="http://schemas.microsoft.com/office/drawing/2014/main" id="{CE4588C5-4904-939C-ECC5-FB05D061A3A6}"/>
                  </a:ext>
                </a:extLst>
              </p:cNvPr>
              <p:cNvSpPr>
                <a:spLocks noGrp="1" noRot="1" noChangeAspect="1" noMove="1" noResize="1" noEditPoints="1" noAdjustHandles="1" noChangeArrowheads="1" noChangeShapeType="1" noTextEdit="1"/>
              </p:cNvSpPr>
              <p:nvPr>
                <p:ph idx="1"/>
              </p:nvPr>
            </p:nvSpPr>
            <p:spPr>
              <a:xfrm>
                <a:off x="177800" y="1397000"/>
                <a:ext cx="11836400" cy="5461000"/>
              </a:xfrm>
              <a:blipFill>
                <a:blip r:embed="rId2"/>
                <a:stretch>
                  <a:fillRect l="-10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F7BBEB22-75F5-1A56-9953-B48ED5EFE020}"/>
              </a:ext>
            </a:extLst>
          </p:cNvPr>
          <p:cNvSpPr>
            <a:spLocks noGrp="1"/>
          </p:cNvSpPr>
          <p:nvPr>
            <p:ph type="sldNum" sz="quarter" idx="12"/>
          </p:nvPr>
        </p:nvSpPr>
        <p:spPr/>
        <p:txBody>
          <a:bodyPr/>
          <a:lstStyle/>
          <a:p>
            <a:fld id="{A755A77B-A17B-45F4-84E2-294C20E72625}" type="slidenum">
              <a:rPr lang="en-KE" smtClean="0"/>
              <a:t>21</a:t>
            </a:fld>
            <a:endParaRPr lang="en-KE"/>
          </a:p>
        </p:txBody>
      </p:sp>
    </p:spTree>
    <p:extLst>
      <p:ext uri="{BB962C8B-B14F-4D97-AF65-F5344CB8AC3E}">
        <p14:creationId xmlns:p14="http://schemas.microsoft.com/office/powerpoint/2010/main" val="22817163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45811-6274-2D9E-DB2E-A390BE3FDB6A}"/>
              </a:ext>
            </a:extLst>
          </p:cNvPr>
          <p:cNvSpPr>
            <a:spLocks noGrp="1"/>
          </p:cNvSpPr>
          <p:nvPr>
            <p:ph type="title"/>
          </p:nvPr>
        </p:nvSpPr>
        <p:spPr/>
        <p:txBody>
          <a:bodyPr/>
          <a:lstStyle/>
          <a:p>
            <a:endParaRPr lang="en-KE"/>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91B167A-C38B-8D24-DDC7-7BDB729D45A5}"/>
                  </a:ext>
                </a:extLst>
              </p:cNvPr>
              <p:cNvSpPr>
                <a:spLocks noGrp="1"/>
              </p:cNvSpPr>
              <p:nvPr>
                <p:ph idx="1"/>
              </p:nvPr>
            </p:nvSpPr>
            <p:spPr>
              <a:xfrm>
                <a:off x="317500" y="2052918"/>
                <a:ext cx="11734800" cy="4352364"/>
              </a:xfrm>
            </p:spPr>
            <p:txBody>
              <a:bodyPr>
                <a:normAutofit fontScale="62500" lnSpcReduction="20000"/>
              </a:bodyPr>
              <a:lstStyle/>
              <a:p>
                <a14:m>
                  <m:oMath xmlns:m="http://schemas.openxmlformats.org/officeDocument/2006/math">
                    <m:r>
                      <a:rPr lang="en-US" sz="2900" i="1" kern="100" smtClean="0">
                        <a:effectLst/>
                        <a:latin typeface="Cambria Math" panose="02040503050406030204" pitchFamily="18" charset="0"/>
                        <a:ea typeface="Noto Serif CJK SC"/>
                        <a:cs typeface="Lohit Devanagari"/>
                      </a:rPr>
                      <m:t>∆</m:t>
                    </m:r>
                    <m:sSubSup>
                      <m:sSubSupPr>
                        <m:ctrlPr>
                          <a:rPr lang="en-KE" sz="2900" i="1">
                            <a:effectLst/>
                            <a:latin typeface="Cambria Math" panose="02040503050406030204" pitchFamily="18" charset="0"/>
                          </a:rPr>
                        </m:ctrlPr>
                      </m:sSubSupPr>
                      <m:e>
                        <m:r>
                          <a:rPr lang="en-US" sz="2900" i="1" kern="100">
                            <a:effectLst/>
                            <a:latin typeface="Cambria Math" panose="02040503050406030204" pitchFamily="18" charset="0"/>
                            <a:ea typeface="Noto Serif CJK SC"/>
                            <a:cs typeface="Lohit Devanagari"/>
                          </a:rPr>
                          <m:t>𝑊</m:t>
                        </m:r>
                      </m:e>
                      <m:sub>
                        <m:r>
                          <a:rPr lang="en-US" sz="2900" i="1" kern="100">
                            <a:effectLst/>
                            <a:latin typeface="Cambria Math" panose="02040503050406030204" pitchFamily="18" charset="0"/>
                            <a:ea typeface="Noto Serif CJK SC"/>
                            <a:cs typeface="Lohit Devanagari"/>
                          </a:rPr>
                          <m:t>𝑗𝑖</m:t>
                        </m:r>
                      </m:sub>
                      <m:sup>
                        <m:d>
                          <m:dPr>
                            <m:ctrlPr>
                              <a:rPr lang="en-KE" sz="2900" i="1">
                                <a:effectLst/>
                                <a:latin typeface="Cambria Math" panose="02040503050406030204" pitchFamily="18" charset="0"/>
                              </a:rPr>
                            </m:ctrlPr>
                          </m:dPr>
                          <m:e>
                            <m:r>
                              <a:rPr lang="en-US" sz="2900" i="1" kern="100">
                                <a:effectLst/>
                                <a:latin typeface="Cambria Math" panose="02040503050406030204" pitchFamily="18" charset="0"/>
                                <a:ea typeface="Noto Serif CJK SC"/>
                                <a:cs typeface="Lohit Devanagari"/>
                              </a:rPr>
                              <m:t>3</m:t>
                            </m:r>
                          </m:e>
                        </m:d>
                      </m:sup>
                    </m:sSubSup>
                    <m:r>
                      <a:rPr lang="en-US" sz="2900" i="1" kern="100">
                        <a:effectLst/>
                        <a:latin typeface="Cambria Math" panose="02040503050406030204" pitchFamily="18" charset="0"/>
                        <a:ea typeface="Noto Serif CJK SC"/>
                        <a:cs typeface="Lohit Devanagari"/>
                      </a:rPr>
                      <m:t>= −ŋ ∗ </m:t>
                    </m:r>
                    <m:f>
                      <m:fPr>
                        <m:ctrlPr>
                          <a:rPr lang="en-KE" sz="2900" i="1">
                            <a:effectLst/>
                            <a:latin typeface="Cambria Math" panose="02040503050406030204" pitchFamily="18" charset="0"/>
                          </a:rPr>
                        </m:ctrlPr>
                      </m:fPr>
                      <m:num>
                        <m:r>
                          <a:rPr lang="en-US" sz="2900" i="1" kern="100">
                            <a:effectLst/>
                            <a:latin typeface="Cambria Math" panose="02040503050406030204" pitchFamily="18" charset="0"/>
                            <a:ea typeface="Noto Serif CJK SC"/>
                            <a:cs typeface="Lohit Devanagari"/>
                          </a:rPr>
                          <m:t>𝜕</m:t>
                        </m:r>
                        <m:r>
                          <a:rPr lang="en-US" sz="2900" i="1" kern="100">
                            <a:effectLst/>
                            <a:latin typeface="Cambria Math" panose="02040503050406030204" pitchFamily="18" charset="0"/>
                            <a:ea typeface="Noto Serif CJK SC"/>
                            <a:cs typeface="Lohit Devanagari"/>
                          </a:rPr>
                          <m:t>𝐸</m:t>
                        </m:r>
                      </m:num>
                      <m:den>
                        <m:r>
                          <a:rPr lang="en-US" sz="2900" i="1" kern="100">
                            <a:effectLst/>
                            <a:latin typeface="Cambria Math" panose="02040503050406030204" pitchFamily="18" charset="0"/>
                            <a:ea typeface="Noto Serif CJK SC"/>
                            <a:cs typeface="Lohit Devanagari"/>
                          </a:rPr>
                          <m:t>𝜕</m:t>
                        </m:r>
                        <m:sSubSup>
                          <m:sSubSupPr>
                            <m:ctrlPr>
                              <a:rPr lang="en-KE" sz="2900" i="1">
                                <a:effectLst/>
                                <a:latin typeface="Cambria Math" panose="02040503050406030204" pitchFamily="18" charset="0"/>
                              </a:rPr>
                            </m:ctrlPr>
                          </m:sSubSupPr>
                          <m:e>
                            <m:r>
                              <a:rPr lang="en-US" sz="2900" i="1" kern="100">
                                <a:effectLst/>
                                <a:latin typeface="Cambria Math" panose="02040503050406030204" pitchFamily="18" charset="0"/>
                                <a:ea typeface="Noto Serif CJK SC"/>
                                <a:cs typeface="Lohit Devanagari"/>
                              </a:rPr>
                              <m:t>𝑊</m:t>
                            </m:r>
                          </m:e>
                          <m:sub>
                            <m:r>
                              <a:rPr lang="en-US" sz="2900" i="1" kern="100">
                                <a:effectLst/>
                                <a:latin typeface="Cambria Math" panose="02040503050406030204" pitchFamily="18" charset="0"/>
                                <a:ea typeface="Noto Serif CJK SC"/>
                                <a:cs typeface="Lohit Devanagari"/>
                              </a:rPr>
                              <m:t>𝑗𝑖</m:t>
                            </m:r>
                          </m:sub>
                          <m:sup>
                            <m:d>
                              <m:dPr>
                                <m:ctrlPr>
                                  <a:rPr lang="en-KE" sz="2900" i="1">
                                    <a:effectLst/>
                                    <a:latin typeface="Cambria Math" panose="02040503050406030204" pitchFamily="18" charset="0"/>
                                  </a:rPr>
                                </m:ctrlPr>
                              </m:dPr>
                              <m:e>
                                <m:r>
                                  <a:rPr lang="en-US" sz="2900" i="1" kern="100">
                                    <a:effectLst/>
                                    <a:latin typeface="Cambria Math" panose="02040503050406030204" pitchFamily="18" charset="0"/>
                                    <a:ea typeface="Noto Serif CJK SC"/>
                                    <a:cs typeface="Lohit Devanagari"/>
                                  </a:rPr>
                                  <m:t>3</m:t>
                                </m:r>
                              </m:e>
                            </m:d>
                          </m:sup>
                        </m:sSubSup>
                      </m:den>
                    </m:f>
                  </m:oMath>
                </a14:m>
                <a:r>
                  <a:rPr lang="en-US" sz="2900" kern="100" dirty="0">
                    <a:effectLst/>
                    <a:latin typeface="Liberation Serif"/>
                    <a:ea typeface="Noto Serif CJK SC"/>
                    <a:cs typeface="Lohit Devanagari"/>
                  </a:rPr>
                  <a:t> </a:t>
                </a:r>
                <a14:m>
                  <m:oMath xmlns:m="http://schemas.openxmlformats.org/officeDocument/2006/math">
                    <m:r>
                      <a:rPr lang="en-US" sz="2900" i="1" kern="100">
                        <a:effectLst/>
                        <a:latin typeface="Cambria Math" panose="02040503050406030204" pitchFamily="18" charset="0"/>
                        <a:ea typeface="Noto Serif CJK SC"/>
                        <a:cs typeface="Lohit Devanagari"/>
                      </a:rPr>
                      <m:t>↔</m:t>
                    </m:r>
                  </m:oMath>
                </a14:m>
                <a:r>
                  <a:rPr lang="en-US" sz="2900" kern="100" dirty="0">
                    <a:effectLst/>
                    <a:latin typeface="Liberation Serif"/>
                    <a:ea typeface="Noto Serif CJK SC"/>
                    <a:cs typeface="Lohit Devanagari"/>
                  </a:rPr>
                  <a:t> </a:t>
                </a:r>
                <a14:m>
                  <m:oMath xmlns:m="http://schemas.openxmlformats.org/officeDocument/2006/math">
                    <m:r>
                      <a:rPr lang="en-US" sz="2900" i="1" kern="100">
                        <a:effectLst/>
                        <a:latin typeface="Cambria Math" panose="02040503050406030204" pitchFamily="18" charset="0"/>
                        <a:ea typeface="Noto Serif CJK SC"/>
                        <a:cs typeface="Lohit Devanagari"/>
                      </a:rPr>
                      <m:t>∆</m:t>
                    </m:r>
                    <m:sSubSup>
                      <m:sSubSupPr>
                        <m:ctrlPr>
                          <a:rPr lang="en-KE" sz="2900" i="1">
                            <a:effectLst/>
                            <a:latin typeface="Cambria Math" panose="02040503050406030204" pitchFamily="18" charset="0"/>
                          </a:rPr>
                        </m:ctrlPr>
                      </m:sSubSupPr>
                      <m:e>
                        <m:r>
                          <a:rPr lang="en-US" sz="2900" i="1" kern="100">
                            <a:effectLst/>
                            <a:latin typeface="Cambria Math" panose="02040503050406030204" pitchFamily="18" charset="0"/>
                            <a:ea typeface="Noto Serif CJK SC"/>
                            <a:cs typeface="Lohit Devanagari"/>
                          </a:rPr>
                          <m:t>𝑊</m:t>
                        </m:r>
                      </m:e>
                      <m:sub>
                        <m:r>
                          <a:rPr lang="en-US" sz="2900" i="1" kern="100">
                            <a:effectLst/>
                            <a:latin typeface="Cambria Math" panose="02040503050406030204" pitchFamily="18" charset="0"/>
                            <a:ea typeface="Noto Serif CJK SC"/>
                            <a:cs typeface="Lohit Devanagari"/>
                          </a:rPr>
                          <m:t>𝑗𝑖</m:t>
                        </m:r>
                      </m:sub>
                      <m:sup>
                        <m:d>
                          <m:dPr>
                            <m:ctrlPr>
                              <a:rPr lang="en-KE" sz="2900" i="1">
                                <a:effectLst/>
                                <a:latin typeface="Cambria Math" panose="02040503050406030204" pitchFamily="18" charset="0"/>
                              </a:rPr>
                            </m:ctrlPr>
                          </m:dPr>
                          <m:e>
                            <m:r>
                              <a:rPr lang="en-US" sz="2900" i="1" kern="100">
                                <a:effectLst/>
                                <a:latin typeface="Cambria Math" panose="02040503050406030204" pitchFamily="18" charset="0"/>
                                <a:ea typeface="Noto Serif CJK SC"/>
                                <a:cs typeface="Lohit Devanagari"/>
                              </a:rPr>
                              <m:t>3</m:t>
                            </m:r>
                          </m:e>
                        </m:d>
                      </m:sup>
                    </m:sSubSup>
                    <m:r>
                      <a:rPr lang="en-US" sz="2900" i="1" kern="100">
                        <a:effectLst/>
                        <a:latin typeface="Cambria Math" panose="02040503050406030204" pitchFamily="18" charset="0"/>
                        <a:ea typeface="Noto Serif CJK SC"/>
                        <a:cs typeface="Lohit Devanagari"/>
                      </a:rPr>
                      <m:t>=ŋ ∗ </m:t>
                    </m:r>
                    <m:sSubSup>
                      <m:sSubSupPr>
                        <m:ctrlPr>
                          <a:rPr lang="en-KE" sz="2900" i="1">
                            <a:effectLst/>
                            <a:latin typeface="Cambria Math" panose="02040503050406030204" pitchFamily="18" charset="0"/>
                          </a:rPr>
                        </m:ctrlPr>
                      </m:sSubSupPr>
                      <m:e>
                        <m:r>
                          <a:rPr lang="en-US" sz="2900" i="1" kern="100">
                            <a:effectLst/>
                            <a:latin typeface="Cambria Math" panose="02040503050406030204" pitchFamily="18" charset="0"/>
                            <a:ea typeface="Noto Serif CJK SC"/>
                            <a:cs typeface="Lohit Devanagari"/>
                          </a:rPr>
                          <m:t>𝛿</m:t>
                        </m:r>
                      </m:e>
                      <m:sub>
                        <m:r>
                          <a:rPr lang="en-US" sz="2900" i="1" kern="100">
                            <a:effectLst/>
                            <a:latin typeface="Cambria Math" panose="02040503050406030204" pitchFamily="18" charset="0"/>
                            <a:ea typeface="Noto Serif CJK SC"/>
                            <a:cs typeface="Lohit Devanagari"/>
                          </a:rPr>
                          <m:t>𝑗</m:t>
                        </m:r>
                      </m:sub>
                      <m:sup>
                        <m:d>
                          <m:dPr>
                            <m:ctrlPr>
                              <a:rPr lang="en-KE" sz="2900" i="1">
                                <a:effectLst/>
                                <a:latin typeface="Cambria Math" panose="02040503050406030204" pitchFamily="18" charset="0"/>
                              </a:rPr>
                            </m:ctrlPr>
                          </m:dPr>
                          <m:e>
                            <m:r>
                              <a:rPr lang="en-US" sz="2900" i="1" kern="100">
                                <a:effectLst/>
                                <a:latin typeface="Cambria Math" panose="02040503050406030204" pitchFamily="18" charset="0"/>
                                <a:ea typeface="Noto Serif CJK SC"/>
                                <a:cs typeface="Lohit Devanagari"/>
                              </a:rPr>
                              <m:t>3</m:t>
                            </m:r>
                          </m:e>
                        </m:d>
                      </m:sup>
                    </m:sSubSup>
                    <m:r>
                      <a:rPr lang="en-US" sz="2900" i="1" kern="100">
                        <a:effectLst/>
                        <a:latin typeface="Cambria Math" panose="02040503050406030204" pitchFamily="18" charset="0"/>
                        <a:ea typeface="Noto Serif CJK SC"/>
                        <a:cs typeface="Lohit Devanagari"/>
                      </a:rPr>
                      <m:t>∗ </m:t>
                    </m:r>
                    <m:sSubSup>
                      <m:sSubSupPr>
                        <m:ctrlPr>
                          <a:rPr lang="en-KE" sz="2900" i="1">
                            <a:effectLst/>
                            <a:latin typeface="Cambria Math" panose="02040503050406030204" pitchFamily="18" charset="0"/>
                          </a:rPr>
                        </m:ctrlPr>
                      </m:sSubSupPr>
                      <m:e>
                        <m:r>
                          <a:rPr lang="en-US" sz="2900" i="1" kern="100">
                            <a:effectLst/>
                            <a:latin typeface="Cambria Math" panose="02040503050406030204" pitchFamily="18" charset="0"/>
                            <a:ea typeface="Noto Serif CJK SC"/>
                            <a:cs typeface="Lohit Devanagari"/>
                          </a:rPr>
                          <m:t>𝑌</m:t>
                        </m:r>
                      </m:e>
                      <m:sub>
                        <m:r>
                          <a:rPr lang="en-US" sz="2900" i="1" kern="100">
                            <a:effectLst/>
                            <a:latin typeface="Cambria Math" panose="02040503050406030204" pitchFamily="18" charset="0"/>
                            <a:ea typeface="Noto Serif CJK SC"/>
                            <a:cs typeface="Lohit Devanagari"/>
                          </a:rPr>
                          <m:t>𝑖</m:t>
                        </m:r>
                      </m:sub>
                      <m:sup>
                        <m:d>
                          <m:dPr>
                            <m:ctrlPr>
                              <a:rPr lang="en-KE" sz="2900" i="1">
                                <a:effectLst/>
                                <a:latin typeface="Cambria Math" panose="02040503050406030204" pitchFamily="18" charset="0"/>
                              </a:rPr>
                            </m:ctrlPr>
                          </m:dPr>
                          <m:e>
                            <m:r>
                              <a:rPr lang="en-US" sz="2900" i="1" kern="100">
                                <a:effectLst/>
                                <a:latin typeface="Cambria Math" panose="02040503050406030204" pitchFamily="18" charset="0"/>
                                <a:ea typeface="Noto Serif CJK SC"/>
                                <a:cs typeface="Lohit Devanagari"/>
                              </a:rPr>
                              <m:t>2</m:t>
                            </m:r>
                          </m:e>
                        </m:d>
                      </m:sup>
                    </m:sSubSup>
                  </m:oMath>
                </a14:m>
                <a:r>
                  <a:rPr lang="en-US" sz="2900" kern="100" dirty="0">
                    <a:effectLst/>
                    <a:latin typeface="Liberation Serif"/>
                    <a:ea typeface="Noto Serif CJK SC"/>
                    <a:cs typeface="Lohit Devanagari"/>
                  </a:rPr>
                  <a:t>                                                                                                (14)</a:t>
                </a:r>
                <a:endParaRPr lang="en-US" sz="2900" kern="100" dirty="0">
                  <a:latin typeface="Liberation Serif"/>
                  <a:ea typeface="Noto Serif CJK SC"/>
                  <a:cs typeface="Lohit Devanagari"/>
                </a:endParaRPr>
              </a:p>
              <a:p>
                <a:r>
                  <a:rPr lang="en-US" sz="2900" kern="100" dirty="0">
                    <a:effectLst/>
                    <a:latin typeface="Liberation Serif"/>
                    <a:ea typeface="Noto Serif CJK SC"/>
                    <a:cs typeface="Lohit Devanagari"/>
                  </a:rPr>
                  <a:t>Equation </a:t>
                </a:r>
                <a:r>
                  <a:rPr lang="en-US" sz="2900" kern="100" dirty="0">
                    <a:latin typeface="Liberation Serif"/>
                    <a:ea typeface="Noto Serif CJK SC"/>
                    <a:cs typeface="Lohit Devanagari"/>
                  </a:rPr>
                  <a:t>14</a:t>
                </a:r>
                <a:r>
                  <a:rPr lang="en-US" sz="2900" kern="100" dirty="0">
                    <a:effectLst/>
                    <a:latin typeface="Liberation Serif"/>
                    <a:ea typeface="Noto Serif CJK SC"/>
                    <a:cs typeface="Lohit Devanagari"/>
                  </a:rPr>
                  <a:t> can also be written as    </a:t>
                </a:r>
                <a:r>
                  <a:rPr lang="en-KE" sz="2900" kern="100" dirty="0">
                    <a:effectLst/>
                    <a:latin typeface="Liberation Serif"/>
                    <a:ea typeface="Noto Serif CJK SC"/>
                    <a:cs typeface="Lohit Devanagari"/>
                  </a:rPr>
                  <a:t> </a:t>
                </a:r>
                <a14:m>
                  <m:oMath xmlns:m="http://schemas.openxmlformats.org/officeDocument/2006/math">
                    <m:sSubSup>
                      <m:sSubSupPr>
                        <m:ctrlPr>
                          <a:rPr lang="en-KE" sz="2900" i="1">
                            <a:effectLst/>
                            <a:latin typeface="Cambria Math" panose="02040503050406030204" pitchFamily="18" charset="0"/>
                          </a:rPr>
                        </m:ctrlPr>
                      </m:sSubSupPr>
                      <m:e>
                        <m:r>
                          <a:rPr lang="en-US" sz="2900" i="1" kern="100">
                            <a:effectLst/>
                            <a:latin typeface="Cambria Math" panose="02040503050406030204" pitchFamily="18" charset="0"/>
                            <a:ea typeface="Noto Serif CJK SC"/>
                            <a:cs typeface="Lohit Devanagari"/>
                          </a:rPr>
                          <m:t>𝑊</m:t>
                        </m:r>
                      </m:e>
                      <m:sub>
                        <m:r>
                          <a:rPr lang="en-US" sz="2900" i="1" kern="100">
                            <a:effectLst/>
                            <a:latin typeface="Cambria Math" panose="02040503050406030204" pitchFamily="18" charset="0"/>
                            <a:ea typeface="Noto Serif CJK SC"/>
                            <a:cs typeface="Lohit Devanagari"/>
                          </a:rPr>
                          <m:t>𝑗𝑖</m:t>
                        </m:r>
                      </m:sub>
                      <m:sup>
                        <m:r>
                          <a:rPr lang="en-US" sz="2900" i="1" kern="100">
                            <a:effectLst/>
                            <a:latin typeface="Cambria Math" panose="02040503050406030204" pitchFamily="18" charset="0"/>
                            <a:ea typeface="Noto Serif CJK SC"/>
                            <a:cs typeface="Lohit Devanagari"/>
                          </a:rPr>
                          <m:t>𝑐𝑢𝑟𝑟𝑒𝑛𝑡</m:t>
                        </m:r>
                      </m:sup>
                    </m:sSubSup>
                    <m:r>
                      <a:rPr lang="en-US" sz="2900" i="1" kern="100">
                        <a:effectLst/>
                        <a:latin typeface="Cambria Math" panose="02040503050406030204" pitchFamily="18" charset="0"/>
                        <a:ea typeface="Noto Serif CJK SC"/>
                        <a:cs typeface="Lohit Devanagari"/>
                      </a:rPr>
                      <m:t>= </m:t>
                    </m:r>
                    <m:sSubSup>
                      <m:sSubSupPr>
                        <m:ctrlPr>
                          <a:rPr lang="en-KE" sz="2900" i="1">
                            <a:effectLst/>
                            <a:latin typeface="Cambria Math" panose="02040503050406030204" pitchFamily="18" charset="0"/>
                          </a:rPr>
                        </m:ctrlPr>
                      </m:sSubSupPr>
                      <m:e>
                        <m:r>
                          <a:rPr lang="en-US" sz="2900" i="1" kern="100">
                            <a:effectLst/>
                            <a:latin typeface="Cambria Math" panose="02040503050406030204" pitchFamily="18" charset="0"/>
                            <a:ea typeface="Noto Serif CJK SC"/>
                            <a:cs typeface="Lohit Devanagari"/>
                          </a:rPr>
                          <m:t>𝑊</m:t>
                        </m:r>
                      </m:e>
                      <m:sub>
                        <m:r>
                          <a:rPr lang="en-US" sz="2900" i="1" kern="100">
                            <a:effectLst/>
                            <a:latin typeface="Cambria Math" panose="02040503050406030204" pitchFamily="18" charset="0"/>
                            <a:ea typeface="Noto Serif CJK SC"/>
                            <a:cs typeface="Lohit Devanagari"/>
                          </a:rPr>
                          <m:t>𝑗𝑖</m:t>
                        </m:r>
                      </m:sub>
                      <m:sup>
                        <m:r>
                          <a:rPr lang="en-US" sz="2900" i="1" kern="100">
                            <a:effectLst/>
                            <a:latin typeface="Cambria Math" panose="02040503050406030204" pitchFamily="18" charset="0"/>
                            <a:ea typeface="Noto Serif CJK SC"/>
                            <a:cs typeface="Lohit Devanagari"/>
                          </a:rPr>
                          <m:t>𝑝𝑟𝑒𝑣𝑖𝑜𝑢𝑠</m:t>
                        </m:r>
                      </m:sup>
                    </m:sSubSup>
                    <m:r>
                      <a:rPr lang="en-US" sz="2900" i="1" kern="100">
                        <a:effectLst/>
                        <a:latin typeface="Cambria Math" panose="02040503050406030204" pitchFamily="18" charset="0"/>
                        <a:ea typeface="Noto Serif CJK SC"/>
                        <a:cs typeface="Lohit Devanagari"/>
                      </a:rPr>
                      <m:t>+ ŋ ∗ </m:t>
                    </m:r>
                    <m:sSubSup>
                      <m:sSubSupPr>
                        <m:ctrlPr>
                          <a:rPr lang="en-KE" sz="2900" i="1">
                            <a:effectLst/>
                            <a:latin typeface="Cambria Math" panose="02040503050406030204" pitchFamily="18" charset="0"/>
                          </a:rPr>
                        </m:ctrlPr>
                      </m:sSubSupPr>
                      <m:e>
                        <m:r>
                          <a:rPr lang="en-US" sz="2900" i="1" kern="100">
                            <a:effectLst/>
                            <a:latin typeface="Cambria Math" panose="02040503050406030204" pitchFamily="18" charset="0"/>
                            <a:ea typeface="Noto Serif CJK SC"/>
                            <a:cs typeface="Lohit Devanagari"/>
                          </a:rPr>
                          <m:t>𝛿</m:t>
                        </m:r>
                      </m:e>
                      <m:sub>
                        <m:r>
                          <a:rPr lang="en-US" sz="2900" i="1" kern="100">
                            <a:effectLst/>
                            <a:latin typeface="Cambria Math" panose="02040503050406030204" pitchFamily="18" charset="0"/>
                            <a:ea typeface="Noto Serif CJK SC"/>
                            <a:cs typeface="Lohit Devanagari"/>
                          </a:rPr>
                          <m:t>𝑗</m:t>
                        </m:r>
                      </m:sub>
                      <m:sup>
                        <m:d>
                          <m:dPr>
                            <m:ctrlPr>
                              <a:rPr lang="en-KE" sz="2900" i="1">
                                <a:effectLst/>
                                <a:latin typeface="Cambria Math" panose="02040503050406030204" pitchFamily="18" charset="0"/>
                              </a:rPr>
                            </m:ctrlPr>
                          </m:dPr>
                          <m:e>
                            <m:r>
                              <a:rPr lang="en-US" sz="2900" i="1" kern="100">
                                <a:effectLst/>
                                <a:latin typeface="Cambria Math" panose="02040503050406030204" pitchFamily="18" charset="0"/>
                                <a:ea typeface="Noto Serif CJK SC"/>
                                <a:cs typeface="Lohit Devanagari"/>
                              </a:rPr>
                              <m:t>3</m:t>
                            </m:r>
                          </m:e>
                        </m:d>
                      </m:sup>
                    </m:sSubSup>
                    <m:r>
                      <a:rPr lang="en-US" sz="2900" i="1" kern="100">
                        <a:effectLst/>
                        <a:latin typeface="Cambria Math" panose="02040503050406030204" pitchFamily="18" charset="0"/>
                        <a:ea typeface="Noto Serif CJK SC"/>
                        <a:cs typeface="Lohit Devanagari"/>
                      </a:rPr>
                      <m:t>∗ </m:t>
                    </m:r>
                    <m:sSubSup>
                      <m:sSubSupPr>
                        <m:ctrlPr>
                          <a:rPr lang="en-KE" sz="2900" i="1">
                            <a:effectLst/>
                            <a:latin typeface="Cambria Math" panose="02040503050406030204" pitchFamily="18" charset="0"/>
                          </a:rPr>
                        </m:ctrlPr>
                      </m:sSubSupPr>
                      <m:e>
                        <m:r>
                          <a:rPr lang="en-US" sz="2900" i="1" kern="100">
                            <a:effectLst/>
                            <a:latin typeface="Cambria Math" panose="02040503050406030204" pitchFamily="18" charset="0"/>
                            <a:ea typeface="Noto Serif CJK SC"/>
                            <a:cs typeface="Lohit Devanagari"/>
                          </a:rPr>
                          <m:t>𝑌</m:t>
                        </m:r>
                      </m:e>
                      <m:sub>
                        <m:r>
                          <a:rPr lang="en-US" sz="2900" i="1" kern="100">
                            <a:effectLst/>
                            <a:latin typeface="Cambria Math" panose="02040503050406030204" pitchFamily="18" charset="0"/>
                            <a:ea typeface="Noto Serif CJK SC"/>
                            <a:cs typeface="Lohit Devanagari"/>
                          </a:rPr>
                          <m:t>𝑖</m:t>
                        </m:r>
                      </m:sub>
                      <m:sup>
                        <m:r>
                          <a:rPr lang="en-US" sz="2900" i="1" kern="100">
                            <a:effectLst/>
                            <a:latin typeface="Cambria Math" panose="02040503050406030204" pitchFamily="18" charset="0"/>
                            <a:ea typeface="Noto Serif CJK SC"/>
                            <a:cs typeface="Lohit Devanagari"/>
                          </a:rPr>
                          <m:t>(2)</m:t>
                        </m:r>
                      </m:sup>
                    </m:sSubSup>
                  </m:oMath>
                </a14:m>
                <a:endParaRPr lang="en-KE" sz="2900" kern="100" dirty="0">
                  <a:effectLst/>
                  <a:latin typeface="Liberation Serif"/>
                  <a:ea typeface="Noto Serif CJK SC"/>
                  <a:cs typeface="Lohit Devanagari"/>
                </a:endParaRPr>
              </a:p>
              <a:p>
                <a:pPr marL="0" indent="0">
                  <a:buNone/>
                </a:pPr>
                <a:endParaRPr lang="en-US" sz="2900" kern="100" dirty="0">
                  <a:effectLst/>
                  <a:latin typeface="Liberation Serif"/>
                  <a:ea typeface="Noto Serif CJK SC"/>
                  <a:cs typeface="Lohit Devanagari"/>
                </a:endParaRPr>
              </a:p>
              <a:p>
                <a:r>
                  <a:rPr lang="en-US" sz="2900" kern="100" dirty="0">
                    <a:effectLst/>
                    <a:latin typeface="Liberation Serif"/>
                    <a:ea typeface="Noto Serif CJK SC"/>
                    <a:cs typeface="Lohit Devanagari"/>
                  </a:rPr>
                  <a:t>In short, we have shown through equation </a:t>
                </a:r>
                <a:r>
                  <a:rPr lang="en-US" sz="2900" kern="100" dirty="0">
                    <a:latin typeface="Liberation Serif"/>
                    <a:ea typeface="Noto Serif CJK SC"/>
                    <a:cs typeface="Lohit Devanagari"/>
                  </a:rPr>
                  <a:t>14</a:t>
                </a:r>
                <a:r>
                  <a:rPr lang="en-US" sz="2900" kern="100" dirty="0">
                    <a:effectLst/>
                    <a:latin typeface="Liberation Serif"/>
                    <a:ea typeface="Noto Serif CJK SC"/>
                    <a:cs typeface="Lohit Devanagari"/>
                  </a:rPr>
                  <a:t> that the neuron adjusts weights of the output layer by considering the difference the observed values and the actual values.</a:t>
                </a:r>
              </a:p>
              <a:p>
                <a:r>
                  <a:rPr lang="en-US" sz="2900" kern="100" dirty="0">
                    <a:latin typeface="Liberation Serif"/>
                    <a:ea typeface="Noto Serif CJK SC"/>
                    <a:cs typeface="Lohit Devanagari"/>
                  </a:rPr>
                  <a:t>The same can be shown for weights in the intermediate layers</a:t>
                </a:r>
                <a:endParaRPr lang="en-KE" sz="2900" kern="100" dirty="0">
                  <a:effectLst/>
                  <a:latin typeface="Liberation Serif"/>
                  <a:ea typeface="Noto Serif CJK SC"/>
                  <a:cs typeface="Lohit Devanagari"/>
                </a:endParaRPr>
              </a:p>
              <a:p>
                <a:endParaRPr lang="en-KE" dirty="0"/>
              </a:p>
            </p:txBody>
          </p:sp>
        </mc:Choice>
        <mc:Fallback>
          <p:sp>
            <p:nvSpPr>
              <p:cNvPr id="3" name="Content Placeholder 2">
                <a:extLst>
                  <a:ext uri="{FF2B5EF4-FFF2-40B4-BE49-F238E27FC236}">
                    <a16:creationId xmlns:a16="http://schemas.microsoft.com/office/drawing/2014/main" id="{D91B167A-C38B-8D24-DDC7-7BDB729D45A5}"/>
                  </a:ext>
                </a:extLst>
              </p:cNvPr>
              <p:cNvSpPr>
                <a:spLocks noGrp="1" noRot="1" noChangeAspect="1" noMove="1" noResize="1" noEditPoints="1" noAdjustHandles="1" noChangeArrowheads="1" noChangeShapeType="1" noTextEdit="1"/>
              </p:cNvSpPr>
              <p:nvPr>
                <p:ph idx="1"/>
              </p:nvPr>
            </p:nvSpPr>
            <p:spPr>
              <a:xfrm>
                <a:off x="317500" y="2052918"/>
                <a:ext cx="11734800" cy="4352364"/>
              </a:xfrm>
              <a:blipFill>
                <a:blip r:embed="rId2"/>
                <a:stretch>
                  <a:fillRect l="-104" t="-112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D40BD89-D630-5DEA-1437-08B30C0CEC80}"/>
              </a:ext>
            </a:extLst>
          </p:cNvPr>
          <p:cNvSpPr>
            <a:spLocks noGrp="1"/>
          </p:cNvSpPr>
          <p:nvPr>
            <p:ph type="sldNum" sz="quarter" idx="12"/>
          </p:nvPr>
        </p:nvSpPr>
        <p:spPr/>
        <p:txBody>
          <a:bodyPr/>
          <a:lstStyle/>
          <a:p>
            <a:fld id="{A755A77B-A17B-45F4-84E2-294C20E72625}" type="slidenum">
              <a:rPr lang="en-KE" smtClean="0"/>
              <a:t>22</a:t>
            </a:fld>
            <a:endParaRPr lang="en-KE"/>
          </a:p>
        </p:txBody>
      </p:sp>
    </p:spTree>
    <p:extLst>
      <p:ext uri="{BB962C8B-B14F-4D97-AF65-F5344CB8AC3E}">
        <p14:creationId xmlns:p14="http://schemas.microsoft.com/office/powerpoint/2010/main" val="1773710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35686-3776-7350-5476-43DBE364BEEA}"/>
              </a:ext>
            </a:extLst>
          </p:cNvPr>
          <p:cNvSpPr>
            <a:spLocks noGrp="1"/>
          </p:cNvSpPr>
          <p:nvPr>
            <p:ph type="title"/>
          </p:nvPr>
        </p:nvSpPr>
        <p:spPr>
          <a:xfrm>
            <a:off x="254001" y="452718"/>
            <a:ext cx="10098539" cy="1400530"/>
          </a:xfrm>
        </p:spPr>
        <p:txBody>
          <a:bodyPr/>
          <a:lstStyle/>
          <a:p>
            <a:r>
              <a:rPr lang="en-US" dirty="0"/>
              <a:t>Convolution Neural Network Architecture</a:t>
            </a:r>
            <a:endParaRPr lang="en-KE" dirty="0"/>
          </a:p>
        </p:txBody>
      </p:sp>
      <p:pic>
        <p:nvPicPr>
          <p:cNvPr id="7" name="Content Placeholder 6">
            <a:extLst>
              <a:ext uri="{FF2B5EF4-FFF2-40B4-BE49-F238E27FC236}">
                <a16:creationId xmlns:a16="http://schemas.microsoft.com/office/drawing/2014/main" id="{F0F2343A-6F9F-974C-5456-D21EACD7549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740835" y="2626982"/>
            <a:ext cx="4257143" cy="2428571"/>
          </a:xfrm>
        </p:spPr>
      </p:pic>
      <p:sp>
        <p:nvSpPr>
          <p:cNvPr id="4" name="Content Placeholder 3">
            <a:extLst>
              <a:ext uri="{FF2B5EF4-FFF2-40B4-BE49-F238E27FC236}">
                <a16:creationId xmlns:a16="http://schemas.microsoft.com/office/drawing/2014/main" id="{66E06E81-309C-C776-EC01-94AE0B33F0B7}"/>
              </a:ext>
            </a:extLst>
          </p:cNvPr>
          <p:cNvSpPr>
            <a:spLocks noGrp="1"/>
          </p:cNvSpPr>
          <p:nvPr>
            <p:ph sz="half" idx="2"/>
          </p:nvPr>
        </p:nvSpPr>
        <p:spPr>
          <a:xfrm>
            <a:off x="5733151" y="2626982"/>
            <a:ext cx="5796672" cy="2565069"/>
          </a:xfrm>
        </p:spPr>
        <p:txBody>
          <a:bodyPr/>
          <a:lstStyle/>
          <a:p>
            <a:r>
              <a:rPr lang="en-US" sz="1800" kern="100" dirty="0">
                <a:effectLst/>
                <a:latin typeface="Times New Roman" panose="02020603050405020304" pitchFamily="18" charset="0"/>
                <a:ea typeface="Noto Serif CJK SC"/>
              </a:rPr>
              <a:t>Convolution neural networks rely on their architecture to make predictions from inputs. This architecture can be divided into feature extraction and model prediction. The feature extraction phase relies on techniques such as filtering, the stride, padding, pooling and flattening. In order to explain how each of these techniques contributes to the architecture of the neural network we shall rely on the image shown in figure 3 alongside</a:t>
            </a:r>
            <a:endParaRPr lang="en-KE" dirty="0"/>
          </a:p>
        </p:txBody>
      </p:sp>
      <p:sp>
        <p:nvSpPr>
          <p:cNvPr id="5" name="Slide Number Placeholder 4">
            <a:extLst>
              <a:ext uri="{FF2B5EF4-FFF2-40B4-BE49-F238E27FC236}">
                <a16:creationId xmlns:a16="http://schemas.microsoft.com/office/drawing/2014/main" id="{715F22BC-6F2B-8C91-B474-92391AFE4F4B}"/>
              </a:ext>
            </a:extLst>
          </p:cNvPr>
          <p:cNvSpPr>
            <a:spLocks noGrp="1"/>
          </p:cNvSpPr>
          <p:nvPr>
            <p:ph type="sldNum" sz="quarter" idx="12"/>
          </p:nvPr>
        </p:nvSpPr>
        <p:spPr/>
        <p:txBody>
          <a:bodyPr/>
          <a:lstStyle/>
          <a:p>
            <a:fld id="{A755A77B-A17B-45F4-84E2-294C20E72625}" type="slidenum">
              <a:rPr lang="en-KE" smtClean="0"/>
              <a:t>23</a:t>
            </a:fld>
            <a:endParaRPr lang="en-KE"/>
          </a:p>
        </p:txBody>
      </p:sp>
      <p:sp>
        <p:nvSpPr>
          <p:cNvPr id="8" name="TextBox 7">
            <a:extLst>
              <a:ext uri="{FF2B5EF4-FFF2-40B4-BE49-F238E27FC236}">
                <a16:creationId xmlns:a16="http://schemas.microsoft.com/office/drawing/2014/main" id="{0216C36F-70D9-3CEF-E1CE-230A2B83EF09}"/>
              </a:ext>
            </a:extLst>
          </p:cNvPr>
          <p:cNvSpPr txBox="1"/>
          <p:nvPr/>
        </p:nvSpPr>
        <p:spPr>
          <a:xfrm>
            <a:off x="1817515" y="5192051"/>
            <a:ext cx="1051891" cy="369332"/>
          </a:xfrm>
          <a:prstGeom prst="rect">
            <a:avLst/>
          </a:prstGeom>
          <a:noFill/>
        </p:spPr>
        <p:txBody>
          <a:bodyPr wrap="none" rtlCol="0">
            <a:spAutoFit/>
          </a:bodyPr>
          <a:lstStyle/>
          <a:p>
            <a:r>
              <a:rPr lang="en-US" dirty="0"/>
              <a:t>Figure 3</a:t>
            </a:r>
            <a:endParaRPr lang="en-KE" dirty="0"/>
          </a:p>
        </p:txBody>
      </p:sp>
    </p:spTree>
    <p:extLst>
      <p:ext uri="{BB962C8B-B14F-4D97-AF65-F5344CB8AC3E}">
        <p14:creationId xmlns:p14="http://schemas.microsoft.com/office/powerpoint/2010/main" val="23681457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9AE70-5BA0-65F5-A197-5C30F7027B64}"/>
              </a:ext>
            </a:extLst>
          </p:cNvPr>
          <p:cNvSpPr>
            <a:spLocks noGrp="1"/>
          </p:cNvSpPr>
          <p:nvPr>
            <p:ph type="title"/>
          </p:nvPr>
        </p:nvSpPr>
        <p:spPr/>
        <p:txBody>
          <a:bodyPr/>
          <a:lstStyle/>
          <a:p>
            <a:r>
              <a:rPr lang="en-US" dirty="0"/>
              <a:t>Filtering in Convolution Neural Networks</a:t>
            </a:r>
            <a:endParaRPr lang="en-KE" dirty="0"/>
          </a:p>
        </p:txBody>
      </p:sp>
      <p:pic>
        <p:nvPicPr>
          <p:cNvPr id="8" name="Content Placeholder 7">
            <a:extLst>
              <a:ext uri="{FF2B5EF4-FFF2-40B4-BE49-F238E27FC236}">
                <a16:creationId xmlns:a16="http://schemas.microsoft.com/office/drawing/2014/main" id="{7B2FC91E-0457-5B5C-446F-553C2A7BB99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12800" y="2755900"/>
            <a:ext cx="1964797" cy="2071185"/>
          </a:xfrm>
        </p:spPr>
      </p:pic>
      <p:sp>
        <p:nvSpPr>
          <p:cNvPr id="4" name="Content Placeholder 3">
            <a:extLst>
              <a:ext uri="{FF2B5EF4-FFF2-40B4-BE49-F238E27FC236}">
                <a16:creationId xmlns:a16="http://schemas.microsoft.com/office/drawing/2014/main" id="{57E971C4-2521-D690-D99B-F712A134D678}"/>
              </a:ext>
            </a:extLst>
          </p:cNvPr>
          <p:cNvSpPr>
            <a:spLocks noGrp="1"/>
          </p:cNvSpPr>
          <p:nvPr>
            <p:ph sz="half" idx="2"/>
          </p:nvPr>
        </p:nvSpPr>
        <p:spPr>
          <a:xfrm>
            <a:off x="3314700" y="2056092"/>
            <a:ext cx="8572499" cy="4598708"/>
          </a:xfrm>
        </p:spPr>
        <p:txBody>
          <a:bodyPr/>
          <a:lstStyle/>
          <a:p>
            <a:r>
              <a:rPr lang="en-US" sz="1800" kern="100" dirty="0">
                <a:effectLst/>
                <a:latin typeface="Times New Roman" panose="02020603050405020304" pitchFamily="18" charset="0"/>
                <a:ea typeface="Noto Serif CJK SC"/>
              </a:rPr>
              <a:t>The kernel in figure 3 above slides from R1 to row R3 and from column C1 to column C3 and multiplies the resulting matrix with the kernel. In this case, the result of the dot multiplication is 12. It then slides over and beginning form row R2 to row R4 and column C1 to column C3. The result of this dot multiplication is also 12. The last filter happens from row R3 to row R5 and column C1 to column C3. The result from this dot multiplication is 17.</a:t>
            </a:r>
          </a:p>
          <a:p>
            <a:r>
              <a:rPr lang="en-US" sz="1800" kern="100" dirty="0">
                <a:effectLst/>
                <a:latin typeface="Times New Roman" panose="02020603050405020304" pitchFamily="18" charset="0"/>
                <a:ea typeface="Noto Serif CJK SC"/>
              </a:rPr>
              <a:t> The kernel then moves one column downwards and takes a 3 by 3 matrix from row R1 column C2 to row R3 column C4 and multiplies itself with this matrix to give 10. Holding the same columns, the kernel slides from row R2 to row R4 and multiplies the resulting matrix with itself to give 17. </a:t>
            </a:r>
          </a:p>
          <a:p>
            <a:r>
              <a:rPr lang="en-US" sz="1800" kern="100" dirty="0">
                <a:effectLst/>
                <a:latin typeface="Times New Roman" panose="02020603050405020304" pitchFamily="18" charset="0"/>
                <a:ea typeface="Noto Serif CJK SC"/>
              </a:rPr>
              <a:t> It then slides from row R3 to R5 and multiplies the resulting matrix with itself to give 19. The procedure is through rows R1 to R5 and columns C3 to C5 to give 9, 6 and 14 as the results. The results are combined into what is called the feature map and is shown in the figure 4 alongside</a:t>
            </a:r>
          </a:p>
          <a:p>
            <a:endParaRPr lang="en-KE" dirty="0"/>
          </a:p>
        </p:txBody>
      </p:sp>
      <p:sp>
        <p:nvSpPr>
          <p:cNvPr id="5" name="Slide Number Placeholder 4">
            <a:extLst>
              <a:ext uri="{FF2B5EF4-FFF2-40B4-BE49-F238E27FC236}">
                <a16:creationId xmlns:a16="http://schemas.microsoft.com/office/drawing/2014/main" id="{DF3D53F6-F27D-865D-A4F9-D0D5AA1462BC}"/>
              </a:ext>
            </a:extLst>
          </p:cNvPr>
          <p:cNvSpPr>
            <a:spLocks noGrp="1"/>
          </p:cNvSpPr>
          <p:nvPr>
            <p:ph type="sldNum" sz="quarter" idx="12"/>
          </p:nvPr>
        </p:nvSpPr>
        <p:spPr/>
        <p:txBody>
          <a:bodyPr/>
          <a:lstStyle/>
          <a:p>
            <a:fld id="{A755A77B-A17B-45F4-84E2-294C20E72625}" type="slidenum">
              <a:rPr lang="en-KE" smtClean="0"/>
              <a:t>24</a:t>
            </a:fld>
            <a:endParaRPr lang="en-KE"/>
          </a:p>
        </p:txBody>
      </p:sp>
      <p:sp>
        <p:nvSpPr>
          <p:cNvPr id="9" name="TextBox 8">
            <a:extLst>
              <a:ext uri="{FF2B5EF4-FFF2-40B4-BE49-F238E27FC236}">
                <a16:creationId xmlns:a16="http://schemas.microsoft.com/office/drawing/2014/main" id="{0BB23739-6CF2-2FD3-F761-7BF5773DCA83}"/>
              </a:ext>
            </a:extLst>
          </p:cNvPr>
          <p:cNvSpPr txBox="1"/>
          <p:nvPr/>
        </p:nvSpPr>
        <p:spPr>
          <a:xfrm>
            <a:off x="457200" y="5448300"/>
            <a:ext cx="1051891" cy="369332"/>
          </a:xfrm>
          <a:prstGeom prst="rect">
            <a:avLst/>
          </a:prstGeom>
          <a:noFill/>
        </p:spPr>
        <p:txBody>
          <a:bodyPr wrap="none" rtlCol="0">
            <a:spAutoFit/>
          </a:bodyPr>
          <a:lstStyle/>
          <a:p>
            <a:r>
              <a:rPr lang="en-US" dirty="0"/>
              <a:t>Figure 4</a:t>
            </a:r>
            <a:endParaRPr lang="en-KE" dirty="0"/>
          </a:p>
        </p:txBody>
      </p:sp>
    </p:spTree>
    <p:extLst>
      <p:ext uri="{BB962C8B-B14F-4D97-AF65-F5344CB8AC3E}">
        <p14:creationId xmlns:p14="http://schemas.microsoft.com/office/powerpoint/2010/main" val="5197432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11A37-06A9-231F-CDCC-E7B36E9CF1C0}"/>
              </a:ext>
            </a:extLst>
          </p:cNvPr>
          <p:cNvSpPr>
            <a:spLocks noGrp="1"/>
          </p:cNvSpPr>
          <p:nvPr>
            <p:ph type="title"/>
          </p:nvPr>
        </p:nvSpPr>
        <p:spPr>
          <a:xfrm>
            <a:off x="177801" y="452718"/>
            <a:ext cx="9873034" cy="1400530"/>
          </a:xfrm>
        </p:spPr>
        <p:txBody>
          <a:bodyPr/>
          <a:lstStyle/>
          <a:p>
            <a:r>
              <a:rPr lang="en-US" dirty="0"/>
              <a:t>Strides in Convolution Neural Network</a:t>
            </a:r>
            <a:endParaRPr lang="en-KE" dirty="0"/>
          </a:p>
        </p:txBody>
      </p:sp>
      <p:pic>
        <p:nvPicPr>
          <p:cNvPr id="7" name="Content Placeholder 6">
            <a:extLst>
              <a:ext uri="{FF2B5EF4-FFF2-40B4-BE49-F238E27FC236}">
                <a16:creationId xmlns:a16="http://schemas.microsoft.com/office/drawing/2014/main" id="{38C96010-1DBC-D251-FF5B-AAE53A1E245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35000" y="2715334"/>
            <a:ext cx="2021749" cy="1920166"/>
          </a:xfrm>
        </p:spPr>
      </p:pic>
      <p:sp>
        <p:nvSpPr>
          <p:cNvPr id="4" name="Content Placeholder 3">
            <a:extLst>
              <a:ext uri="{FF2B5EF4-FFF2-40B4-BE49-F238E27FC236}">
                <a16:creationId xmlns:a16="http://schemas.microsoft.com/office/drawing/2014/main" id="{72F36F3A-AD05-8005-0693-32663EDF965D}"/>
              </a:ext>
            </a:extLst>
          </p:cNvPr>
          <p:cNvSpPr>
            <a:spLocks noGrp="1"/>
          </p:cNvSpPr>
          <p:nvPr>
            <p:ph sz="half" idx="2"/>
          </p:nvPr>
        </p:nvSpPr>
        <p:spPr>
          <a:xfrm>
            <a:off x="3124200" y="1219200"/>
            <a:ext cx="8648699" cy="5448300"/>
          </a:xfrm>
        </p:spPr>
        <p:txBody>
          <a:bodyPr/>
          <a:lstStyle/>
          <a:p>
            <a:r>
              <a:rPr lang="en-US" sz="1800" kern="100" dirty="0">
                <a:effectLst/>
                <a:latin typeface="Liberation Serif"/>
                <a:ea typeface="Noto Serif CJK SC"/>
                <a:cs typeface="Lohit Devanagari"/>
              </a:rPr>
              <a:t>A stride in convolution neural networks could be defined as a step used by the filter(kernel) to slide over the input image. A stride of 1 means that the filter moves one pixel at a time, while a stride of 2 means it moves two pixels at a time.</a:t>
            </a:r>
          </a:p>
          <a:p>
            <a:r>
              <a:rPr lang="en-US" sz="1800" kern="100" dirty="0">
                <a:effectLst/>
                <a:latin typeface="Liberation Serif"/>
                <a:ea typeface="Noto Serif CJK SC"/>
                <a:cs typeface="Lohit Devanagari"/>
              </a:rPr>
              <a:t>Let us take the sample matrix and kernel in figure 3 above into consideration (assuming that we have a stride of 1) and use it to explain how strides are used in convolution neural networks.</a:t>
            </a:r>
          </a:p>
          <a:p>
            <a:r>
              <a:rPr lang="en-US" sz="1800" kern="100" dirty="0">
                <a:effectLst/>
                <a:latin typeface="Liberation Serif"/>
                <a:ea typeface="Noto Serif CJK SC"/>
                <a:cs typeface="Lohit Devanagari"/>
              </a:rPr>
              <a:t> The filter will begin in the same position as the filtering process i.e. </a:t>
            </a:r>
            <a:r>
              <a:rPr lang="en-US" sz="1800" kern="100" dirty="0">
                <a:effectLst/>
                <a:latin typeface="Times New Roman" panose="02020603050405020304" pitchFamily="18" charset="0"/>
                <a:ea typeface="Noto Serif CJK SC"/>
                <a:cs typeface="Lohit Devanagari"/>
              </a:rPr>
              <a:t>from R1 to row R3 and from column C1 to column C3 and multiplies the resulting matrix with the kernel.</a:t>
            </a:r>
          </a:p>
          <a:p>
            <a:r>
              <a:rPr lang="en-US" sz="1800" kern="100" dirty="0">
                <a:effectLst/>
                <a:latin typeface="Times New Roman" panose="02020603050405020304" pitchFamily="18" charset="0"/>
                <a:ea typeface="Noto Serif CJK SC"/>
                <a:cs typeface="Lohit Devanagari"/>
              </a:rPr>
              <a:t> In this case, the result of the dot multiplication is 12. It will then move one pixel to the right and begin filtering from row R3 to row R5 and column C1 to column C3. The result from this dot multiplication is 17.</a:t>
            </a:r>
          </a:p>
          <a:p>
            <a:r>
              <a:rPr lang="en-US" sz="1800" kern="100" dirty="0">
                <a:effectLst/>
                <a:latin typeface="Times New Roman" panose="02020603050405020304" pitchFamily="18" charset="0"/>
                <a:ea typeface="Noto Serif CJK SC"/>
                <a:cs typeface="Lohit Devanagari"/>
              </a:rPr>
              <a:t> Moving downwards the stride will skip one pixel downwards and begin the filtering process from column C3 to column C5 to give 9 as the result. It will then skip one row and begin filtering from row R3 column C3 which will give 14 as the result.</a:t>
            </a:r>
          </a:p>
          <a:p>
            <a:r>
              <a:rPr lang="en-US" sz="1800" kern="100" dirty="0">
                <a:effectLst/>
                <a:latin typeface="Times New Roman" panose="02020603050405020304" pitchFamily="18" charset="0"/>
                <a:ea typeface="Noto Serif CJK SC"/>
                <a:cs typeface="Lohit Devanagari"/>
              </a:rPr>
              <a:t> In short, the matrix and kernel in figure 4 and a stride of 1 will produce a feature map shown in figure 5 alongside.</a:t>
            </a:r>
            <a:endParaRPr lang="en-KE" sz="1800" kern="100" dirty="0">
              <a:effectLst/>
              <a:latin typeface="Liberation Serif"/>
              <a:ea typeface="Noto Serif CJK SC"/>
              <a:cs typeface="Lohit Devanagari"/>
            </a:endParaRPr>
          </a:p>
          <a:p>
            <a:endParaRPr lang="en-KE" dirty="0"/>
          </a:p>
        </p:txBody>
      </p:sp>
      <p:sp>
        <p:nvSpPr>
          <p:cNvPr id="5" name="Slide Number Placeholder 4">
            <a:extLst>
              <a:ext uri="{FF2B5EF4-FFF2-40B4-BE49-F238E27FC236}">
                <a16:creationId xmlns:a16="http://schemas.microsoft.com/office/drawing/2014/main" id="{5A2F806D-1C0E-6558-F3DE-DACFB4F65427}"/>
              </a:ext>
            </a:extLst>
          </p:cNvPr>
          <p:cNvSpPr>
            <a:spLocks noGrp="1"/>
          </p:cNvSpPr>
          <p:nvPr>
            <p:ph type="sldNum" sz="quarter" idx="12"/>
          </p:nvPr>
        </p:nvSpPr>
        <p:spPr/>
        <p:txBody>
          <a:bodyPr/>
          <a:lstStyle/>
          <a:p>
            <a:fld id="{A755A77B-A17B-45F4-84E2-294C20E72625}" type="slidenum">
              <a:rPr lang="en-KE" smtClean="0"/>
              <a:t>25</a:t>
            </a:fld>
            <a:endParaRPr lang="en-KE"/>
          </a:p>
        </p:txBody>
      </p:sp>
      <p:sp>
        <p:nvSpPr>
          <p:cNvPr id="8" name="TextBox 7">
            <a:extLst>
              <a:ext uri="{FF2B5EF4-FFF2-40B4-BE49-F238E27FC236}">
                <a16:creationId xmlns:a16="http://schemas.microsoft.com/office/drawing/2014/main" id="{137E4D97-762D-8EE6-7652-9C5731671A28}"/>
              </a:ext>
            </a:extLst>
          </p:cNvPr>
          <p:cNvSpPr txBox="1"/>
          <p:nvPr/>
        </p:nvSpPr>
        <p:spPr>
          <a:xfrm>
            <a:off x="635000" y="5295900"/>
            <a:ext cx="1051891" cy="369332"/>
          </a:xfrm>
          <a:prstGeom prst="rect">
            <a:avLst/>
          </a:prstGeom>
          <a:noFill/>
        </p:spPr>
        <p:txBody>
          <a:bodyPr wrap="none" rtlCol="0">
            <a:spAutoFit/>
          </a:bodyPr>
          <a:lstStyle/>
          <a:p>
            <a:r>
              <a:rPr lang="en-US" dirty="0"/>
              <a:t>Figure 5</a:t>
            </a:r>
            <a:endParaRPr lang="en-KE" dirty="0"/>
          </a:p>
        </p:txBody>
      </p:sp>
    </p:spTree>
    <p:extLst>
      <p:ext uri="{BB962C8B-B14F-4D97-AF65-F5344CB8AC3E}">
        <p14:creationId xmlns:p14="http://schemas.microsoft.com/office/powerpoint/2010/main" val="2381803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4AB6E-C6AD-2910-62CA-7C25425AAAA4}"/>
              </a:ext>
            </a:extLst>
          </p:cNvPr>
          <p:cNvSpPr>
            <a:spLocks noGrp="1"/>
          </p:cNvSpPr>
          <p:nvPr>
            <p:ph type="title"/>
          </p:nvPr>
        </p:nvSpPr>
        <p:spPr/>
        <p:txBody>
          <a:bodyPr/>
          <a:lstStyle/>
          <a:p>
            <a:r>
              <a:rPr lang="en-US" dirty="0"/>
              <a:t>Padding in Convolution Neural Networks</a:t>
            </a:r>
            <a:endParaRPr lang="en-KE" dirty="0"/>
          </a:p>
        </p:txBody>
      </p:sp>
      <p:pic>
        <p:nvPicPr>
          <p:cNvPr id="7" name="Content Placeholder 6">
            <a:extLst>
              <a:ext uri="{FF2B5EF4-FFF2-40B4-BE49-F238E27FC236}">
                <a16:creationId xmlns:a16="http://schemas.microsoft.com/office/drawing/2014/main" id="{478D0871-8BDC-6CAE-2B5F-990BA6E2230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201613" y="2932069"/>
            <a:ext cx="4395787" cy="2452774"/>
          </a:xfrm>
        </p:spPr>
      </p:pic>
      <p:sp>
        <p:nvSpPr>
          <p:cNvPr id="4" name="Content Placeholder 3">
            <a:extLst>
              <a:ext uri="{FF2B5EF4-FFF2-40B4-BE49-F238E27FC236}">
                <a16:creationId xmlns:a16="http://schemas.microsoft.com/office/drawing/2014/main" id="{5310ABAA-E850-D1AC-7B92-6929A11EBF4B}"/>
              </a:ext>
            </a:extLst>
          </p:cNvPr>
          <p:cNvSpPr>
            <a:spLocks noGrp="1"/>
          </p:cNvSpPr>
          <p:nvPr>
            <p:ph sz="half" idx="2"/>
          </p:nvPr>
        </p:nvSpPr>
        <p:spPr>
          <a:xfrm>
            <a:off x="4597401" y="1473200"/>
            <a:ext cx="7392986" cy="5384800"/>
          </a:xfrm>
        </p:spPr>
        <p:txBody>
          <a:bodyPr>
            <a:normAutofit/>
          </a:bodyPr>
          <a:lstStyle/>
          <a:p>
            <a:r>
              <a:rPr lang="en-US" sz="2000" kern="100" dirty="0">
                <a:latin typeface="Times New Roman" panose="02020603050405020304" pitchFamily="18" charset="0"/>
                <a:ea typeface="Noto Serif CJK SC"/>
              </a:rPr>
              <a:t>I</a:t>
            </a:r>
            <a:r>
              <a:rPr lang="en-KE" sz="2000" kern="100" dirty="0">
                <a:effectLst/>
                <a:latin typeface="Times New Roman" panose="02020603050405020304" pitchFamily="18" charset="0"/>
                <a:ea typeface="Noto Serif CJK SC"/>
              </a:rPr>
              <a:t>t is important to demonstrate how padding: -specifically zero padding, is used in convolution neural networks. This owes to the fact that the paper will create a facial recognition model with zero padding and no padding in order to investigate the effect of padding in facial recognition.</a:t>
            </a:r>
            <a:endParaRPr lang="en-US" sz="2000" kern="100" dirty="0">
              <a:effectLst/>
              <a:latin typeface="Times New Roman" panose="02020603050405020304" pitchFamily="18" charset="0"/>
              <a:ea typeface="Noto Serif CJK SC"/>
            </a:endParaRPr>
          </a:p>
          <a:p>
            <a:r>
              <a:rPr lang="en-KE" sz="2000" kern="100" dirty="0">
                <a:effectLst/>
                <a:latin typeface="Times New Roman" panose="02020603050405020304" pitchFamily="18" charset="0"/>
                <a:ea typeface="Noto Serif CJK SC"/>
              </a:rPr>
              <a:t> Zero padding in </a:t>
            </a:r>
            <a:r>
              <a:rPr lang="en-KE" sz="2000" kern="100" dirty="0" err="1">
                <a:effectLst/>
                <a:latin typeface="Times New Roman" panose="02020603050405020304" pitchFamily="18" charset="0"/>
                <a:ea typeface="Noto Serif CJK SC"/>
              </a:rPr>
              <a:t>CNNs</a:t>
            </a:r>
            <a:r>
              <a:rPr lang="en-KE" sz="2000" kern="100" dirty="0">
                <a:effectLst/>
                <a:latin typeface="Times New Roman" panose="02020603050405020304" pitchFamily="18" charset="0"/>
                <a:ea typeface="Noto Serif CJK SC"/>
              </a:rPr>
              <a:t> is achieved by adding zeros around an input image before filtering is applied to the resulting matrix in order to create a feature map. Consider the </a:t>
            </a:r>
            <a:r>
              <a:rPr lang="en-US" sz="2000" kern="100" dirty="0">
                <a:effectLst/>
                <a:latin typeface="Times New Roman" panose="02020603050405020304" pitchFamily="18" charset="0"/>
                <a:ea typeface="Noto Serif CJK SC"/>
              </a:rPr>
              <a:t>sample matrix in the figure 3 above</a:t>
            </a:r>
            <a:r>
              <a:rPr lang="en-KE" sz="2000" kern="100" dirty="0">
                <a:effectLst/>
                <a:latin typeface="Times New Roman" panose="02020603050405020304" pitchFamily="18" charset="0"/>
                <a:ea typeface="Noto Serif CJK SC"/>
              </a:rPr>
              <a:t>, adding zeros around the matrix produces the matrix (a) in figure </a:t>
            </a:r>
            <a:r>
              <a:rPr lang="en-US" sz="2000" kern="100" dirty="0">
                <a:effectLst/>
                <a:latin typeface="Times New Roman" panose="02020603050405020304" pitchFamily="18" charset="0"/>
                <a:ea typeface="Noto Serif CJK SC"/>
              </a:rPr>
              <a:t>6 alongside</a:t>
            </a:r>
            <a:r>
              <a:rPr lang="en-KE" sz="2000" kern="100" dirty="0">
                <a:effectLst/>
                <a:latin typeface="Times New Roman" panose="02020603050405020304" pitchFamily="18" charset="0"/>
                <a:ea typeface="Noto Serif CJK SC"/>
              </a:rPr>
              <a:t>. </a:t>
            </a:r>
            <a:endParaRPr lang="en-US" sz="2000" kern="100" dirty="0">
              <a:effectLst/>
              <a:latin typeface="Times New Roman" panose="02020603050405020304" pitchFamily="18" charset="0"/>
              <a:ea typeface="Noto Serif CJK SC"/>
            </a:endParaRPr>
          </a:p>
          <a:p>
            <a:r>
              <a:rPr lang="en-KE" sz="2000" kern="100" dirty="0">
                <a:effectLst/>
                <a:latin typeface="Times New Roman" panose="02020603050405020304" pitchFamily="18" charset="0"/>
                <a:ea typeface="Noto Serif CJK SC"/>
              </a:rPr>
              <a:t>The matrix (a) in figure </a:t>
            </a:r>
            <a:r>
              <a:rPr lang="en-US" sz="2000" kern="100" dirty="0">
                <a:effectLst/>
                <a:latin typeface="Times New Roman" panose="02020603050405020304" pitchFamily="18" charset="0"/>
                <a:ea typeface="Noto Serif CJK SC"/>
              </a:rPr>
              <a:t>6</a:t>
            </a:r>
            <a:r>
              <a:rPr lang="en-KE" sz="2000" kern="100" dirty="0">
                <a:effectLst/>
                <a:latin typeface="Times New Roman" panose="02020603050405020304" pitchFamily="18" charset="0"/>
                <a:ea typeface="Noto Serif CJK SC"/>
              </a:rPr>
              <a:t> </a:t>
            </a:r>
            <a:r>
              <a:rPr lang="en-US" sz="2000" kern="100" dirty="0">
                <a:effectLst/>
                <a:latin typeface="Times New Roman" panose="02020603050405020304" pitchFamily="18" charset="0"/>
                <a:ea typeface="Noto Serif CJK SC"/>
              </a:rPr>
              <a:t>alongside</a:t>
            </a:r>
            <a:r>
              <a:rPr lang="en-KE" sz="2000" kern="100" dirty="0">
                <a:effectLst/>
                <a:latin typeface="Times New Roman" panose="02020603050405020304" pitchFamily="18" charset="0"/>
                <a:ea typeface="Noto Serif CJK SC"/>
              </a:rPr>
              <a:t> is then subjected to a filter using the kernel in figure 4 to produce the matrix(b) in figure 3.</a:t>
            </a:r>
            <a:r>
              <a:rPr lang="en-US" sz="2000" kern="100" dirty="0">
                <a:effectLst/>
                <a:latin typeface="Times New Roman" panose="02020603050405020304" pitchFamily="18" charset="0"/>
                <a:ea typeface="Noto Serif CJK SC"/>
              </a:rPr>
              <a:t>6</a:t>
            </a:r>
            <a:r>
              <a:rPr lang="en-KE" sz="2000" kern="100" dirty="0">
                <a:effectLst/>
                <a:latin typeface="Times New Roman" panose="02020603050405020304" pitchFamily="18" charset="0"/>
                <a:ea typeface="Noto Serif CJK SC"/>
              </a:rPr>
              <a:t> </a:t>
            </a:r>
            <a:r>
              <a:rPr lang="en-US" sz="2000" kern="100" dirty="0">
                <a:effectLst/>
                <a:latin typeface="Times New Roman" panose="02020603050405020304" pitchFamily="18" charset="0"/>
                <a:ea typeface="Noto Serif CJK SC"/>
              </a:rPr>
              <a:t>alongside</a:t>
            </a:r>
            <a:r>
              <a:rPr lang="en-KE" sz="2000" kern="100" dirty="0">
                <a:effectLst/>
                <a:latin typeface="Times New Roman" panose="02020603050405020304" pitchFamily="18" charset="0"/>
                <a:ea typeface="Noto Serif CJK SC"/>
              </a:rPr>
              <a:t>. </a:t>
            </a:r>
            <a:endParaRPr lang="en-US" sz="2000" kern="100" dirty="0">
              <a:effectLst/>
              <a:latin typeface="Times New Roman" panose="02020603050405020304" pitchFamily="18" charset="0"/>
              <a:ea typeface="Noto Serif CJK SC"/>
            </a:endParaRPr>
          </a:p>
          <a:p>
            <a:r>
              <a:rPr lang="en-KE" sz="2000" kern="100" dirty="0">
                <a:effectLst/>
                <a:latin typeface="Times New Roman" panose="02020603050405020304" pitchFamily="18" charset="0"/>
                <a:ea typeface="Noto Serif CJK SC"/>
              </a:rPr>
              <a:t>It is important to note that the dimension of the matrix(b) in figure </a:t>
            </a:r>
            <a:r>
              <a:rPr lang="en-US" sz="2000" kern="100" dirty="0">
                <a:effectLst/>
                <a:latin typeface="Times New Roman" panose="02020603050405020304" pitchFamily="18" charset="0"/>
                <a:ea typeface="Noto Serif CJK SC"/>
              </a:rPr>
              <a:t>6</a:t>
            </a:r>
            <a:r>
              <a:rPr lang="en-KE" sz="2000" kern="100" dirty="0">
                <a:effectLst/>
                <a:latin typeface="Times New Roman" panose="02020603050405020304" pitchFamily="18" charset="0"/>
                <a:ea typeface="Noto Serif CJK SC"/>
              </a:rPr>
              <a:t> below is equal to the dimension of the sample matrix in figure 3 above.</a:t>
            </a:r>
            <a:endParaRPr lang="en-KE" sz="2000" dirty="0"/>
          </a:p>
        </p:txBody>
      </p:sp>
      <p:sp>
        <p:nvSpPr>
          <p:cNvPr id="5" name="Slide Number Placeholder 4">
            <a:extLst>
              <a:ext uri="{FF2B5EF4-FFF2-40B4-BE49-F238E27FC236}">
                <a16:creationId xmlns:a16="http://schemas.microsoft.com/office/drawing/2014/main" id="{D5FBD65E-5844-7793-0967-5EEE3435617A}"/>
              </a:ext>
            </a:extLst>
          </p:cNvPr>
          <p:cNvSpPr>
            <a:spLocks noGrp="1"/>
          </p:cNvSpPr>
          <p:nvPr>
            <p:ph type="sldNum" sz="quarter" idx="12"/>
          </p:nvPr>
        </p:nvSpPr>
        <p:spPr/>
        <p:txBody>
          <a:bodyPr/>
          <a:lstStyle/>
          <a:p>
            <a:fld id="{A755A77B-A17B-45F4-84E2-294C20E72625}" type="slidenum">
              <a:rPr lang="en-KE" smtClean="0"/>
              <a:t>26</a:t>
            </a:fld>
            <a:endParaRPr lang="en-KE"/>
          </a:p>
        </p:txBody>
      </p:sp>
      <p:sp>
        <p:nvSpPr>
          <p:cNvPr id="8" name="TextBox 7">
            <a:extLst>
              <a:ext uri="{FF2B5EF4-FFF2-40B4-BE49-F238E27FC236}">
                <a16:creationId xmlns:a16="http://schemas.microsoft.com/office/drawing/2014/main" id="{19C2DECB-E064-5F64-2A64-A7ED28C407B9}"/>
              </a:ext>
            </a:extLst>
          </p:cNvPr>
          <p:cNvSpPr txBox="1"/>
          <p:nvPr/>
        </p:nvSpPr>
        <p:spPr>
          <a:xfrm>
            <a:off x="444500" y="5829300"/>
            <a:ext cx="1051891" cy="369332"/>
          </a:xfrm>
          <a:prstGeom prst="rect">
            <a:avLst/>
          </a:prstGeom>
          <a:noFill/>
        </p:spPr>
        <p:txBody>
          <a:bodyPr wrap="none" rtlCol="0">
            <a:spAutoFit/>
          </a:bodyPr>
          <a:lstStyle/>
          <a:p>
            <a:r>
              <a:rPr lang="en-US" dirty="0"/>
              <a:t>Figure 6</a:t>
            </a:r>
            <a:endParaRPr lang="en-KE" dirty="0"/>
          </a:p>
        </p:txBody>
      </p:sp>
    </p:spTree>
    <p:extLst>
      <p:ext uri="{BB962C8B-B14F-4D97-AF65-F5344CB8AC3E}">
        <p14:creationId xmlns:p14="http://schemas.microsoft.com/office/powerpoint/2010/main" val="22761898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52255-D3C1-4362-9A60-0CDAFF3B8C3B}"/>
              </a:ext>
            </a:extLst>
          </p:cNvPr>
          <p:cNvSpPr>
            <a:spLocks noGrp="1"/>
          </p:cNvSpPr>
          <p:nvPr>
            <p:ph type="title"/>
          </p:nvPr>
        </p:nvSpPr>
        <p:spPr>
          <a:xfrm>
            <a:off x="14840" y="122518"/>
            <a:ext cx="10352539" cy="1400530"/>
          </a:xfrm>
        </p:spPr>
        <p:txBody>
          <a:bodyPr/>
          <a:lstStyle/>
          <a:p>
            <a:r>
              <a:rPr lang="en-US" dirty="0"/>
              <a:t>Pooling in Convolution Neural Networks</a:t>
            </a:r>
            <a:endParaRPr lang="en-KE" dirty="0"/>
          </a:p>
        </p:txBody>
      </p:sp>
      <p:pic>
        <p:nvPicPr>
          <p:cNvPr id="7" name="Content Placeholder 6">
            <a:extLst>
              <a:ext uri="{FF2B5EF4-FFF2-40B4-BE49-F238E27FC236}">
                <a16:creationId xmlns:a16="http://schemas.microsoft.com/office/drawing/2014/main" id="{10BA89AF-6E40-60D0-4C0D-2043293D700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14300" y="2385488"/>
            <a:ext cx="4254500" cy="2336261"/>
          </a:xfrm>
        </p:spPr>
      </p:pic>
      <p:sp>
        <p:nvSpPr>
          <p:cNvPr id="4" name="Content Placeholder 3">
            <a:extLst>
              <a:ext uri="{FF2B5EF4-FFF2-40B4-BE49-F238E27FC236}">
                <a16:creationId xmlns:a16="http://schemas.microsoft.com/office/drawing/2014/main" id="{02E21A98-83B9-4821-007A-75F441FDFD9F}"/>
              </a:ext>
            </a:extLst>
          </p:cNvPr>
          <p:cNvSpPr>
            <a:spLocks noGrp="1"/>
          </p:cNvSpPr>
          <p:nvPr>
            <p:ph sz="half" idx="2"/>
          </p:nvPr>
        </p:nvSpPr>
        <p:spPr>
          <a:xfrm>
            <a:off x="4368801" y="1236628"/>
            <a:ext cx="7708900" cy="5498854"/>
          </a:xfrm>
        </p:spPr>
        <p:txBody>
          <a:bodyPr>
            <a:normAutofit fontScale="92500"/>
          </a:bodyPr>
          <a:lstStyle/>
          <a:p>
            <a:pPr indent="274320">
              <a:lnSpc>
                <a:spcPct val="120000"/>
              </a:lnSpc>
              <a:spcAft>
                <a:spcPts val="700"/>
              </a:spcAft>
            </a:pPr>
            <a:r>
              <a:rPr lang="en-US" sz="2600" kern="100" dirty="0">
                <a:effectLst/>
                <a:latin typeface="Times New Roman" panose="02020603050405020304" pitchFamily="18" charset="0"/>
                <a:ea typeface="Noto Serif CJK SC"/>
                <a:cs typeface="Times New Roman" panose="02020603050405020304" pitchFamily="18" charset="0"/>
              </a:rPr>
              <a:t>Pooling is a technique used to reduce a feature map into a much smaller dimension while maintaining critical features from a feature map. There are two main pooling techniques - max pooling and average pooling.</a:t>
            </a:r>
          </a:p>
          <a:p>
            <a:pPr indent="274320">
              <a:lnSpc>
                <a:spcPct val="120000"/>
              </a:lnSpc>
              <a:spcAft>
                <a:spcPts val="700"/>
              </a:spcAft>
            </a:pPr>
            <a:r>
              <a:rPr lang="en-US" sz="2600" kern="100" dirty="0">
                <a:effectLst/>
                <a:latin typeface="Times New Roman" panose="02020603050405020304" pitchFamily="18" charset="0"/>
                <a:ea typeface="Noto Serif CJK SC"/>
                <a:cs typeface="Times New Roman" panose="02020603050405020304" pitchFamily="18" charset="0"/>
              </a:rPr>
              <a:t> Max pooling divides the feature map into 2 by 2 matrices and selects the maximum value from each of the divided matrices before combining the result into a matrix.</a:t>
            </a:r>
          </a:p>
          <a:p>
            <a:pPr indent="274320">
              <a:lnSpc>
                <a:spcPct val="120000"/>
              </a:lnSpc>
              <a:spcAft>
                <a:spcPts val="700"/>
              </a:spcAft>
            </a:pPr>
            <a:r>
              <a:rPr lang="en-US" sz="2600" kern="100" dirty="0">
                <a:effectLst/>
                <a:latin typeface="Times New Roman" panose="02020603050405020304" pitchFamily="18" charset="0"/>
                <a:ea typeface="Noto Serif CJK SC"/>
                <a:cs typeface="Times New Roman" panose="02020603050405020304" pitchFamily="18" charset="0"/>
              </a:rPr>
              <a:t>In contrast, rather than take the maximum value from each matrix it finds the averages and concatenates the results as shown in the matrix called average pooling in figure 7 alongside.</a:t>
            </a:r>
            <a:endParaRPr lang="en-KE" sz="2600" kern="100" dirty="0">
              <a:effectLst/>
              <a:latin typeface="Times New Roman" panose="02020603050405020304" pitchFamily="18" charset="0"/>
              <a:ea typeface="Noto Serif CJK SC"/>
              <a:cs typeface="Times New Roman" panose="02020603050405020304" pitchFamily="18" charset="0"/>
            </a:endParaRPr>
          </a:p>
          <a:p>
            <a:endParaRPr lang="en-KE" dirty="0"/>
          </a:p>
        </p:txBody>
      </p:sp>
      <p:sp>
        <p:nvSpPr>
          <p:cNvPr id="5" name="Slide Number Placeholder 4">
            <a:extLst>
              <a:ext uri="{FF2B5EF4-FFF2-40B4-BE49-F238E27FC236}">
                <a16:creationId xmlns:a16="http://schemas.microsoft.com/office/drawing/2014/main" id="{116FDF07-0938-9D90-BFCB-12E25DA9E74B}"/>
              </a:ext>
            </a:extLst>
          </p:cNvPr>
          <p:cNvSpPr>
            <a:spLocks noGrp="1"/>
          </p:cNvSpPr>
          <p:nvPr>
            <p:ph type="sldNum" sz="quarter" idx="12"/>
          </p:nvPr>
        </p:nvSpPr>
        <p:spPr/>
        <p:txBody>
          <a:bodyPr/>
          <a:lstStyle/>
          <a:p>
            <a:fld id="{A755A77B-A17B-45F4-84E2-294C20E72625}" type="slidenum">
              <a:rPr lang="en-KE" smtClean="0"/>
              <a:t>27</a:t>
            </a:fld>
            <a:endParaRPr lang="en-KE"/>
          </a:p>
        </p:txBody>
      </p:sp>
      <p:sp>
        <p:nvSpPr>
          <p:cNvPr id="8" name="TextBox 7">
            <a:extLst>
              <a:ext uri="{FF2B5EF4-FFF2-40B4-BE49-F238E27FC236}">
                <a16:creationId xmlns:a16="http://schemas.microsoft.com/office/drawing/2014/main" id="{B08797AA-DC6D-3CD4-AEFB-550242EF6645}"/>
              </a:ext>
            </a:extLst>
          </p:cNvPr>
          <p:cNvSpPr txBox="1"/>
          <p:nvPr/>
        </p:nvSpPr>
        <p:spPr>
          <a:xfrm>
            <a:off x="203200" y="5214857"/>
            <a:ext cx="1051891" cy="369332"/>
          </a:xfrm>
          <a:prstGeom prst="rect">
            <a:avLst/>
          </a:prstGeom>
          <a:noFill/>
        </p:spPr>
        <p:txBody>
          <a:bodyPr wrap="none" rtlCol="0">
            <a:spAutoFit/>
          </a:bodyPr>
          <a:lstStyle/>
          <a:p>
            <a:r>
              <a:rPr lang="en-US" dirty="0"/>
              <a:t>Figure 7</a:t>
            </a:r>
            <a:endParaRPr lang="en-KE" dirty="0"/>
          </a:p>
        </p:txBody>
      </p:sp>
    </p:spTree>
    <p:extLst>
      <p:ext uri="{BB962C8B-B14F-4D97-AF65-F5344CB8AC3E}">
        <p14:creationId xmlns:p14="http://schemas.microsoft.com/office/powerpoint/2010/main" val="10519068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5A764-49BD-9456-E088-BC2BA0049392}"/>
              </a:ext>
            </a:extLst>
          </p:cNvPr>
          <p:cNvSpPr>
            <a:spLocks noGrp="1"/>
          </p:cNvSpPr>
          <p:nvPr>
            <p:ph type="title"/>
          </p:nvPr>
        </p:nvSpPr>
        <p:spPr>
          <a:xfrm>
            <a:off x="646111" y="452718"/>
            <a:ext cx="9404723" cy="767687"/>
          </a:xfrm>
        </p:spPr>
        <p:txBody>
          <a:bodyPr/>
          <a:lstStyle/>
          <a:p>
            <a:r>
              <a:rPr lang="en-US" dirty="0"/>
              <a:t>Batch Normalization</a:t>
            </a:r>
            <a:endParaRPr lang="en-K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A1F4819-5E95-EC87-E972-B12289E7140A}"/>
                  </a:ext>
                </a:extLst>
              </p:cNvPr>
              <p:cNvSpPr>
                <a:spLocks noGrp="1"/>
              </p:cNvSpPr>
              <p:nvPr>
                <p:ph idx="1"/>
              </p:nvPr>
            </p:nvSpPr>
            <p:spPr>
              <a:xfrm>
                <a:off x="215900" y="1220406"/>
                <a:ext cx="11747500" cy="5434394"/>
              </a:xfrm>
            </p:spPr>
            <p:txBody>
              <a:bodyPr/>
              <a:lstStyle/>
              <a:p>
                <a:r>
                  <a:rPr lang="en-US" kern="100" dirty="0">
                    <a:effectLst/>
                    <a:latin typeface="Times New Roman" panose="02020603050405020304" pitchFamily="18" charset="0"/>
                    <a:ea typeface="Noto Serif CJK SC"/>
                    <a:cs typeface="Lohit Devanagari"/>
                  </a:rPr>
                  <a:t>Batch normalization is used by neural networks to improve the speed and stability of the training process. Critical to the discussion is the fact that Sergey and </a:t>
                </a:r>
                <a:r>
                  <a:rPr lang="en-US" kern="100" dirty="0" err="1">
                    <a:effectLst/>
                    <a:latin typeface="Times New Roman" panose="02020603050405020304" pitchFamily="18" charset="0"/>
                    <a:ea typeface="Noto Serif CJK SC"/>
                    <a:cs typeface="Lohit Devanagari"/>
                  </a:rPr>
                  <a:t>Szegedy</a:t>
                </a:r>
                <a:r>
                  <a:rPr lang="en-US" kern="100" dirty="0">
                    <a:effectLst/>
                    <a:latin typeface="Times New Roman" panose="02020603050405020304" pitchFamily="18" charset="0"/>
                    <a:ea typeface="Noto Serif CJK SC"/>
                    <a:cs typeface="Lohit Devanagari"/>
                  </a:rPr>
                  <a:t> (2015) have a publication on some of the benefits of batch normalization.</a:t>
                </a:r>
              </a:p>
              <a:p>
                <a:r>
                  <a:rPr lang="en-US" kern="100" dirty="0">
                    <a:effectLst/>
                    <a:latin typeface="Times New Roman" panose="02020603050405020304" pitchFamily="18" charset="0"/>
                    <a:ea typeface="Noto Serif CJK SC"/>
                    <a:cs typeface="Lohit Devanagari"/>
                  </a:rPr>
                  <a:t> This owes to the fact that batch normalization does not only improve the speed and the stability of the training process, but also reduces the internal covariate shift. The term internal covariate shift could be defined as a phenomenon where the distribution of outputs of a neural network change when the model is still being updated. </a:t>
                </a:r>
              </a:p>
              <a:p>
                <a:r>
                  <a:rPr lang="en-US" kern="100" dirty="0">
                    <a:effectLst/>
                    <a:latin typeface="Times New Roman" panose="02020603050405020304" pitchFamily="18" charset="0"/>
                    <a:ea typeface="Noto Serif CJK SC"/>
                    <a:cs typeface="Lohit Devanagari"/>
                  </a:rPr>
                  <a:t>That said, this technique occurs by adjusting the values in each variable using the mean, standard deviation, scaling parameter, and a bias. This is done using equation 15 below. It is important to highlight that the scaling parameter and the bias, like the weights of a neural network, are adjusted in order to minimize the loss function.</a:t>
                </a:r>
                <a:endParaRPr lang="en-KE" kern="100" dirty="0">
                  <a:effectLst/>
                  <a:latin typeface="Liberation Serif"/>
                  <a:ea typeface="Noto Serif CJK SC"/>
                  <a:cs typeface="Lohit Devanagari"/>
                </a:endParaRPr>
              </a:p>
              <a:p>
                <a:pPr>
                  <a:spcBef>
                    <a:spcPts val="600"/>
                  </a:spcBef>
                  <a:spcAft>
                    <a:spcPts val="600"/>
                  </a:spcAft>
                </a:pPr>
                <a14:m>
                  <m:oMath xmlns:m="http://schemas.openxmlformats.org/officeDocument/2006/math">
                    <m:sSub>
                      <m:sSubPr>
                        <m:ctrlPr>
                          <a:rPr lang="en-KE" i="1" kern="100" smtClean="0">
                            <a:effectLst/>
                            <a:latin typeface="Cambria Math" panose="02040503050406030204" pitchFamily="18" charset="0"/>
                            <a:ea typeface="Noto Serif CJK SC"/>
                            <a:cs typeface="Times New Roman" panose="02020603050405020304" pitchFamily="18" charset="0"/>
                          </a:rPr>
                        </m:ctrlPr>
                      </m:sSubPr>
                      <m:e>
                        <m:r>
                          <a:rPr lang="en-US" i="1" kern="100">
                            <a:effectLst/>
                            <a:latin typeface="Cambria Math" panose="02040503050406030204" pitchFamily="18" charset="0"/>
                            <a:ea typeface="Noto Serif CJK SC"/>
                            <a:cs typeface="Times New Roman" panose="02020603050405020304" pitchFamily="18" charset="0"/>
                          </a:rPr>
                          <m:t>𝑦</m:t>
                        </m:r>
                      </m:e>
                      <m:sub>
                        <m:r>
                          <a:rPr lang="en-US" i="1" kern="100">
                            <a:effectLst/>
                            <a:latin typeface="Cambria Math" panose="02040503050406030204" pitchFamily="18" charset="0"/>
                            <a:ea typeface="Noto Serif CJK SC"/>
                            <a:cs typeface="Times New Roman" panose="02020603050405020304" pitchFamily="18" charset="0"/>
                          </a:rPr>
                          <m:t>𝑖</m:t>
                        </m:r>
                      </m:sub>
                    </m:sSub>
                    <m:r>
                      <a:rPr lang="en-US" i="1" kern="100">
                        <a:effectLst/>
                        <a:latin typeface="Cambria Math" panose="02040503050406030204" pitchFamily="18" charset="0"/>
                        <a:ea typeface="Noto Serif CJK SC"/>
                        <a:cs typeface="Times New Roman" panose="02020603050405020304" pitchFamily="18" charset="0"/>
                      </a:rPr>
                      <m:t>= </m:t>
                    </m:r>
                    <m:r>
                      <a:rPr lang="en-US" i="1" kern="100">
                        <a:effectLst/>
                        <a:latin typeface="Cambria Math" panose="02040503050406030204" pitchFamily="18" charset="0"/>
                        <a:ea typeface="Noto Serif CJK SC"/>
                        <a:cs typeface="Times New Roman" panose="02020603050405020304" pitchFamily="18" charset="0"/>
                      </a:rPr>
                      <m:t>𝛾</m:t>
                    </m:r>
                    <m:acc>
                      <m:accPr>
                        <m:chr m:val="̂"/>
                        <m:ctrlPr>
                          <a:rPr lang="en-KE" i="1" kern="100">
                            <a:effectLst/>
                            <a:latin typeface="Cambria Math" panose="02040503050406030204" pitchFamily="18" charset="0"/>
                            <a:ea typeface="Noto Serif CJK SC"/>
                            <a:cs typeface="Times New Roman" panose="02020603050405020304" pitchFamily="18" charset="0"/>
                          </a:rPr>
                        </m:ctrlPr>
                      </m:accPr>
                      <m:e>
                        <m:sSub>
                          <m:sSubPr>
                            <m:ctrlPr>
                              <a:rPr lang="en-KE" i="1" kern="100">
                                <a:effectLst/>
                                <a:latin typeface="Cambria Math" panose="02040503050406030204" pitchFamily="18" charset="0"/>
                                <a:ea typeface="Noto Serif CJK SC"/>
                                <a:cs typeface="Times New Roman" panose="02020603050405020304" pitchFamily="18" charset="0"/>
                              </a:rPr>
                            </m:ctrlPr>
                          </m:sSubPr>
                          <m:e>
                            <m:r>
                              <a:rPr lang="en-US" i="1" kern="100">
                                <a:effectLst/>
                                <a:latin typeface="Cambria Math" panose="02040503050406030204" pitchFamily="18" charset="0"/>
                                <a:ea typeface="Noto Serif CJK SC"/>
                                <a:cs typeface="Times New Roman" panose="02020603050405020304" pitchFamily="18" charset="0"/>
                              </a:rPr>
                              <m:t>𝑥</m:t>
                            </m:r>
                          </m:e>
                          <m:sub>
                            <m:r>
                              <a:rPr lang="en-US" i="1" kern="100">
                                <a:effectLst/>
                                <a:latin typeface="Cambria Math" panose="02040503050406030204" pitchFamily="18" charset="0"/>
                                <a:ea typeface="Noto Serif CJK SC"/>
                                <a:cs typeface="Times New Roman" panose="02020603050405020304" pitchFamily="18" charset="0"/>
                              </a:rPr>
                              <m:t>𝑖</m:t>
                            </m:r>
                          </m:sub>
                        </m:sSub>
                      </m:e>
                    </m:acc>
                    <m:r>
                      <a:rPr lang="en-US" i="1" kern="100">
                        <a:effectLst/>
                        <a:latin typeface="Cambria Math" panose="02040503050406030204" pitchFamily="18" charset="0"/>
                        <a:ea typeface="Noto Serif CJK SC"/>
                        <a:cs typeface="Times New Roman" panose="02020603050405020304" pitchFamily="18" charset="0"/>
                      </a:rPr>
                      <m:t>+</m:t>
                    </m:r>
                    <m:r>
                      <a:rPr lang="en-US" i="1" kern="100">
                        <a:effectLst/>
                        <a:latin typeface="Cambria Math" panose="02040503050406030204" pitchFamily="18" charset="0"/>
                        <a:ea typeface="Noto Serif CJK SC"/>
                        <a:cs typeface="Times New Roman" panose="02020603050405020304" pitchFamily="18" charset="0"/>
                      </a:rPr>
                      <m:t>𝛽</m:t>
                    </m:r>
                  </m:oMath>
                </a14:m>
                <a:r>
                  <a:rPr lang="en-US" i="1" kern="100" dirty="0">
                    <a:effectLst/>
                    <a:latin typeface="Times New Roman" panose="02020603050405020304" pitchFamily="18" charset="0"/>
                    <a:ea typeface="Noto Serif CJK SC"/>
                    <a:cs typeface="Lohit Devanagari"/>
                  </a:rPr>
                  <a:t>          </a:t>
                </a:r>
                <a:r>
                  <a:rPr lang="en-US" i="0" kern="100" dirty="0">
                    <a:effectLst/>
                    <a:latin typeface="Times New Roman" panose="02020603050405020304" pitchFamily="18" charset="0"/>
                    <a:ea typeface="Noto Serif CJK SC"/>
                    <a:cs typeface="Lohit Devanagari"/>
                  </a:rPr>
                  <a:t>where</a:t>
                </a:r>
                <a:r>
                  <a:rPr lang="en-US" i="1" kern="100" dirty="0">
                    <a:effectLst/>
                    <a:latin typeface="Times New Roman" panose="02020603050405020304" pitchFamily="18" charset="0"/>
                    <a:ea typeface="Noto Serif CJK SC"/>
                    <a:cs typeface="Lohit Devanagari"/>
                  </a:rPr>
                  <a:t>                                                                                                           15</a:t>
                </a:r>
                <a:endParaRPr lang="en-KE" i="1" kern="100" dirty="0">
                  <a:effectLst/>
                  <a:latin typeface="Liberation Serif"/>
                  <a:ea typeface="Noto Serif CJK SC"/>
                  <a:cs typeface="Lohit Devanagari"/>
                </a:endParaRPr>
              </a:p>
              <a:p>
                <a:pPr>
                  <a:spcBef>
                    <a:spcPts val="600"/>
                  </a:spcBef>
                  <a:spcAft>
                    <a:spcPts val="600"/>
                  </a:spcAft>
                </a:pPr>
                <a14:m>
                  <m:oMath xmlns:m="http://schemas.openxmlformats.org/officeDocument/2006/math">
                    <m:acc>
                      <m:accPr>
                        <m:chr m:val="̂"/>
                        <m:ctrlPr>
                          <a:rPr lang="en-KE" i="1" kern="100">
                            <a:effectLst/>
                            <a:latin typeface="Cambria Math" panose="02040503050406030204" pitchFamily="18" charset="0"/>
                            <a:ea typeface="Noto Serif CJK SC"/>
                            <a:cs typeface="Times New Roman" panose="02020603050405020304" pitchFamily="18" charset="0"/>
                          </a:rPr>
                        </m:ctrlPr>
                      </m:accPr>
                      <m:e>
                        <m:sSub>
                          <m:sSubPr>
                            <m:ctrlPr>
                              <a:rPr lang="en-KE" i="1" kern="100">
                                <a:effectLst/>
                                <a:latin typeface="Cambria Math" panose="02040503050406030204" pitchFamily="18" charset="0"/>
                                <a:ea typeface="Noto Serif CJK SC"/>
                                <a:cs typeface="Times New Roman" panose="02020603050405020304" pitchFamily="18" charset="0"/>
                              </a:rPr>
                            </m:ctrlPr>
                          </m:sSubPr>
                          <m:e>
                            <m:r>
                              <a:rPr lang="en-US" i="1" kern="100">
                                <a:effectLst/>
                                <a:latin typeface="Cambria Math" panose="02040503050406030204" pitchFamily="18" charset="0"/>
                                <a:ea typeface="Noto Serif CJK SC"/>
                                <a:cs typeface="Times New Roman" panose="02020603050405020304" pitchFamily="18" charset="0"/>
                              </a:rPr>
                              <m:t>𝑥</m:t>
                            </m:r>
                          </m:e>
                          <m:sub>
                            <m:r>
                              <a:rPr lang="en-US" i="1" kern="100">
                                <a:effectLst/>
                                <a:latin typeface="Cambria Math" panose="02040503050406030204" pitchFamily="18" charset="0"/>
                                <a:ea typeface="Noto Serif CJK SC"/>
                                <a:cs typeface="Times New Roman" panose="02020603050405020304" pitchFamily="18" charset="0"/>
                              </a:rPr>
                              <m:t>𝑖</m:t>
                            </m:r>
                          </m:sub>
                        </m:sSub>
                      </m:e>
                    </m:acc>
                    <m:r>
                      <a:rPr lang="en-US" i="1" kern="100">
                        <a:effectLst/>
                        <a:latin typeface="Cambria Math" panose="02040503050406030204" pitchFamily="18" charset="0"/>
                        <a:ea typeface="Noto Serif CJK SC"/>
                        <a:cs typeface="Times New Roman" panose="02020603050405020304" pitchFamily="18" charset="0"/>
                      </a:rPr>
                      <m:t>= </m:t>
                    </m:r>
                    <m:f>
                      <m:fPr>
                        <m:ctrlPr>
                          <a:rPr lang="en-KE" i="1" kern="100">
                            <a:effectLst/>
                            <a:latin typeface="Cambria Math" panose="02040503050406030204" pitchFamily="18" charset="0"/>
                            <a:ea typeface="Noto Serif CJK SC"/>
                            <a:cs typeface="Times New Roman" panose="02020603050405020304" pitchFamily="18" charset="0"/>
                          </a:rPr>
                        </m:ctrlPr>
                      </m:fPr>
                      <m:num>
                        <m:sSub>
                          <m:sSubPr>
                            <m:ctrlPr>
                              <a:rPr lang="en-KE" i="1" kern="100">
                                <a:effectLst/>
                                <a:latin typeface="Cambria Math" panose="02040503050406030204" pitchFamily="18" charset="0"/>
                                <a:ea typeface="Noto Serif CJK SC"/>
                                <a:cs typeface="Times New Roman" panose="02020603050405020304" pitchFamily="18" charset="0"/>
                              </a:rPr>
                            </m:ctrlPr>
                          </m:sSubPr>
                          <m:e>
                            <m:r>
                              <a:rPr lang="en-US" i="1" kern="100">
                                <a:effectLst/>
                                <a:latin typeface="Cambria Math" panose="02040503050406030204" pitchFamily="18" charset="0"/>
                                <a:ea typeface="Noto Serif CJK SC"/>
                                <a:cs typeface="Times New Roman" panose="02020603050405020304" pitchFamily="18" charset="0"/>
                              </a:rPr>
                              <m:t>𝑥</m:t>
                            </m:r>
                          </m:e>
                          <m:sub>
                            <m:r>
                              <a:rPr lang="en-US" i="1" kern="100">
                                <a:effectLst/>
                                <a:latin typeface="Cambria Math" panose="02040503050406030204" pitchFamily="18" charset="0"/>
                                <a:ea typeface="Noto Serif CJK SC"/>
                                <a:cs typeface="Times New Roman" panose="02020603050405020304" pitchFamily="18" charset="0"/>
                              </a:rPr>
                              <m:t>𝑖</m:t>
                            </m:r>
                            <m:r>
                              <a:rPr lang="en-US" i="1" kern="100">
                                <a:effectLst/>
                                <a:latin typeface="Cambria Math" panose="02040503050406030204" pitchFamily="18" charset="0"/>
                                <a:ea typeface="Noto Serif CJK SC"/>
                                <a:cs typeface="Times New Roman" panose="02020603050405020304" pitchFamily="18" charset="0"/>
                              </a:rPr>
                              <m:t> </m:t>
                            </m:r>
                          </m:sub>
                        </m:sSub>
                        <m:r>
                          <a:rPr lang="en-US" i="1" kern="100">
                            <a:effectLst/>
                            <a:latin typeface="Cambria Math" panose="02040503050406030204" pitchFamily="18" charset="0"/>
                            <a:ea typeface="Noto Serif CJK SC"/>
                            <a:cs typeface="Times New Roman" panose="02020603050405020304" pitchFamily="18" charset="0"/>
                          </a:rPr>
                          <m:t>− </m:t>
                        </m:r>
                        <m:sSub>
                          <m:sSubPr>
                            <m:ctrlPr>
                              <a:rPr lang="en-KE" i="1" kern="100">
                                <a:effectLst/>
                                <a:latin typeface="Cambria Math" panose="02040503050406030204" pitchFamily="18" charset="0"/>
                                <a:ea typeface="Noto Serif CJK SC"/>
                                <a:cs typeface="Times New Roman" panose="02020603050405020304" pitchFamily="18" charset="0"/>
                              </a:rPr>
                            </m:ctrlPr>
                          </m:sSubPr>
                          <m:e>
                            <m:r>
                              <a:rPr lang="en-US" i="1" kern="100">
                                <a:effectLst/>
                                <a:latin typeface="Cambria Math" panose="02040503050406030204" pitchFamily="18" charset="0"/>
                                <a:ea typeface="Noto Serif CJK SC"/>
                                <a:cs typeface="Times New Roman" panose="02020603050405020304" pitchFamily="18" charset="0"/>
                              </a:rPr>
                              <m:t>𝜇</m:t>
                            </m:r>
                          </m:e>
                          <m:sub>
                            <m:r>
                              <a:rPr lang="en-US" i="1" kern="100">
                                <a:effectLst/>
                                <a:latin typeface="Cambria Math" panose="02040503050406030204" pitchFamily="18" charset="0"/>
                                <a:ea typeface="Noto Serif CJK SC"/>
                                <a:cs typeface="Times New Roman" panose="02020603050405020304" pitchFamily="18" charset="0"/>
                              </a:rPr>
                              <m:t>𝛽</m:t>
                            </m:r>
                          </m:sub>
                        </m:sSub>
                      </m:num>
                      <m:den>
                        <m:rad>
                          <m:radPr>
                            <m:degHide m:val="on"/>
                            <m:ctrlPr>
                              <a:rPr lang="en-KE" i="1" kern="100">
                                <a:effectLst/>
                                <a:latin typeface="Cambria Math" panose="02040503050406030204" pitchFamily="18" charset="0"/>
                                <a:ea typeface="Noto Serif CJK SC"/>
                                <a:cs typeface="Times New Roman" panose="02020603050405020304" pitchFamily="18" charset="0"/>
                              </a:rPr>
                            </m:ctrlPr>
                          </m:radPr>
                          <m:deg/>
                          <m:e>
                            <m:sSubSup>
                              <m:sSubSupPr>
                                <m:ctrlPr>
                                  <a:rPr lang="en-KE" i="1" kern="100">
                                    <a:effectLst/>
                                    <a:latin typeface="Cambria Math" panose="02040503050406030204" pitchFamily="18" charset="0"/>
                                    <a:ea typeface="Noto Serif CJK SC"/>
                                    <a:cs typeface="Times New Roman" panose="02020603050405020304" pitchFamily="18" charset="0"/>
                                  </a:rPr>
                                </m:ctrlPr>
                              </m:sSubSupPr>
                              <m:e>
                                <m:r>
                                  <a:rPr lang="en-US" i="1" kern="100">
                                    <a:effectLst/>
                                    <a:latin typeface="Cambria Math" panose="02040503050406030204" pitchFamily="18" charset="0"/>
                                    <a:ea typeface="Noto Serif CJK SC"/>
                                    <a:cs typeface="Times New Roman" panose="02020603050405020304" pitchFamily="18" charset="0"/>
                                  </a:rPr>
                                  <m:t>𝛿</m:t>
                                </m:r>
                              </m:e>
                              <m:sub>
                                <m:r>
                                  <a:rPr lang="en-US" i="1" kern="100">
                                    <a:effectLst/>
                                    <a:latin typeface="Cambria Math" panose="02040503050406030204" pitchFamily="18" charset="0"/>
                                    <a:ea typeface="Noto Serif CJK SC"/>
                                    <a:cs typeface="Times New Roman" panose="02020603050405020304" pitchFamily="18" charset="0"/>
                                  </a:rPr>
                                  <m:t>𝛽</m:t>
                                </m:r>
                              </m:sub>
                              <m:sup>
                                <m:r>
                                  <a:rPr lang="en-US" i="1" kern="100">
                                    <a:effectLst/>
                                    <a:latin typeface="Cambria Math" panose="02040503050406030204" pitchFamily="18" charset="0"/>
                                    <a:ea typeface="Noto Serif CJK SC"/>
                                    <a:cs typeface="Times New Roman" panose="02020603050405020304" pitchFamily="18" charset="0"/>
                                  </a:rPr>
                                  <m:t>2</m:t>
                                </m:r>
                              </m:sup>
                            </m:sSubSup>
                          </m:e>
                        </m:rad>
                        <m:r>
                          <a:rPr lang="en-US" i="1" kern="100">
                            <a:effectLst/>
                            <a:latin typeface="Cambria Math" panose="02040503050406030204" pitchFamily="18" charset="0"/>
                            <a:ea typeface="Noto Serif CJK SC"/>
                            <a:cs typeface="Times New Roman" panose="02020603050405020304" pitchFamily="18" charset="0"/>
                          </a:rPr>
                          <m:t>+</m:t>
                        </m:r>
                        <m:r>
                          <a:rPr lang="en-US" i="1" kern="100">
                            <a:effectLst/>
                            <a:latin typeface="Cambria Math" panose="02040503050406030204" pitchFamily="18" charset="0"/>
                            <a:ea typeface="Noto Serif CJK SC"/>
                            <a:cs typeface="Times New Roman" panose="02020603050405020304" pitchFamily="18" charset="0"/>
                          </a:rPr>
                          <m:t>𝜀</m:t>
                        </m:r>
                      </m:den>
                    </m:f>
                    <m:r>
                      <a:rPr lang="en-US" i="1" kern="100">
                        <a:effectLst/>
                        <a:latin typeface="Cambria Math" panose="02040503050406030204" pitchFamily="18" charset="0"/>
                        <a:ea typeface="Noto Serif CJK SC"/>
                        <a:cs typeface="Times New Roman" panose="02020603050405020304" pitchFamily="18" charset="0"/>
                      </a:rPr>
                      <m:t>  </m:t>
                    </m:r>
                  </m:oMath>
                </a14:m>
                <a:r>
                  <a:rPr lang="en-US" i="0" kern="100" dirty="0">
                    <a:effectLst/>
                    <a:latin typeface="Times New Roman" panose="02020603050405020304" pitchFamily="18" charset="0"/>
                    <a:ea typeface="Noto Serif CJK SC"/>
                    <a:cs typeface="Lohit Devanagari"/>
                  </a:rPr>
                  <a:t>                                                                                                                                16</a:t>
                </a:r>
                <a:endParaRPr lang="en-KE" i="1" kern="100" dirty="0">
                  <a:effectLst/>
                  <a:latin typeface="Liberation Serif"/>
                  <a:ea typeface="Noto Serif CJK SC"/>
                  <a:cs typeface="Lohit Devanagari"/>
                </a:endParaRPr>
              </a:p>
              <a:p>
                <a:endParaRPr lang="en-KE" dirty="0"/>
              </a:p>
            </p:txBody>
          </p:sp>
        </mc:Choice>
        <mc:Fallback>
          <p:sp>
            <p:nvSpPr>
              <p:cNvPr id="3" name="Content Placeholder 2">
                <a:extLst>
                  <a:ext uri="{FF2B5EF4-FFF2-40B4-BE49-F238E27FC236}">
                    <a16:creationId xmlns:a16="http://schemas.microsoft.com/office/drawing/2014/main" id="{3A1F4819-5E95-EC87-E972-B12289E7140A}"/>
                  </a:ext>
                </a:extLst>
              </p:cNvPr>
              <p:cNvSpPr>
                <a:spLocks noGrp="1" noRot="1" noChangeAspect="1" noMove="1" noResize="1" noEditPoints="1" noAdjustHandles="1" noChangeArrowheads="1" noChangeShapeType="1" noTextEdit="1"/>
              </p:cNvSpPr>
              <p:nvPr>
                <p:ph idx="1"/>
              </p:nvPr>
            </p:nvSpPr>
            <p:spPr>
              <a:xfrm>
                <a:off x="215900" y="1220406"/>
                <a:ext cx="11747500" cy="5434394"/>
              </a:xfrm>
              <a:blipFill>
                <a:blip r:embed="rId2"/>
                <a:stretch>
                  <a:fillRect l="-207" t="-561" r="-98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A400AF0-BA0C-64C6-3D42-6D2B93ACD1D8}"/>
              </a:ext>
            </a:extLst>
          </p:cNvPr>
          <p:cNvSpPr>
            <a:spLocks noGrp="1"/>
          </p:cNvSpPr>
          <p:nvPr>
            <p:ph type="sldNum" sz="quarter" idx="12"/>
          </p:nvPr>
        </p:nvSpPr>
        <p:spPr/>
        <p:txBody>
          <a:bodyPr/>
          <a:lstStyle/>
          <a:p>
            <a:fld id="{A755A77B-A17B-45F4-84E2-294C20E72625}" type="slidenum">
              <a:rPr lang="en-KE" smtClean="0"/>
              <a:t>28</a:t>
            </a:fld>
            <a:endParaRPr lang="en-KE"/>
          </a:p>
        </p:txBody>
      </p:sp>
    </p:spTree>
    <p:extLst>
      <p:ext uri="{BB962C8B-B14F-4D97-AF65-F5344CB8AC3E}">
        <p14:creationId xmlns:p14="http://schemas.microsoft.com/office/powerpoint/2010/main" val="5128590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F9EC9-3765-49CC-2073-BE632A35B1A4}"/>
              </a:ext>
            </a:extLst>
          </p:cNvPr>
          <p:cNvSpPr>
            <a:spLocks noGrp="1"/>
          </p:cNvSpPr>
          <p:nvPr>
            <p:ph type="title"/>
          </p:nvPr>
        </p:nvSpPr>
        <p:spPr/>
        <p:txBody>
          <a:bodyPr/>
          <a:lstStyle/>
          <a:p>
            <a:r>
              <a:rPr lang="en-US" dirty="0"/>
              <a:t>Data Collection</a:t>
            </a:r>
            <a:endParaRPr lang="en-KE" dirty="0"/>
          </a:p>
        </p:txBody>
      </p:sp>
      <p:sp>
        <p:nvSpPr>
          <p:cNvPr id="3" name="Content Placeholder 2">
            <a:extLst>
              <a:ext uri="{FF2B5EF4-FFF2-40B4-BE49-F238E27FC236}">
                <a16:creationId xmlns:a16="http://schemas.microsoft.com/office/drawing/2014/main" id="{6BCCC51D-D367-E9B5-5BE8-3BBAA67FFC95}"/>
              </a:ext>
            </a:extLst>
          </p:cNvPr>
          <p:cNvSpPr>
            <a:spLocks noGrp="1"/>
          </p:cNvSpPr>
          <p:nvPr>
            <p:ph idx="1"/>
          </p:nvPr>
        </p:nvSpPr>
        <p:spPr>
          <a:xfrm>
            <a:off x="368300" y="1231900"/>
            <a:ext cx="11391900" cy="5016499"/>
          </a:xfrm>
        </p:spPr>
        <p:txBody>
          <a:bodyPr/>
          <a:lstStyle/>
          <a:p>
            <a:r>
              <a:rPr lang="en-US" kern="100" dirty="0">
                <a:effectLst/>
                <a:latin typeface="Times New Roman" panose="02020603050405020304" pitchFamily="18" charset="0"/>
                <a:ea typeface="Noto Serif CJK SC"/>
                <a:cs typeface="Times New Roman" panose="02020603050405020304" pitchFamily="18" charset="0"/>
              </a:rPr>
              <a:t>Data collection is crucial step in this study because the researcher is going to rely in images collected from study participants. </a:t>
            </a:r>
          </a:p>
          <a:p>
            <a:r>
              <a:rPr lang="en-US" kern="100" dirty="0">
                <a:latin typeface="Times New Roman" panose="02020603050405020304" pitchFamily="18" charset="0"/>
                <a:ea typeface="Noto Serif CJK SC"/>
                <a:cs typeface="Times New Roman" panose="02020603050405020304" pitchFamily="18" charset="0"/>
              </a:rPr>
              <a:t>While collecting data for facial recognition would be interesting, it is a time consuming and difficult process because study participants would be reluctant to share images of their faces.</a:t>
            </a:r>
          </a:p>
          <a:p>
            <a:r>
              <a:rPr lang="en-US" kern="100" dirty="0">
                <a:latin typeface="Times New Roman" panose="02020603050405020304" pitchFamily="18" charset="0"/>
                <a:ea typeface="Noto Serif CJK SC"/>
                <a:cs typeface="Times New Roman" panose="02020603050405020304" pitchFamily="18" charset="0"/>
              </a:rPr>
              <a:t>It is notable that data sets such as the</a:t>
            </a:r>
            <a:r>
              <a:rPr lang="en-US" kern="100" dirty="0">
                <a:latin typeface="Times New Roman" panose="02020603050405020304" pitchFamily="18" charset="0"/>
              </a:rPr>
              <a:t> disguised faces in the wild, the VGGFace and the Komnet datasets could be used for the study.</a:t>
            </a:r>
          </a:p>
          <a:p>
            <a:r>
              <a:rPr lang="en-US" kern="100" dirty="0">
                <a:effectLst/>
                <a:latin typeface="Times New Roman" panose="02020603050405020304" pitchFamily="18" charset="0"/>
                <a:ea typeface="Noto Serif CJK SC"/>
                <a:cs typeface="Times New Roman" panose="02020603050405020304" pitchFamily="18" charset="0"/>
              </a:rPr>
              <a:t>The Komnet dataset was chosen for the study because Astawa et al., 2020, the authors of the data set give users permission to use and even improve the dataset. Moreso, the size of the data set is small enough, which allows the researcher to conduct the experiment at a minimal cost.</a:t>
            </a:r>
            <a:endParaRPr lang="en-KE" kern="100" dirty="0">
              <a:effectLst/>
              <a:latin typeface="Times New Roman" panose="02020603050405020304" pitchFamily="18" charset="0"/>
              <a:ea typeface="Noto Serif CJK SC"/>
              <a:cs typeface="Times New Roman" panose="02020603050405020304" pitchFamily="18" charset="0"/>
            </a:endParaRPr>
          </a:p>
          <a:p>
            <a:endParaRPr lang="en-KE" dirty="0"/>
          </a:p>
        </p:txBody>
      </p:sp>
      <p:sp>
        <p:nvSpPr>
          <p:cNvPr id="4" name="Slide Number Placeholder 3">
            <a:extLst>
              <a:ext uri="{FF2B5EF4-FFF2-40B4-BE49-F238E27FC236}">
                <a16:creationId xmlns:a16="http://schemas.microsoft.com/office/drawing/2014/main" id="{1433207E-09D0-F6EA-037B-D2EEAEF21D5B}"/>
              </a:ext>
            </a:extLst>
          </p:cNvPr>
          <p:cNvSpPr>
            <a:spLocks noGrp="1"/>
          </p:cNvSpPr>
          <p:nvPr>
            <p:ph type="sldNum" sz="quarter" idx="12"/>
          </p:nvPr>
        </p:nvSpPr>
        <p:spPr/>
        <p:txBody>
          <a:bodyPr/>
          <a:lstStyle/>
          <a:p>
            <a:fld id="{A755A77B-A17B-45F4-84E2-294C20E72625}" type="slidenum">
              <a:rPr lang="en-KE" smtClean="0"/>
              <a:t>29</a:t>
            </a:fld>
            <a:endParaRPr lang="en-KE"/>
          </a:p>
        </p:txBody>
      </p:sp>
    </p:spTree>
    <p:extLst>
      <p:ext uri="{BB962C8B-B14F-4D97-AF65-F5344CB8AC3E}">
        <p14:creationId xmlns:p14="http://schemas.microsoft.com/office/powerpoint/2010/main" val="18837834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3BF13-40E5-FE10-33E2-4003C4CDC962}"/>
              </a:ext>
            </a:extLst>
          </p:cNvPr>
          <p:cNvSpPr>
            <a:spLocks noGrp="1"/>
          </p:cNvSpPr>
          <p:nvPr>
            <p:ph type="title"/>
          </p:nvPr>
        </p:nvSpPr>
        <p:spPr>
          <a:xfrm>
            <a:off x="626446" y="0"/>
            <a:ext cx="9404723" cy="767687"/>
          </a:xfrm>
        </p:spPr>
        <p:txBody>
          <a:bodyPr/>
          <a:lstStyle/>
          <a:p>
            <a:r>
              <a:rPr lang="en-US" dirty="0"/>
              <a:t>Results and Discussion</a:t>
            </a:r>
          </a:p>
        </p:txBody>
      </p:sp>
      <p:sp>
        <p:nvSpPr>
          <p:cNvPr id="3" name="Content Placeholder 2">
            <a:extLst>
              <a:ext uri="{FF2B5EF4-FFF2-40B4-BE49-F238E27FC236}">
                <a16:creationId xmlns:a16="http://schemas.microsoft.com/office/drawing/2014/main" id="{A7EF02BB-8CC6-A17B-5F86-9234550DE7D5}"/>
              </a:ext>
            </a:extLst>
          </p:cNvPr>
          <p:cNvSpPr>
            <a:spLocks noGrp="1"/>
          </p:cNvSpPr>
          <p:nvPr>
            <p:ph idx="1"/>
          </p:nvPr>
        </p:nvSpPr>
        <p:spPr>
          <a:xfrm>
            <a:off x="68826" y="1063416"/>
            <a:ext cx="12123174" cy="5794584"/>
          </a:xfrm>
        </p:spPr>
        <p:txBody>
          <a:bodyPr/>
          <a:lstStyle/>
          <a:p>
            <a:r>
              <a:rPr lang="en-US" dirty="0"/>
              <a:t>The </a:t>
            </a:r>
            <a:r>
              <a:rPr lang="en-US" dirty="0">
                <a:latin typeface="Times New Roman" panose="02020603050405020304" pitchFamily="18" charset="0"/>
                <a:cs typeface="Times New Roman" panose="02020603050405020304" pitchFamily="18" charset="0"/>
              </a:rPr>
              <a:t>researcher</a:t>
            </a:r>
            <a:r>
              <a:rPr lang="en-US" dirty="0"/>
              <a:t> </a:t>
            </a:r>
            <a:r>
              <a:rPr lang="en-US" dirty="0">
                <a:latin typeface="Times New Roman" panose="02020603050405020304" pitchFamily="18" charset="0"/>
                <a:cs typeface="Times New Roman" panose="02020603050405020304" pitchFamily="18" charset="0"/>
              </a:rPr>
              <a:t>conducted the experiment several times just to ascertain the accuracy and quality of the results collected for the experiment.</a:t>
            </a:r>
          </a:p>
          <a:p>
            <a:r>
              <a:rPr lang="en-US" dirty="0">
                <a:latin typeface="Times New Roman" panose="02020603050405020304" pitchFamily="18" charset="0"/>
                <a:cs typeface="Times New Roman" panose="02020603050405020304" pitchFamily="18" charset="0"/>
              </a:rPr>
              <a:t>For example, the author was able to establish that some of the users in the dataset did not have enough images to produce quality results and were excluded from the experiment.</a:t>
            </a:r>
          </a:p>
          <a:p>
            <a:endParaRPr lang="en-US" dirty="0"/>
          </a:p>
        </p:txBody>
      </p:sp>
      <p:sp>
        <p:nvSpPr>
          <p:cNvPr id="4" name="Slide Number Placeholder 3">
            <a:extLst>
              <a:ext uri="{FF2B5EF4-FFF2-40B4-BE49-F238E27FC236}">
                <a16:creationId xmlns:a16="http://schemas.microsoft.com/office/drawing/2014/main" id="{4401B168-EB47-16E1-2E42-C06250201E82}"/>
              </a:ext>
            </a:extLst>
          </p:cNvPr>
          <p:cNvSpPr>
            <a:spLocks noGrp="1"/>
          </p:cNvSpPr>
          <p:nvPr>
            <p:ph type="sldNum" sz="quarter" idx="12"/>
          </p:nvPr>
        </p:nvSpPr>
        <p:spPr/>
        <p:txBody>
          <a:bodyPr/>
          <a:lstStyle/>
          <a:p>
            <a:fld id="{A755A77B-A17B-45F4-84E2-294C20E72625}" type="slidenum">
              <a:rPr lang="en-KE" smtClean="0"/>
              <a:t>30</a:t>
            </a:fld>
            <a:endParaRPr lang="en-KE"/>
          </a:p>
        </p:txBody>
      </p:sp>
      <p:sp>
        <p:nvSpPr>
          <p:cNvPr id="5" name="AutoShape 2">
            <a:extLst>
              <a:ext uri="{FF2B5EF4-FFF2-40B4-BE49-F238E27FC236}">
                <a16:creationId xmlns:a16="http://schemas.microsoft.com/office/drawing/2014/main" id="{E69F7D78-CE1A-A700-CBF4-98CADBD1E7B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A32F8205-B002-DC20-F736-16C39887A1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962" y="2552338"/>
            <a:ext cx="9117322" cy="3901778"/>
          </a:xfrm>
          <a:prstGeom prst="rect">
            <a:avLst/>
          </a:prstGeom>
        </p:spPr>
      </p:pic>
      <p:sp>
        <p:nvSpPr>
          <p:cNvPr id="9" name="TextBox 8">
            <a:extLst>
              <a:ext uri="{FF2B5EF4-FFF2-40B4-BE49-F238E27FC236}">
                <a16:creationId xmlns:a16="http://schemas.microsoft.com/office/drawing/2014/main" id="{6B6BFCFC-B22D-4DA0-0FCC-85C52BF62A61}"/>
              </a:ext>
            </a:extLst>
          </p:cNvPr>
          <p:cNvSpPr txBox="1"/>
          <p:nvPr/>
        </p:nvSpPr>
        <p:spPr>
          <a:xfrm>
            <a:off x="9695007" y="6084784"/>
            <a:ext cx="2153264" cy="369332"/>
          </a:xfrm>
          <a:prstGeom prst="rect">
            <a:avLst/>
          </a:prstGeom>
          <a:noFill/>
        </p:spPr>
        <p:txBody>
          <a:bodyPr wrap="square" rtlCol="0">
            <a:spAutoFit/>
          </a:bodyPr>
          <a:lstStyle/>
          <a:p>
            <a:r>
              <a:rPr lang="en-US" dirty="0"/>
              <a:t>Figure 8</a:t>
            </a:r>
          </a:p>
        </p:txBody>
      </p:sp>
    </p:spTree>
    <p:extLst>
      <p:ext uri="{BB962C8B-B14F-4D97-AF65-F5344CB8AC3E}">
        <p14:creationId xmlns:p14="http://schemas.microsoft.com/office/powerpoint/2010/main" val="1650044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FCC241-F550-C564-A1EA-E04B17039B1E}"/>
              </a:ext>
            </a:extLst>
          </p:cNvPr>
          <p:cNvSpPr>
            <a:spLocks noGrp="1"/>
          </p:cNvSpPr>
          <p:nvPr>
            <p:ph idx="1"/>
          </p:nvPr>
        </p:nvSpPr>
        <p:spPr>
          <a:xfrm>
            <a:off x="0" y="0"/>
            <a:ext cx="10422194" cy="6562270"/>
          </a:xfrm>
        </p:spPr>
        <p:txBody>
          <a:bodyPr/>
          <a:lstStyle/>
          <a:p>
            <a:r>
              <a:rPr lang="en-US" dirty="0">
                <a:latin typeface="Times New Roman" panose="02020603050405020304" pitchFamily="18" charset="0"/>
                <a:cs typeface="Times New Roman" panose="02020603050405020304" pitchFamily="18" charset="0"/>
              </a:rPr>
              <a:t>As you can see from figure 8 above user 15 and user 20 recorded very low scores in precision, recall, and F-Score. It is because the users had very few images compared to other users. Data from user 15 and user 20 were excluded from the analysis. </a:t>
            </a:r>
          </a:p>
          <a:p>
            <a:r>
              <a:rPr lang="en-US" dirty="0">
                <a:latin typeface="Times New Roman" panose="02020603050405020304" pitchFamily="18" charset="0"/>
                <a:cs typeface="Times New Roman" panose="02020603050405020304" pitchFamily="18" charset="0"/>
              </a:rPr>
              <a:t>As you can see from figure 9 below the performance of the model called Cycks without padding improved after dropping images from the two users.</a:t>
            </a:r>
          </a:p>
        </p:txBody>
      </p:sp>
      <p:sp>
        <p:nvSpPr>
          <p:cNvPr id="4" name="Slide Number Placeholder 3">
            <a:extLst>
              <a:ext uri="{FF2B5EF4-FFF2-40B4-BE49-F238E27FC236}">
                <a16:creationId xmlns:a16="http://schemas.microsoft.com/office/drawing/2014/main" id="{B560C0E9-139E-3442-C921-6E904DFDE2BF}"/>
              </a:ext>
            </a:extLst>
          </p:cNvPr>
          <p:cNvSpPr>
            <a:spLocks noGrp="1"/>
          </p:cNvSpPr>
          <p:nvPr>
            <p:ph type="sldNum" sz="quarter" idx="12"/>
          </p:nvPr>
        </p:nvSpPr>
        <p:spPr/>
        <p:txBody>
          <a:bodyPr/>
          <a:lstStyle/>
          <a:p>
            <a:fld id="{A755A77B-A17B-45F4-84E2-294C20E72625}" type="slidenum">
              <a:rPr lang="en-KE" smtClean="0"/>
              <a:t>31</a:t>
            </a:fld>
            <a:endParaRPr lang="en-KE"/>
          </a:p>
        </p:txBody>
      </p:sp>
      <p:pic>
        <p:nvPicPr>
          <p:cNvPr id="6" name="Picture 5">
            <a:extLst>
              <a:ext uri="{FF2B5EF4-FFF2-40B4-BE49-F238E27FC236}">
                <a16:creationId xmlns:a16="http://schemas.microsoft.com/office/drawing/2014/main" id="{088AA0DD-6B46-9CCA-EA6A-720A680C12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570" y="2530163"/>
            <a:ext cx="6561389" cy="3901778"/>
          </a:xfrm>
          <a:prstGeom prst="rect">
            <a:avLst/>
          </a:prstGeom>
        </p:spPr>
      </p:pic>
      <p:sp>
        <p:nvSpPr>
          <p:cNvPr id="7" name="TextBox 6">
            <a:extLst>
              <a:ext uri="{FF2B5EF4-FFF2-40B4-BE49-F238E27FC236}">
                <a16:creationId xmlns:a16="http://schemas.microsoft.com/office/drawing/2014/main" id="{8FFCBF9B-B972-C3EC-F267-7B94F33EFF74}"/>
              </a:ext>
            </a:extLst>
          </p:cNvPr>
          <p:cNvSpPr txBox="1"/>
          <p:nvPr/>
        </p:nvSpPr>
        <p:spPr>
          <a:xfrm>
            <a:off x="7187381" y="6062609"/>
            <a:ext cx="1051891" cy="369332"/>
          </a:xfrm>
          <a:prstGeom prst="rect">
            <a:avLst/>
          </a:prstGeom>
          <a:noFill/>
        </p:spPr>
        <p:txBody>
          <a:bodyPr wrap="none" rtlCol="0">
            <a:spAutoFit/>
          </a:bodyPr>
          <a:lstStyle/>
          <a:p>
            <a:r>
              <a:rPr lang="en-US" dirty="0"/>
              <a:t>Figure 9</a:t>
            </a:r>
          </a:p>
        </p:txBody>
      </p:sp>
    </p:spTree>
    <p:extLst>
      <p:ext uri="{BB962C8B-B14F-4D97-AF65-F5344CB8AC3E}">
        <p14:creationId xmlns:p14="http://schemas.microsoft.com/office/powerpoint/2010/main" val="30547448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A04D5-68C4-789E-405D-AE8DB309A8E0}"/>
              </a:ext>
            </a:extLst>
          </p:cNvPr>
          <p:cNvSpPr>
            <a:spLocks noGrp="1"/>
          </p:cNvSpPr>
          <p:nvPr>
            <p:ph type="title"/>
          </p:nvPr>
        </p:nvSpPr>
        <p:spPr>
          <a:xfrm>
            <a:off x="78659" y="167358"/>
            <a:ext cx="10352538" cy="767687"/>
          </a:xfrm>
        </p:spPr>
        <p:txBody>
          <a:bodyPr/>
          <a:lstStyle/>
          <a:p>
            <a:endParaRPr lang="en-US" dirty="0"/>
          </a:p>
        </p:txBody>
      </p:sp>
      <p:sp>
        <p:nvSpPr>
          <p:cNvPr id="3" name="Content Placeholder 2">
            <a:extLst>
              <a:ext uri="{FF2B5EF4-FFF2-40B4-BE49-F238E27FC236}">
                <a16:creationId xmlns:a16="http://schemas.microsoft.com/office/drawing/2014/main" id="{FE81C22C-848A-7D22-BEAD-FB63DE21DDF6}"/>
              </a:ext>
            </a:extLst>
          </p:cNvPr>
          <p:cNvSpPr>
            <a:spLocks noGrp="1"/>
          </p:cNvSpPr>
          <p:nvPr>
            <p:ph idx="1"/>
          </p:nvPr>
        </p:nvSpPr>
        <p:spPr>
          <a:xfrm>
            <a:off x="245806" y="1140542"/>
            <a:ext cx="11602065" cy="5565058"/>
          </a:xfrm>
        </p:spPr>
        <p:txBody>
          <a:bodyPr/>
          <a:lstStyle/>
          <a:p>
            <a:r>
              <a:rPr lang="en-US" dirty="0"/>
              <a:t>The researcher was able to build two models called </a:t>
            </a:r>
            <a:r>
              <a:rPr lang="en-US" dirty="0" err="1"/>
              <a:t>cycks</a:t>
            </a:r>
            <a:r>
              <a:rPr lang="en-US" dirty="0"/>
              <a:t> with padding and </a:t>
            </a:r>
            <a:r>
              <a:rPr lang="en-US" dirty="0" err="1"/>
              <a:t>cycks</a:t>
            </a:r>
            <a:r>
              <a:rPr lang="en-US" dirty="0"/>
              <a:t> without padding. The </a:t>
            </a:r>
            <a:r>
              <a:rPr lang="en-US" dirty="0" err="1"/>
              <a:t>cycks</a:t>
            </a:r>
            <a:r>
              <a:rPr lang="en-US" dirty="0"/>
              <a:t> with padding model was built with padding while the </a:t>
            </a:r>
            <a:r>
              <a:rPr lang="en-US" dirty="0" err="1"/>
              <a:t>cycks</a:t>
            </a:r>
            <a:r>
              <a:rPr lang="en-US" dirty="0"/>
              <a:t> without padding was built without padding.</a:t>
            </a:r>
          </a:p>
        </p:txBody>
      </p:sp>
      <p:sp>
        <p:nvSpPr>
          <p:cNvPr id="4" name="Slide Number Placeholder 3">
            <a:extLst>
              <a:ext uri="{FF2B5EF4-FFF2-40B4-BE49-F238E27FC236}">
                <a16:creationId xmlns:a16="http://schemas.microsoft.com/office/drawing/2014/main" id="{E406CE59-1A32-7A07-7CDC-5C31C2AEDDCF}"/>
              </a:ext>
            </a:extLst>
          </p:cNvPr>
          <p:cNvSpPr>
            <a:spLocks noGrp="1"/>
          </p:cNvSpPr>
          <p:nvPr>
            <p:ph type="sldNum" sz="quarter" idx="12"/>
          </p:nvPr>
        </p:nvSpPr>
        <p:spPr/>
        <p:txBody>
          <a:bodyPr/>
          <a:lstStyle/>
          <a:p>
            <a:fld id="{A755A77B-A17B-45F4-84E2-294C20E72625}" type="slidenum">
              <a:rPr lang="en-KE" smtClean="0"/>
              <a:t>32</a:t>
            </a:fld>
            <a:endParaRPr lang="en-KE"/>
          </a:p>
        </p:txBody>
      </p:sp>
      <p:sp>
        <p:nvSpPr>
          <p:cNvPr id="7" name="TextBox 6">
            <a:extLst>
              <a:ext uri="{FF2B5EF4-FFF2-40B4-BE49-F238E27FC236}">
                <a16:creationId xmlns:a16="http://schemas.microsoft.com/office/drawing/2014/main" id="{613E89A6-A3A8-30FA-E65F-D43A331F62D4}"/>
              </a:ext>
            </a:extLst>
          </p:cNvPr>
          <p:cNvSpPr txBox="1"/>
          <p:nvPr/>
        </p:nvSpPr>
        <p:spPr>
          <a:xfrm>
            <a:off x="4208664" y="6313152"/>
            <a:ext cx="1641987" cy="369332"/>
          </a:xfrm>
          <a:prstGeom prst="rect">
            <a:avLst/>
          </a:prstGeom>
          <a:noFill/>
        </p:spPr>
        <p:txBody>
          <a:bodyPr wrap="square" rtlCol="0">
            <a:spAutoFit/>
          </a:bodyPr>
          <a:lstStyle/>
          <a:p>
            <a:r>
              <a:rPr lang="en-US" dirty="0"/>
              <a:t>Figure 10</a:t>
            </a:r>
          </a:p>
        </p:txBody>
      </p:sp>
      <p:pic>
        <p:nvPicPr>
          <p:cNvPr id="5" name="Picture 4">
            <a:extLst>
              <a:ext uri="{FF2B5EF4-FFF2-40B4-BE49-F238E27FC236}">
                <a16:creationId xmlns:a16="http://schemas.microsoft.com/office/drawing/2014/main" id="{412B3DD3-A6BC-0252-457F-361C478A22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8962" y="2205877"/>
            <a:ext cx="6561389" cy="3901778"/>
          </a:xfrm>
          <a:prstGeom prst="rect">
            <a:avLst/>
          </a:prstGeom>
        </p:spPr>
      </p:pic>
    </p:spTree>
    <p:extLst>
      <p:ext uri="{BB962C8B-B14F-4D97-AF65-F5344CB8AC3E}">
        <p14:creationId xmlns:p14="http://schemas.microsoft.com/office/powerpoint/2010/main" val="26223889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491E1-BCA0-4B0C-5C33-83B729C345B6}"/>
              </a:ext>
            </a:extLst>
          </p:cNvPr>
          <p:cNvSpPr>
            <a:spLocks noGrp="1"/>
          </p:cNvSpPr>
          <p:nvPr>
            <p:ph type="title"/>
          </p:nvPr>
        </p:nvSpPr>
        <p:spPr>
          <a:xfrm>
            <a:off x="186813" y="452718"/>
            <a:ext cx="10235381" cy="854972"/>
          </a:xfrm>
        </p:spPr>
        <p:txBody>
          <a:bodyPr/>
          <a:lstStyle/>
          <a:p>
            <a:r>
              <a:rPr lang="en-US" dirty="0"/>
              <a:t>Effect of Padding on the Cycks Model</a:t>
            </a:r>
          </a:p>
        </p:txBody>
      </p:sp>
      <p:sp>
        <p:nvSpPr>
          <p:cNvPr id="3" name="Content Placeholder 2">
            <a:extLst>
              <a:ext uri="{FF2B5EF4-FFF2-40B4-BE49-F238E27FC236}">
                <a16:creationId xmlns:a16="http://schemas.microsoft.com/office/drawing/2014/main" id="{80FFAD88-1460-CD38-8244-E3FBD51BCC6B}"/>
              </a:ext>
            </a:extLst>
          </p:cNvPr>
          <p:cNvSpPr>
            <a:spLocks noGrp="1"/>
          </p:cNvSpPr>
          <p:nvPr>
            <p:ph idx="1"/>
          </p:nvPr>
        </p:nvSpPr>
        <p:spPr>
          <a:xfrm>
            <a:off x="0" y="1307690"/>
            <a:ext cx="12192000" cy="5550310"/>
          </a:xfrm>
        </p:spPr>
        <p:txBody>
          <a:bodyPr/>
          <a:lstStyle/>
          <a:p>
            <a:r>
              <a:rPr lang="en-US" dirty="0"/>
              <a:t>Results from figure 10 indicate that padding does not improve model performance. Instead, the absence of it improves model performance. </a:t>
            </a:r>
          </a:p>
          <a:p>
            <a:r>
              <a:rPr lang="en-US" dirty="0"/>
              <a:t>All performance metrics increased on the </a:t>
            </a:r>
            <a:r>
              <a:rPr lang="en-US" dirty="0" err="1"/>
              <a:t>cycks</a:t>
            </a:r>
            <a:r>
              <a:rPr lang="en-US" dirty="0"/>
              <a:t> model without padding.</a:t>
            </a:r>
          </a:p>
          <a:p>
            <a:endParaRPr lang="en-US" dirty="0"/>
          </a:p>
          <a:p>
            <a:endParaRPr lang="en-US" dirty="0"/>
          </a:p>
        </p:txBody>
      </p:sp>
      <p:sp>
        <p:nvSpPr>
          <p:cNvPr id="4" name="Slide Number Placeholder 3">
            <a:extLst>
              <a:ext uri="{FF2B5EF4-FFF2-40B4-BE49-F238E27FC236}">
                <a16:creationId xmlns:a16="http://schemas.microsoft.com/office/drawing/2014/main" id="{9F4BC10D-AAD8-8657-6CEF-1326F2716554}"/>
              </a:ext>
            </a:extLst>
          </p:cNvPr>
          <p:cNvSpPr>
            <a:spLocks noGrp="1"/>
          </p:cNvSpPr>
          <p:nvPr>
            <p:ph type="sldNum" sz="quarter" idx="12"/>
          </p:nvPr>
        </p:nvSpPr>
        <p:spPr/>
        <p:txBody>
          <a:bodyPr/>
          <a:lstStyle/>
          <a:p>
            <a:fld id="{A755A77B-A17B-45F4-84E2-294C20E72625}" type="slidenum">
              <a:rPr lang="en-KE" smtClean="0"/>
              <a:t>33</a:t>
            </a:fld>
            <a:endParaRPr lang="en-KE"/>
          </a:p>
        </p:txBody>
      </p:sp>
    </p:spTree>
    <p:extLst>
      <p:ext uri="{BB962C8B-B14F-4D97-AF65-F5344CB8AC3E}">
        <p14:creationId xmlns:p14="http://schemas.microsoft.com/office/powerpoint/2010/main" val="25416155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C82E1-9CA1-7944-9955-822EFAEDDC03}"/>
              </a:ext>
            </a:extLst>
          </p:cNvPr>
          <p:cNvSpPr>
            <a:spLocks noGrp="1"/>
          </p:cNvSpPr>
          <p:nvPr>
            <p:ph type="title"/>
          </p:nvPr>
        </p:nvSpPr>
        <p:spPr>
          <a:xfrm>
            <a:off x="0" y="0"/>
            <a:ext cx="10628671" cy="767687"/>
          </a:xfrm>
        </p:spPr>
        <p:txBody>
          <a:bodyPr/>
          <a:lstStyle/>
          <a:p>
            <a:r>
              <a:rPr lang="en-US" sz="4000" dirty="0"/>
              <a:t>The Effect of Padding on The Modified VGG Model</a:t>
            </a:r>
          </a:p>
        </p:txBody>
      </p:sp>
      <p:sp>
        <p:nvSpPr>
          <p:cNvPr id="3" name="Content Placeholder 2">
            <a:extLst>
              <a:ext uri="{FF2B5EF4-FFF2-40B4-BE49-F238E27FC236}">
                <a16:creationId xmlns:a16="http://schemas.microsoft.com/office/drawing/2014/main" id="{BF383B10-6E9B-A918-4D36-92B929A19816}"/>
              </a:ext>
            </a:extLst>
          </p:cNvPr>
          <p:cNvSpPr>
            <a:spLocks noGrp="1"/>
          </p:cNvSpPr>
          <p:nvPr>
            <p:ph idx="1"/>
          </p:nvPr>
        </p:nvSpPr>
        <p:spPr>
          <a:xfrm>
            <a:off x="0" y="1189704"/>
            <a:ext cx="12192000" cy="5668296"/>
          </a:xfrm>
        </p:spPr>
        <p:txBody>
          <a:bodyPr/>
          <a:lstStyle/>
          <a:p>
            <a:r>
              <a:rPr lang="en-US" dirty="0"/>
              <a:t>We call it the modified VGG model because the actual VGG 16 model has sixteen layers while the model used in the experiment has 11 layers. The reason being sixteen layers cannot support a model with padding.</a:t>
            </a:r>
          </a:p>
          <a:p>
            <a:pPr marL="0" indent="0">
              <a:buNone/>
            </a:pPr>
            <a:endParaRPr lang="en-US" dirty="0"/>
          </a:p>
        </p:txBody>
      </p:sp>
      <p:sp>
        <p:nvSpPr>
          <p:cNvPr id="4" name="Slide Number Placeholder 3">
            <a:extLst>
              <a:ext uri="{FF2B5EF4-FFF2-40B4-BE49-F238E27FC236}">
                <a16:creationId xmlns:a16="http://schemas.microsoft.com/office/drawing/2014/main" id="{B15BE8A4-1B78-FC61-37C5-5FF772BDB258}"/>
              </a:ext>
            </a:extLst>
          </p:cNvPr>
          <p:cNvSpPr>
            <a:spLocks noGrp="1"/>
          </p:cNvSpPr>
          <p:nvPr>
            <p:ph type="sldNum" sz="quarter" idx="12"/>
          </p:nvPr>
        </p:nvSpPr>
        <p:spPr/>
        <p:txBody>
          <a:bodyPr/>
          <a:lstStyle/>
          <a:p>
            <a:fld id="{A755A77B-A17B-45F4-84E2-294C20E72625}" type="slidenum">
              <a:rPr lang="en-KE" smtClean="0"/>
              <a:t>34</a:t>
            </a:fld>
            <a:endParaRPr lang="en-KE"/>
          </a:p>
        </p:txBody>
      </p:sp>
      <p:sp>
        <p:nvSpPr>
          <p:cNvPr id="9" name="TextBox 8">
            <a:extLst>
              <a:ext uri="{FF2B5EF4-FFF2-40B4-BE49-F238E27FC236}">
                <a16:creationId xmlns:a16="http://schemas.microsoft.com/office/drawing/2014/main" id="{66845D25-AE04-5154-0C28-45842EF2679F}"/>
              </a:ext>
            </a:extLst>
          </p:cNvPr>
          <p:cNvSpPr txBox="1"/>
          <p:nvPr/>
        </p:nvSpPr>
        <p:spPr>
          <a:xfrm>
            <a:off x="4119716" y="6142869"/>
            <a:ext cx="1976284" cy="369332"/>
          </a:xfrm>
          <a:prstGeom prst="rect">
            <a:avLst/>
          </a:prstGeom>
          <a:noFill/>
        </p:spPr>
        <p:txBody>
          <a:bodyPr wrap="square" rtlCol="0">
            <a:spAutoFit/>
          </a:bodyPr>
          <a:lstStyle/>
          <a:p>
            <a:r>
              <a:rPr lang="en-US" dirty="0"/>
              <a:t>Figure 11</a:t>
            </a:r>
          </a:p>
        </p:txBody>
      </p:sp>
      <p:pic>
        <p:nvPicPr>
          <p:cNvPr id="11" name="Picture 10">
            <a:extLst>
              <a:ext uri="{FF2B5EF4-FFF2-40B4-BE49-F238E27FC236}">
                <a16:creationId xmlns:a16="http://schemas.microsoft.com/office/drawing/2014/main" id="{97C0B7CC-E39F-C39E-00D2-15D4BB3064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821" y="2177947"/>
            <a:ext cx="6561389" cy="3901778"/>
          </a:xfrm>
          <a:prstGeom prst="rect">
            <a:avLst/>
          </a:prstGeom>
        </p:spPr>
      </p:pic>
    </p:spTree>
    <p:extLst>
      <p:ext uri="{BB962C8B-B14F-4D97-AF65-F5344CB8AC3E}">
        <p14:creationId xmlns:p14="http://schemas.microsoft.com/office/powerpoint/2010/main" val="3621555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6E29D-36D6-C213-15E8-8DDF6522EBED}"/>
              </a:ext>
            </a:extLst>
          </p:cNvPr>
          <p:cNvSpPr>
            <a:spLocks noGrp="1"/>
          </p:cNvSpPr>
          <p:nvPr>
            <p:ph type="title"/>
          </p:nvPr>
        </p:nvSpPr>
        <p:spPr>
          <a:xfrm>
            <a:off x="0" y="452718"/>
            <a:ext cx="10697497" cy="1400530"/>
          </a:xfrm>
        </p:spPr>
        <p:txBody>
          <a:bodyPr/>
          <a:lstStyle/>
          <a:p>
            <a:r>
              <a:rPr lang="en-US" sz="4400" dirty="0"/>
              <a:t>The Effect of Padding on The Modified VGG Model</a:t>
            </a:r>
            <a:endParaRPr lang="en-US" dirty="0"/>
          </a:p>
        </p:txBody>
      </p:sp>
      <p:sp>
        <p:nvSpPr>
          <p:cNvPr id="3" name="Content Placeholder 2">
            <a:extLst>
              <a:ext uri="{FF2B5EF4-FFF2-40B4-BE49-F238E27FC236}">
                <a16:creationId xmlns:a16="http://schemas.microsoft.com/office/drawing/2014/main" id="{30A0B3EE-03EE-EAB1-9588-EF4D9F197AED}"/>
              </a:ext>
            </a:extLst>
          </p:cNvPr>
          <p:cNvSpPr>
            <a:spLocks noGrp="1"/>
          </p:cNvSpPr>
          <p:nvPr>
            <p:ph idx="1"/>
          </p:nvPr>
        </p:nvSpPr>
        <p:spPr>
          <a:xfrm>
            <a:off x="147484" y="2052918"/>
            <a:ext cx="11916697" cy="4652682"/>
          </a:xfrm>
        </p:spPr>
        <p:txBody>
          <a:bodyPr/>
          <a:lstStyle/>
          <a:p>
            <a:r>
              <a:rPr lang="en-US" dirty="0"/>
              <a:t>The performance metrics of the modified vgg model was almost similar in both cases. i.e. the model with padding and the model without padding.</a:t>
            </a:r>
          </a:p>
          <a:p>
            <a:r>
              <a:rPr lang="en-US" dirty="0"/>
              <a:t>However, the model without padding performs better than the model with padding by few decimal points on all the metrics. Refer to figure 4.4 for comparison.</a:t>
            </a:r>
          </a:p>
          <a:p>
            <a:r>
              <a:rPr lang="en-US" dirty="0"/>
              <a:t>Reddy et al. (2019) highlight that while padding is a standard preprocessing step, it has a measurable impact on performance. The authors demonstrate that padding acts as noise in the feature extraction process, which can lead to a drop in classification accuracy.</a:t>
            </a:r>
          </a:p>
          <a:p>
            <a:r>
              <a:rPr lang="en-US" dirty="0"/>
              <a:t>In the paper </a:t>
            </a:r>
            <a:r>
              <a:rPr lang="en-US" dirty="0">
                <a:latin typeface="Times New Roman" panose="02020603050405020304" pitchFamily="18" charset="0"/>
                <a:cs typeface="Times New Roman" panose="02020603050405020304" pitchFamily="18" charset="0"/>
              </a:rPr>
              <a:t>Mind the pad – CNNs can develop blind spots, Alsallakh et al. (2021) </a:t>
            </a:r>
            <a:r>
              <a:rPr lang="en-US" dirty="0"/>
              <a:t>introduce the idea of </a:t>
            </a:r>
            <a:r>
              <a:rPr lang="en-US" b="1" dirty="0"/>
              <a:t>spatial bias</a:t>
            </a:r>
            <a:r>
              <a:rPr lang="en-US" dirty="0"/>
              <a:t> and "blind spots." They prove that zero-padding creates "line artifacts" and "foveation" (where the model becomes biased toward the center and ignores the edges). They show that this bias can be detrimental to tasks requiring high precision at the boundaries.</a:t>
            </a:r>
          </a:p>
          <a:p>
            <a:endParaRPr lang="en-US" dirty="0"/>
          </a:p>
        </p:txBody>
      </p:sp>
      <p:sp>
        <p:nvSpPr>
          <p:cNvPr id="4" name="Slide Number Placeholder 3">
            <a:extLst>
              <a:ext uri="{FF2B5EF4-FFF2-40B4-BE49-F238E27FC236}">
                <a16:creationId xmlns:a16="http://schemas.microsoft.com/office/drawing/2014/main" id="{48C77AA4-8BB6-F39C-720E-9D816C47793F}"/>
              </a:ext>
            </a:extLst>
          </p:cNvPr>
          <p:cNvSpPr>
            <a:spLocks noGrp="1"/>
          </p:cNvSpPr>
          <p:nvPr>
            <p:ph type="sldNum" sz="quarter" idx="12"/>
          </p:nvPr>
        </p:nvSpPr>
        <p:spPr/>
        <p:txBody>
          <a:bodyPr/>
          <a:lstStyle/>
          <a:p>
            <a:fld id="{A755A77B-A17B-45F4-84E2-294C20E72625}" type="slidenum">
              <a:rPr lang="en-KE" smtClean="0"/>
              <a:t>35</a:t>
            </a:fld>
            <a:endParaRPr lang="en-KE"/>
          </a:p>
        </p:txBody>
      </p:sp>
    </p:spTree>
    <p:extLst>
      <p:ext uri="{BB962C8B-B14F-4D97-AF65-F5344CB8AC3E}">
        <p14:creationId xmlns:p14="http://schemas.microsoft.com/office/powerpoint/2010/main" val="23086088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13773-ED08-61B1-C0E1-E3B0276945F1}"/>
              </a:ext>
            </a:extLst>
          </p:cNvPr>
          <p:cNvSpPr>
            <a:spLocks noGrp="1"/>
          </p:cNvSpPr>
          <p:nvPr>
            <p:ph type="title"/>
          </p:nvPr>
        </p:nvSpPr>
        <p:spPr>
          <a:xfrm>
            <a:off x="547788" y="295729"/>
            <a:ext cx="9404723" cy="767687"/>
          </a:xfrm>
        </p:spPr>
        <p:txBody>
          <a:bodyPr/>
          <a:lstStyle/>
          <a:p>
            <a:r>
              <a:rPr lang="en-US" dirty="0"/>
              <a:t>Conclusion</a:t>
            </a:r>
          </a:p>
        </p:txBody>
      </p:sp>
      <p:sp>
        <p:nvSpPr>
          <p:cNvPr id="3" name="Content Placeholder 2">
            <a:extLst>
              <a:ext uri="{FF2B5EF4-FFF2-40B4-BE49-F238E27FC236}">
                <a16:creationId xmlns:a16="http://schemas.microsoft.com/office/drawing/2014/main" id="{2F2A80D9-9381-D073-9021-BACF3A6C40F2}"/>
              </a:ext>
            </a:extLst>
          </p:cNvPr>
          <p:cNvSpPr>
            <a:spLocks noGrp="1"/>
          </p:cNvSpPr>
          <p:nvPr>
            <p:ph idx="1"/>
          </p:nvPr>
        </p:nvSpPr>
        <p:spPr>
          <a:xfrm>
            <a:off x="0" y="1602658"/>
            <a:ext cx="12192000" cy="5255342"/>
          </a:xfrm>
        </p:spPr>
        <p:txBody>
          <a:bodyPr/>
          <a:lstStyle/>
          <a:p>
            <a:r>
              <a:rPr lang="en-US" dirty="0"/>
              <a:t>The results from this study show that padding has detrimental effects on the overall performance of CNNs on facial recognition tasks.</a:t>
            </a:r>
          </a:p>
          <a:p>
            <a:r>
              <a:rPr lang="en-US" dirty="0">
                <a:latin typeface="Times New Roman" panose="02020603050405020304" pitchFamily="18" charset="0"/>
                <a:cs typeface="Times New Roman" panose="02020603050405020304" pitchFamily="18" charset="0"/>
              </a:rPr>
              <a:t>Alsallakh et al. (2021) and </a:t>
            </a:r>
            <a:r>
              <a:rPr lang="en-US" dirty="0"/>
              <a:t>Reddy et al. (2019) have already brought up this argument.</a:t>
            </a:r>
          </a:p>
          <a:p>
            <a:r>
              <a:rPr lang="en-US" dirty="0"/>
              <a:t>Considering that padding has recorded reduced performance in both the </a:t>
            </a:r>
            <a:r>
              <a:rPr lang="en-US" dirty="0" err="1"/>
              <a:t>cycks</a:t>
            </a:r>
            <a:r>
              <a:rPr lang="en-US" dirty="0"/>
              <a:t> model and the modified VGG model, the study agrees with </a:t>
            </a:r>
            <a:r>
              <a:rPr lang="en-US" dirty="0">
                <a:latin typeface="Times New Roman" panose="02020603050405020304" pitchFamily="18" charset="0"/>
                <a:cs typeface="Times New Roman" panose="02020603050405020304" pitchFamily="18" charset="0"/>
              </a:rPr>
              <a:t>Alsallakh et al. (2021) and </a:t>
            </a:r>
            <a:r>
              <a:rPr lang="en-US" dirty="0"/>
              <a:t>Reddy et al. (2019).</a:t>
            </a:r>
          </a:p>
          <a:p>
            <a:r>
              <a:rPr lang="en-US" dirty="0"/>
              <a:t>However, it is common knowledge in the field that padding improves the performance of CNNs on object recognition tasks.</a:t>
            </a:r>
          </a:p>
          <a:p>
            <a:r>
              <a:rPr lang="en-US" dirty="0"/>
              <a:t>This calls for further research. Perhaps padding is only required on the initial layers or later layers of a convolution neural network to avoid what Alsallakh et al. (2021) call the spatial bias.</a:t>
            </a:r>
          </a:p>
          <a:p>
            <a:r>
              <a:rPr lang="en-US" dirty="0"/>
              <a:t>Indeed, hyper parameter tuning could have an effect the performance of convolution neural networks. Thus, examining how hyperparameters like batch normalization, strides, pooling,</a:t>
            </a:r>
          </a:p>
        </p:txBody>
      </p:sp>
      <p:sp>
        <p:nvSpPr>
          <p:cNvPr id="4" name="Slide Number Placeholder 3">
            <a:extLst>
              <a:ext uri="{FF2B5EF4-FFF2-40B4-BE49-F238E27FC236}">
                <a16:creationId xmlns:a16="http://schemas.microsoft.com/office/drawing/2014/main" id="{2910DAAC-F66A-68FA-C82F-B8C64C50DDAB}"/>
              </a:ext>
            </a:extLst>
          </p:cNvPr>
          <p:cNvSpPr>
            <a:spLocks noGrp="1"/>
          </p:cNvSpPr>
          <p:nvPr>
            <p:ph type="sldNum" sz="quarter" idx="12"/>
          </p:nvPr>
        </p:nvSpPr>
        <p:spPr/>
        <p:txBody>
          <a:bodyPr/>
          <a:lstStyle/>
          <a:p>
            <a:fld id="{A755A77B-A17B-45F4-84E2-294C20E72625}" type="slidenum">
              <a:rPr lang="en-KE" smtClean="0"/>
              <a:t>36</a:t>
            </a:fld>
            <a:endParaRPr lang="en-KE"/>
          </a:p>
        </p:txBody>
      </p:sp>
    </p:spTree>
    <p:extLst>
      <p:ext uri="{BB962C8B-B14F-4D97-AF65-F5344CB8AC3E}">
        <p14:creationId xmlns:p14="http://schemas.microsoft.com/office/powerpoint/2010/main" val="35956865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A2CEA-8366-0294-54BE-D3912E9DE081}"/>
              </a:ext>
            </a:extLst>
          </p:cNvPr>
          <p:cNvSpPr>
            <a:spLocks noGrp="1"/>
          </p:cNvSpPr>
          <p:nvPr>
            <p:ph type="title"/>
          </p:nvPr>
        </p:nvSpPr>
        <p:spPr>
          <a:xfrm>
            <a:off x="665776" y="295728"/>
            <a:ext cx="9404723" cy="767687"/>
          </a:xfrm>
        </p:spPr>
        <p:txBody>
          <a:bodyPr/>
          <a:lstStyle/>
          <a:p>
            <a:r>
              <a:rPr lang="en-US" dirty="0"/>
              <a:t>References</a:t>
            </a:r>
            <a:endParaRPr lang="en-KE" dirty="0"/>
          </a:p>
        </p:txBody>
      </p:sp>
      <p:sp>
        <p:nvSpPr>
          <p:cNvPr id="3" name="Content Placeholder 2">
            <a:extLst>
              <a:ext uri="{FF2B5EF4-FFF2-40B4-BE49-F238E27FC236}">
                <a16:creationId xmlns:a16="http://schemas.microsoft.com/office/drawing/2014/main" id="{DD09CC74-0379-808E-6C40-7A25715341FC}"/>
              </a:ext>
            </a:extLst>
          </p:cNvPr>
          <p:cNvSpPr>
            <a:spLocks noGrp="1"/>
          </p:cNvSpPr>
          <p:nvPr>
            <p:ph idx="1"/>
          </p:nvPr>
        </p:nvSpPr>
        <p:spPr>
          <a:xfrm>
            <a:off x="152400" y="1063415"/>
            <a:ext cx="11899900" cy="5680285"/>
          </a:xfrm>
        </p:spPr>
        <p:txBody>
          <a:bodyPr>
            <a:normAutofit fontScale="92500" lnSpcReduction="20000"/>
          </a:bodyPr>
          <a:lstStyle/>
          <a:p>
            <a:pPr>
              <a:lnSpc>
                <a:spcPct val="110000"/>
              </a:lnSpc>
            </a:pPr>
            <a:r>
              <a:rPr lang="en-US" sz="1800" dirty="0">
                <a:latin typeface="Times New Roman" panose="02020603050405020304" pitchFamily="18" charset="0"/>
                <a:cs typeface="Times New Roman" panose="02020603050405020304" pitchFamily="18" charset="0"/>
              </a:rPr>
              <a:t>Alrasheedi, F., Zhong, X., &amp; Huang, P.C. (2023). Padding Module: Learning the Padding in Deep Neural Networks. </a:t>
            </a:r>
            <a:r>
              <a:rPr lang="en-US" sz="1800" i="1" dirty="0">
                <a:latin typeface="Times New Roman" panose="02020603050405020304" pitchFamily="18" charset="0"/>
                <a:cs typeface="Times New Roman" panose="02020603050405020304" pitchFamily="18" charset="0"/>
              </a:rPr>
              <a:t>IEEE 		Access</a:t>
            </a:r>
            <a:r>
              <a:rPr lang="en-US" sz="1800" dirty="0">
                <a:latin typeface="Times New Roman" panose="02020603050405020304" pitchFamily="18" charset="0"/>
                <a:cs typeface="Times New Roman" panose="02020603050405020304" pitchFamily="18" charset="0"/>
              </a:rPr>
              <a:t>, 11, 7348-7357.</a:t>
            </a:r>
          </a:p>
          <a:p>
            <a:pPr>
              <a:lnSpc>
                <a:spcPct val="110000"/>
              </a:lnSpc>
            </a:pPr>
            <a:r>
              <a:rPr lang="en-US" sz="1800" dirty="0">
                <a:latin typeface="Times New Roman" panose="02020603050405020304" pitchFamily="18" charset="0"/>
                <a:cs typeface="Times New Roman" panose="02020603050405020304" pitchFamily="18" charset="0"/>
              </a:rPr>
              <a:t>Alsallakh, B., </a:t>
            </a:r>
            <a:r>
              <a:rPr lang="en-US" sz="1800" dirty="0" err="1">
                <a:latin typeface="Times New Roman" panose="02020603050405020304" pitchFamily="18" charset="0"/>
                <a:cs typeface="Times New Roman" panose="02020603050405020304" pitchFamily="18" charset="0"/>
              </a:rPr>
              <a:t>Kokhlikyan</a:t>
            </a:r>
            <a:r>
              <a:rPr lang="en-US" sz="1800" dirty="0">
                <a:latin typeface="Times New Roman" panose="02020603050405020304" pitchFamily="18" charset="0"/>
                <a:cs typeface="Times New Roman" panose="02020603050405020304" pitchFamily="18" charset="0"/>
              </a:rPr>
              <a:t>, N., Miglani, V., Shu, J., &amp; </a:t>
            </a:r>
            <a:r>
              <a:rPr lang="en-US" sz="1800" dirty="0" err="1">
                <a:latin typeface="Times New Roman" panose="02020603050405020304" pitchFamily="18" charset="0"/>
                <a:cs typeface="Times New Roman" panose="02020603050405020304" pitchFamily="18" charset="0"/>
              </a:rPr>
              <a:t>Reblitz</a:t>
            </a:r>
            <a:r>
              <a:rPr lang="en-US" sz="1800" dirty="0">
                <a:latin typeface="Times New Roman" panose="02020603050405020304" pitchFamily="18" charset="0"/>
                <a:cs typeface="Times New Roman" panose="02020603050405020304" pitchFamily="18" charset="0"/>
              </a:rPr>
              <a:t>-Richardson, O. (2021). Mind the pad – CNNs can develop blind spots. International Conference on Learning Representations (ICLR). https://openreview.net/forum?id=u7v_62q6DpI</a:t>
            </a:r>
          </a:p>
          <a:p>
            <a:pPr>
              <a:lnSpc>
                <a:spcPct val="110000"/>
              </a:lnSpc>
            </a:pPr>
            <a:r>
              <a:rPr lang="en-US" sz="1800" dirty="0">
                <a:latin typeface="Times New Roman" panose="02020603050405020304" pitchFamily="18" charset="0"/>
                <a:cs typeface="Times New Roman" panose="02020603050405020304" pitchFamily="18" charset="0"/>
              </a:rPr>
              <a:t>Astawa, I. N. G. A., Putra, I. K. G. D., </a:t>
            </a:r>
            <a:r>
              <a:rPr lang="en-US" sz="1800" dirty="0" err="1">
                <a:latin typeface="Times New Roman" panose="02020603050405020304" pitchFamily="18" charset="0"/>
                <a:cs typeface="Times New Roman" panose="02020603050405020304" pitchFamily="18" charset="0"/>
              </a:rPr>
              <a:t>Sudarma</a:t>
            </a:r>
            <a:r>
              <a:rPr lang="en-US" sz="1800" dirty="0">
                <a:latin typeface="Times New Roman" panose="02020603050405020304" pitchFamily="18" charset="0"/>
                <a:cs typeface="Times New Roman" panose="02020603050405020304" pitchFamily="18" charset="0"/>
              </a:rPr>
              <a:t>, M., and Hartati, R. S. (2020). </a:t>
            </a:r>
            <a:r>
              <a:rPr lang="en-US" sz="1800" dirty="0" err="1">
                <a:latin typeface="Times New Roman" panose="02020603050405020304" pitchFamily="18" charset="0"/>
                <a:cs typeface="Times New Roman" panose="02020603050405020304" pitchFamily="18" charset="0"/>
              </a:rPr>
              <a:t>KomNET</a:t>
            </a:r>
            <a:r>
              <a:rPr lang="en-US" sz="1800" dirty="0">
                <a:latin typeface="Times New Roman" panose="02020603050405020304" pitchFamily="18" charset="0"/>
                <a:cs typeface="Times New Roman" panose="02020603050405020304" pitchFamily="18" charset="0"/>
              </a:rPr>
              <a:t>: Face  Image Dataset from Various Media for Face Recognition. Data in Brief, 31(105677): 1-5. </a:t>
            </a:r>
          </a:p>
          <a:p>
            <a:pPr>
              <a:lnSpc>
                <a:spcPct val="110000"/>
              </a:lnSpc>
            </a:pPr>
            <a:r>
              <a:rPr lang="en-US" sz="1800" kern="100" dirty="0">
                <a:effectLst/>
                <a:latin typeface="Times New Roman" panose="02020603050405020304" pitchFamily="18" charset="0"/>
                <a:ea typeface="Noto Serif CJK SC"/>
                <a:cs typeface="Times New Roman" panose="02020603050405020304" pitchFamily="18" charset="0"/>
              </a:rPr>
              <a:t>Balarini, P. J., Nesmanchnow, S., Rodriguez, M. (2011). Facial Recognition Using Neural Networks over GPGPU. </a:t>
            </a:r>
            <a:r>
              <a:rPr lang="en-US" sz="1800" i="1" kern="100" dirty="0">
                <a:effectLst/>
                <a:latin typeface="Times New Roman" panose="02020603050405020304" pitchFamily="18" charset="0"/>
                <a:ea typeface="Noto Serif CJK SC"/>
                <a:cs typeface="Times New Roman" panose="02020603050405020304" pitchFamily="18" charset="0"/>
              </a:rPr>
              <a:t>CLEI 			Electronic Journal, 13(3): </a:t>
            </a:r>
            <a:r>
              <a:rPr lang="en-US" sz="1800" kern="100" dirty="0">
                <a:effectLst/>
                <a:latin typeface="Times New Roman" panose="02020603050405020304" pitchFamily="18" charset="0"/>
                <a:ea typeface="Noto Serif CJK SC"/>
                <a:cs typeface="Times New Roman" panose="02020603050405020304" pitchFamily="18" charset="0"/>
              </a:rPr>
              <a:t>1-12.</a:t>
            </a:r>
          </a:p>
          <a:p>
            <a:pPr>
              <a:lnSpc>
                <a:spcPct val="110000"/>
              </a:lnSpc>
            </a:pPr>
            <a:r>
              <a:rPr lang="en-US" sz="1800" kern="100" dirty="0">
                <a:effectLst/>
                <a:latin typeface="Times New Roman" panose="02020603050405020304" pitchFamily="18" charset="0"/>
                <a:ea typeface="Noto Serif CJK SC"/>
                <a:cs typeface="Lohit Devanagari"/>
              </a:rPr>
              <a:t>Hosseini, H., Xiao, B., Jaiswal, M., and Poovendran R. (2017). </a:t>
            </a:r>
            <a:r>
              <a:rPr lang="en-US" sz="1800" i="1" kern="100" dirty="0">
                <a:effectLst/>
                <a:latin typeface="Liberation Serif"/>
                <a:ea typeface="Noto Serif CJK SC"/>
                <a:cs typeface="Lohit Devanagari"/>
              </a:rPr>
              <a:t>On the Limitation of Convolutional </a:t>
            </a:r>
            <a:r>
              <a:rPr lang="en-US" sz="1800" kern="100" dirty="0">
                <a:latin typeface="Liberation Serif"/>
                <a:ea typeface="Noto Serif CJK SC"/>
                <a:cs typeface="Lohit Devanagari"/>
              </a:rPr>
              <a:t> </a:t>
            </a:r>
            <a:r>
              <a:rPr lang="en-US" sz="1800" i="1" kern="100" dirty="0">
                <a:effectLst/>
                <a:latin typeface="Liberation Serif"/>
                <a:ea typeface="Noto Serif CJK SC"/>
                <a:cs typeface="Lohit Devanagari"/>
              </a:rPr>
              <a:t>Neural Networks in 			Recognizing Negative Images</a:t>
            </a:r>
            <a:r>
              <a:rPr lang="en-US" sz="1800" kern="100" dirty="0">
                <a:effectLst/>
                <a:latin typeface="Liberation Serif"/>
                <a:ea typeface="Noto Serif CJK SC"/>
                <a:cs typeface="Lohit Devanagari"/>
              </a:rPr>
              <a:t>. </a:t>
            </a:r>
            <a:r>
              <a:rPr lang="en-US" sz="1800" kern="100" dirty="0">
                <a:effectLst/>
                <a:latin typeface="Times New Roman" panose="02020603050405020304" pitchFamily="18" charset="0"/>
                <a:ea typeface="Noto Serif CJK SC"/>
                <a:cs typeface="Lohit Devanagari"/>
              </a:rPr>
              <a:t>Retrieved from:</a:t>
            </a:r>
            <a:r>
              <a:rPr lang="en-US" sz="1800" kern="100" dirty="0">
                <a:effectLst/>
                <a:latin typeface="Liberation Serif"/>
                <a:ea typeface="Noto Serif CJK SC"/>
                <a:cs typeface="Lohit Devanagari"/>
              </a:rPr>
              <a:t> </a:t>
            </a:r>
            <a:r>
              <a:rPr lang="en-US" sz="1800" kern="100" dirty="0">
                <a:effectLst/>
                <a:latin typeface="Times New Roman" panose="02020603050405020304" pitchFamily="18" charset="0"/>
                <a:ea typeface="Noto Serif CJK SC"/>
                <a:cs typeface="Lohit Devanagari"/>
              </a:rPr>
              <a:t>https://arxiv.org/pdf/1703.06857.pdf. Retrieved on: 9 September, 			2024.</a:t>
            </a:r>
          </a:p>
          <a:p>
            <a:pPr>
              <a:lnSpc>
                <a:spcPct val="110000"/>
              </a:lnSpc>
            </a:pPr>
            <a:r>
              <a:rPr lang="en-US" sz="1800" kern="100" dirty="0">
                <a:effectLst/>
                <a:latin typeface="Liberation Serif"/>
                <a:ea typeface="Noto Serif CJK SC"/>
                <a:cs typeface="Lohit Devanagari"/>
              </a:rPr>
              <a:t>Koodalsamy, B., Bairavan, V., Narayanasamy, V. (2023). Face Recognition using Deep Learning.  International Conference 		on Smart Engineering for Renewable Energy Technologies (n.p.). Rajapalayam, India. 								https://doi.org/10.1051/e3sconf/202338705001. </a:t>
            </a:r>
            <a:r>
              <a:rPr lang="en-US" sz="1800" kern="100" dirty="0">
                <a:effectLst/>
                <a:latin typeface="Times New Roman" panose="02020603050405020304" pitchFamily="18" charset="0"/>
                <a:ea typeface="Noto Serif CJK SC"/>
              </a:rPr>
              <a:t>Retrieved on: 29 October, 2023</a:t>
            </a:r>
          </a:p>
          <a:p>
            <a:pPr>
              <a:lnSpc>
                <a:spcPct val="110000"/>
              </a:lnSpc>
            </a:pPr>
            <a:r>
              <a:rPr lang="en-US" sz="1800" kern="100" dirty="0">
                <a:effectLst/>
                <a:latin typeface="Times New Roman" panose="02020603050405020304" pitchFamily="18" charset="0"/>
                <a:ea typeface="Noto Serif CJK SC"/>
                <a:cs typeface="Lohit Devanagari"/>
              </a:rPr>
              <a:t>Reddy, M. D., &amp; Reddy, S. N. (2019). Effects of Padding on LSTMS and CNNS. Retrieved from: 							https://arxiv.org/abs/1903.07288. Retrieved on: 28 August, 2024.</a:t>
            </a:r>
          </a:p>
          <a:p>
            <a:pPr>
              <a:lnSpc>
                <a:spcPct val="200000"/>
              </a:lnSpc>
            </a:pPr>
            <a:r>
              <a:rPr lang="en-US" sz="1800" kern="100" dirty="0">
                <a:effectLst/>
                <a:latin typeface="Times New Roman" panose="02020603050405020304" pitchFamily="18" charset="0"/>
                <a:ea typeface="Noto Serif CJK SC"/>
                <a:cs typeface="Lohit Devanagari"/>
              </a:rPr>
              <a:t>Roza, D., and Mohsen S. (2021). Artificial Neural Network Systems. </a:t>
            </a:r>
            <a:r>
              <a:rPr lang="en-US" sz="1800" i="1" kern="100" dirty="0">
                <a:effectLst/>
                <a:latin typeface="Times New Roman" panose="02020603050405020304" pitchFamily="18" charset="0"/>
                <a:ea typeface="Noto Serif CJK SC"/>
                <a:cs typeface="Lohit Devanagari"/>
              </a:rPr>
              <a:t>International Journal of </a:t>
            </a:r>
            <a:r>
              <a:rPr lang="en-US" sz="1800" kern="100" dirty="0">
                <a:latin typeface="Liberation Serif"/>
                <a:ea typeface="Noto Serif CJK SC"/>
                <a:cs typeface="Lohit Devanagari"/>
              </a:rPr>
              <a:t> </a:t>
            </a:r>
            <a:r>
              <a:rPr lang="en-US" sz="1800" i="1" kern="100" dirty="0">
                <a:effectLst/>
                <a:latin typeface="Times New Roman" panose="02020603050405020304" pitchFamily="18" charset="0"/>
                <a:ea typeface="Noto Serif CJK SC"/>
                <a:cs typeface="Lohit Devanagari"/>
              </a:rPr>
              <a:t>Imaging and Robotics</a:t>
            </a:r>
            <a:r>
              <a:rPr lang="en-US" sz="1800" kern="100" dirty="0">
                <a:effectLst/>
                <a:latin typeface="Times New Roman" panose="02020603050405020304" pitchFamily="18" charset="0"/>
                <a:ea typeface="Noto Serif CJK SC"/>
                <a:cs typeface="Lohit Devanagari"/>
              </a:rPr>
              <a:t>, 			21(2):13-25.</a:t>
            </a:r>
            <a:endParaRPr lang="en-KE" sz="1800" kern="100" dirty="0">
              <a:effectLst/>
              <a:latin typeface="Liberation Serif"/>
              <a:ea typeface="Noto Serif CJK SC"/>
              <a:cs typeface="Lohit Devanagari"/>
            </a:endParaRPr>
          </a:p>
          <a:p>
            <a:pPr>
              <a:lnSpc>
                <a:spcPct val="110000"/>
              </a:lnSpc>
            </a:pPr>
            <a:endParaRPr lang="en-KE" sz="1800" kern="100" dirty="0">
              <a:effectLst/>
              <a:latin typeface="Liberation Serif"/>
              <a:ea typeface="Noto Serif CJK SC"/>
              <a:cs typeface="Lohit Devanagari"/>
            </a:endParaRPr>
          </a:p>
          <a:p>
            <a:pPr>
              <a:lnSpc>
                <a:spcPct val="110000"/>
              </a:lnSpc>
            </a:pPr>
            <a:endParaRPr lang="en-KE" sz="1800" kern="100" dirty="0">
              <a:effectLst/>
              <a:latin typeface="Liberation Serif"/>
              <a:ea typeface="Noto Serif CJK SC"/>
              <a:cs typeface="Lohit Devanagari"/>
            </a:endParaRPr>
          </a:p>
          <a:p>
            <a:pPr>
              <a:lnSpc>
                <a:spcPct val="200000"/>
              </a:lnSpc>
            </a:pPr>
            <a:endParaRPr lang="en-US" sz="1800" kern="100" dirty="0">
              <a:effectLst/>
              <a:latin typeface="Times New Roman" panose="02020603050405020304" pitchFamily="18" charset="0"/>
              <a:ea typeface="Noto Serif CJK SC"/>
              <a:cs typeface="Lohit Devanagari"/>
            </a:endParaRPr>
          </a:p>
          <a:p>
            <a:pPr>
              <a:lnSpc>
                <a:spcPct val="200000"/>
              </a:lnSpc>
            </a:pPr>
            <a:endParaRPr lang="en-KE" sz="1800" kern="100" dirty="0">
              <a:effectLst/>
              <a:latin typeface="Liberation Serif"/>
              <a:ea typeface="Noto Serif CJK SC"/>
              <a:cs typeface="Lohit Devanagari"/>
            </a:endParaRPr>
          </a:p>
          <a:p>
            <a:pPr>
              <a:lnSpc>
                <a:spcPct val="200000"/>
              </a:lnSpc>
            </a:pPr>
            <a:endParaRPr lang="en-KE" sz="1800" kern="100" dirty="0">
              <a:effectLst/>
              <a:latin typeface="Times New Roman" panose="02020603050405020304" pitchFamily="18" charset="0"/>
              <a:ea typeface="Noto Serif CJK SC"/>
              <a:cs typeface="Times New Roman" panose="02020603050405020304" pitchFamily="18" charset="0"/>
            </a:endParaRPr>
          </a:p>
          <a:p>
            <a:endParaRPr lang="en-US" dirty="0"/>
          </a:p>
          <a:p>
            <a:endParaRPr lang="en-KE" dirty="0"/>
          </a:p>
        </p:txBody>
      </p:sp>
      <p:sp>
        <p:nvSpPr>
          <p:cNvPr id="4" name="Slide Number Placeholder 3">
            <a:extLst>
              <a:ext uri="{FF2B5EF4-FFF2-40B4-BE49-F238E27FC236}">
                <a16:creationId xmlns:a16="http://schemas.microsoft.com/office/drawing/2014/main" id="{F3F954A3-6E74-A75E-F7F6-C98704FF10D8}"/>
              </a:ext>
            </a:extLst>
          </p:cNvPr>
          <p:cNvSpPr>
            <a:spLocks noGrp="1"/>
          </p:cNvSpPr>
          <p:nvPr>
            <p:ph type="sldNum" sz="quarter" idx="12"/>
          </p:nvPr>
        </p:nvSpPr>
        <p:spPr/>
        <p:txBody>
          <a:bodyPr/>
          <a:lstStyle/>
          <a:p>
            <a:fld id="{A755A77B-A17B-45F4-84E2-294C20E72625}" type="slidenum">
              <a:rPr lang="en-KE" smtClean="0"/>
              <a:t>37</a:t>
            </a:fld>
            <a:endParaRPr lang="en-KE"/>
          </a:p>
        </p:txBody>
      </p:sp>
    </p:spTree>
    <p:extLst>
      <p:ext uri="{BB962C8B-B14F-4D97-AF65-F5344CB8AC3E}">
        <p14:creationId xmlns:p14="http://schemas.microsoft.com/office/powerpoint/2010/main" val="18468965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85E52-2FC6-A1BB-C5B9-57474181E0F1}"/>
              </a:ext>
            </a:extLst>
          </p:cNvPr>
          <p:cNvSpPr>
            <a:spLocks noGrp="1"/>
          </p:cNvSpPr>
          <p:nvPr>
            <p:ph type="title"/>
          </p:nvPr>
        </p:nvSpPr>
        <p:spPr>
          <a:xfrm>
            <a:off x="626446" y="295728"/>
            <a:ext cx="9404723" cy="767687"/>
          </a:xfrm>
        </p:spPr>
        <p:txBody>
          <a:bodyPr/>
          <a:lstStyle/>
          <a:p>
            <a:r>
              <a:rPr lang="en-US" dirty="0"/>
              <a:t>Selected References</a:t>
            </a:r>
            <a:endParaRPr lang="en-KE" dirty="0"/>
          </a:p>
        </p:txBody>
      </p:sp>
      <p:sp>
        <p:nvSpPr>
          <p:cNvPr id="3" name="Content Placeholder 2">
            <a:extLst>
              <a:ext uri="{FF2B5EF4-FFF2-40B4-BE49-F238E27FC236}">
                <a16:creationId xmlns:a16="http://schemas.microsoft.com/office/drawing/2014/main" id="{9611E903-62FC-396B-EB85-8FB1ED4F6AC6}"/>
              </a:ext>
            </a:extLst>
          </p:cNvPr>
          <p:cNvSpPr>
            <a:spLocks noGrp="1"/>
          </p:cNvSpPr>
          <p:nvPr>
            <p:ph idx="1"/>
          </p:nvPr>
        </p:nvSpPr>
        <p:spPr>
          <a:xfrm>
            <a:off x="101600" y="1063416"/>
            <a:ext cx="12001500" cy="5667584"/>
          </a:xfrm>
        </p:spPr>
        <p:txBody>
          <a:bodyPr>
            <a:normAutofit/>
          </a:bodyPr>
          <a:lstStyle/>
          <a:p>
            <a:pPr>
              <a:lnSpc>
                <a:spcPct val="110000"/>
              </a:lnSpc>
            </a:pPr>
            <a:r>
              <a:rPr lang="en-US" sz="1800" kern="100" dirty="0">
                <a:effectLst/>
                <a:latin typeface="Times New Roman" panose="02020603050405020304" pitchFamily="18" charset="0"/>
                <a:ea typeface="Noto Serif CJK SC"/>
                <a:cs typeface="Lohit Devanagari"/>
              </a:rPr>
              <a:t>Tang, H., Ortis, A., &amp; Battiato, S. (2019). The Impact of Padding on Image Classification by 	Using 	Pre-trained 			Convolutional Neural Networks. In E. Ricci, S. Rota Bulò, C. Snoek, O. 	Lanz, S. Messelodi, &amp; N. Sebe (Eds.), 			</a:t>
            </a:r>
            <a:r>
              <a:rPr lang="en-US" sz="1800" i="1" kern="100" dirty="0">
                <a:effectLst/>
                <a:latin typeface="Times New Roman" panose="02020603050405020304" pitchFamily="18" charset="0"/>
                <a:ea typeface="Noto Serif CJK SC"/>
                <a:cs typeface="Lohit Devanagari"/>
              </a:rPr>
              <a:t>Image Analysis and Processing -- ICIAP 2019</a:t>
            </a:r>
            <a:r>
              <a:rPr lang="en-US" sz="1800" kern="100" dirty="0">
                <a:effectLst/>
                <a:latin typeface="Times New Roman" panose="02020603050405020304" pitchFamily="18" charset="0"/>
                <a:ea typeface="Noto Serif CJK SC"/>
                <a:cs typeface="Lohit Devanagari"/>
              </a:rPr>
              <a:t> (pp. 337–344). Cham: Springer International Publishing.</a:t>
            </a:r>
          </a:p>
          <a:p>
            <a:pPr>
              <a:lnSpc>
                <a:spcPct val="110000"/>
              </a:lnSpc>
            </a:pPr>
            <a:r>
              <a:rPr lang="en-US" sz="1800" kern="100" dirty="0">
                <a:effectLst/>
                <a:latin typeface="Times New Roman" panose="02020603050405020304" pitchFamily="18" charset="0"/>
                <a:ea typeface="Noto Serif CJK SC"/>
                <a:cs typeface="Lohit Devanagari"/>
              </a:rPr>
              <a:t>Tarnate, J. M., Devaraj, M., and Goma, C, J. (2020). Overcoming the Vanishing Gradient Problem of Recurrent Neural 			Networks in The Iso 9001 Quality Management Audit Reports Classification. </a:t>
            </a:r>
            <a:r>
              <a:rPr lang="en-US" sz="1800" i="1" kern="100" dirty="0">
                <a:effectLst/>
                <a:latin typeface="Times New Roman" panose="02020603050405020304" pitchFamily="18" charset="0"/>
                <a:ea typeface="Noto Serif CJK SC"/>
                <a:cs typeface="Lohit Devanagari"/>
              </a:rPr>
              <a:t>International Journal of Scientific and 		Technology Research</a:t>
            </a:r>
            <a:r>
              <a:rPr lang="en-US" sz="1800" kern="100" dirty="0">
                <a:effectLst/>
                <a:latin typeface="Times New Roman" panose="02020603050405020304" pitchFamily="18" charset="0"/>
                <a:ea typeface="Noto Serif CJK SC"/>
                <a:cs typeface="Lohit Devanagari"/>
              </a:rPr>
              <a:t>, 9(3): 6683-</a:t>
            </a:r>
            <a:r>
              <a:rPr lang="en-US" sz="1800" kern="100" dirty="0">
                <a:effectLst/>
                <a:latin typeface="Liberation Serif"/>
                <a:ea typeface="Noto Serif CJK SC"/>
                <a:cs typeface="Lohit Devanagari"/>
              </a:rPr>
              <a:t> </a:t>
            </a:r>
            <a:r>
              <a:rPr lang="en-US" sz="1800" kern="100" dirty="0">
                <a:effectLst/>
                <a:latin typeface="Times New Roman" panose="02020603050405020304" pitchFamily="18" charset="0"/>
                <a:ea typeface="Noto Serif CJK SC"/>
                <a:cs typeface="Lohit Devanagari"/>
              </a:rPr>
              <a:t>6686.</a:t>
            </a:r>
          </a:p>
          <a:p>
            <a:pPr>
              <a:lnSpc>
                <a:spcPct val="110000"/>
              </a:lnSpc>
            </a:pPr>
            <a:r>
              <a:rPr lang="en-US" sz="1800" kern="100" dirty="0">
                <a:effectLst/>
                <a:latin typeface="Times New Roman" panose="02020603050405020304" pitchFamily="18" charset="0"/>
                <a:ea typeface="Noto Serif CJK SC"/>
                <a:cs typeface="Lohit Devanagari"/>
              </a:rPr>
              <a:t>Xiaobo, Q., Chenxu, W., Ying, S., Hui, Q., Kaige, D., and Xiaobin, W. (2023). A Convolutional Neural Network Face 			Recognition Method Based on BiLSTM and Attention Mechanism. </a:t>
            </a:r>
            <a:r>
              <a:rPr lang="en-US" sz="1800" i="1" kern="100" dirty="0">
                <a:effectLst/>
                <a:latin typeface="Times New Roman" panose="02020603050405020304" pitchFamily="18" charset="0"/>
                <a:ea typeface="Noto Serif CJK SC"/>
                <a:cs typeface="Lohit Devanagari"/>
              </a:rPr>
              <a:t>Computational Intelligence and Neuroscience</a:t>
            </a:r>
            <a:r>
              <a:rPr lang="en-US" sz="1800" kern="100" dirty="0">
                <a:effectLst/>
                <a:latin typeface="Times New Roman" panose="02020603050405020304" pitchFamily="18" charset="0"/>
                <a:ea typeface="Noto Serif CJK SC"/>
                <a:cs typeface="Lohit Devanagari"/>
              </a:rPr>
              <a:t>, 		2023(2501022): 1-14.</a:t>
            </a:r>
          </a:p>
          <a:p>
            <a:pPr>
              <a:lnSpc>
                <a:spcPct val="110000"/>
              </a:lnSpc>
            </a:pPr>
            <a:r>
              <a:rPr lang="en-US" sz="1800" kern="100" dirty="0">
                <a:effectLst/>
                <a:latin typeface="Times New Roman" panose="02020603050405020304" pitchFamily="18" charset="0"/>
                <a:ea typeface="Noto Serif CJK SC"/>
                <a:cs typeface="Lohit Devanagari"/>
              </a:rPr>
              <a:t>Zhang, Z., Hu, R., and Hu, W. (2022). Application of Artificial Neural Network Algorithm in Facial Biological Image 			Information Scanning and Recognition. </a:t>
            </a:r>
            <a:r>
              <a:rPr lang="en-US" sz="1800" i="1" kern="100" dirty="0">
                <a:effectLst/>
                <a:latin typeface="Times New Roman" panose="02020603050405020304" pitchFamily="18" charset="0"/>
                <a:ea typeface="Noto Serif CJK SC"/>
                <a:cs typeface="Lohit Devanagari"/>
              </a:rPr>
              <a:t>Contrast Media &amp; Molecular Imaging</a:t>
            </a:r>
            <a:r>
              <a:rPr lang="en-US" sz="1800" kern="100" dirty="0">
                <a:effectLst/>
                <a:latin typeface="Times New Roman" panose="02020603050405020304" pitchFamily="18" charset="0"/>
                <a:ea typeface="Noto Serif CJK SC"/>
                <a:cs typeface="Lohit Devanagari"/>
              </a:rPr>
              <a:t>, 2022(1142682): </a:t>
            </a:r>
            <a:r>
              <a:rPr lang="en-US" sz="1800" kern="100" dirty="0" err="1">
                <a:effectLst/>
                <a:latin typeface="Times New Roman" panose="02020603050405020304" pitchFamily="18" charset="0"/>
                <a:ea typeface="Noto Serif CJK SC"/>
                <a:cs typeface="Lohit Devanagari"/>
              </a:rPr>
              <a:t>n.p.</a:t>
            </a:r>
            <a:r>
              <a:rPr lang="en-US" sz="1800" kern="100" dirty="0">
                <a:effectLst/>
                <a:latin typeface="Times New Roman" panose="02020603050405020304" pitchFamily="18" charset="0"/>
                <a:ea typeface="Noto Serif CJK SC"/>
                <a:cs typeface="Lohit Devanagari"/>
              </a:rPr>
              <a:t> </a:t>
            </a:r>
            <a:endParaRPr lang="en-KE" sz="1800" kern="100" dirty="0">
              <a:effectLst/>
              <a:latin typeface="Liberation Serif"/>
              <a:ea typeface="Noto Serif CJK SC"/>
              <a:cs typeface="Lohit Devanagari"/>
            </a:endParaRPr>
          </a:p>
          <a:p>
            <a:endParaRPr lang="en-KE" sz="1800" kern="100" dirty="0">
              <a:effectLst/>
              <a:latin typeface="Liberation Serif"/>
              <a:ea typeface="Noto Serif CJK SC"/>
              <a:cs typeface="Lohit Devanagari"/>
            </a:endParaRPr>
          </a:p>
          <a:p>
            <a:endParaRPr lang="en-KE" dirty="0"/>
          </a:p>
        </p:txBody>
      </p:sp>
      <p:sp>
        <p:nvSpPr>
          <p:cNvPr id="4" name="Slide Number Placeholder 3">
            <a:extLst>
              <a:ext uri="{FF2B5EF4-FFF2-40B4-BE49-F238E27FC236}">
                <a16:creationId xmlns:a16="http://schemas.microsoft.com/office/drawing/2014/main" id="{6DE52935-5A4D-BD7D-F2FD-067E28028D8D}"/>
              </a:ext>
            </a:extLst>
          </p:cNvPr>
          <p:cNvSpPr>
            <a:spLocks noGrp="1"/>
          </p:cNvSpPr>
          <p:nvPr>
            <p:ph type="sldNum" sz="quarter" idx="12"/>
          </p:nvPr>
        </p:nvSpPr>
        <p:spPr/>
        <p:txBody>
          <a:bodyPr/>
          <a:lstStyle/>
          <a:p>
            <a:fld id="{A755A77B-A17B-45F4-84E2-294C20E72625}" type="slidenum">
              <a:rPr lang="en-KE" smtClean="0"/>
              <a:t>38</a:t>
            </a:fld>
            <a:endParaRPr lang="en-KE"/>
          </a:p>
        </p:txBody>
      </p:sp>
    </p:spTree>
    <p:extLst>
      <p:ext uri="{BB962C8B-B14F-4D97-AF65-F5344CB8AC3E}">
        <p14:creationId xmlns:p14="http://schemas.microsoft.com/office/powerpoint/2010/main" val="42035140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F1A38-D6BE-C9CA-465E-2D1F5A250B17}"/>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702F44A-D389-7A74-C665-E41F74D31D7E}"/>
              </a:ext>
            </a:extLst>
          </p:cNvPr>
          <p:cNvSpPr>
            <a:spLocks noGrp="1"/>
          </p:cNvSpPr>
          <p:nvPr>
            <p:ph idx="1"/>
          </p:nvPr>
        </p:nvSpPr>
        <p:spPr/>
        <p:txBody>
          <a:bodyPr>
            <a:normAutofit/>
          </a:bodyPr>
          <a:lstStyle/>
          <a:p>
            <a:r>
              <a:rPr lang="en-US" sz="7200" dirty="0"/>
              <a:t>Thank You</a:t>
            </a:r>
          </a:p>
        </p:txBody>
      </p:sp>
      <p:sp>
        <p:nvSpPr>
          <p:cNvPr id="4" name="Slide Number Placeholder 3">
            <a:extLst>
              <a:ext uri="{FF2B5EF4-FFF2-40B4-BE49-F238E27FC236}">
                <a16:creationId xmlns:a16="http://schemas.microsoft.com/office/drawing/2014/main" id="{AF222662-70C0-5E87-158E-DE8C36AC8D1A}"/>
              </a:ext>
            </a:extLst>
          </p:cNvPr>
          <p:cNvSpPr>
            <a:spLocks noGrp="1"/>
          </p:cNvSpPr>
          <p:nvPr>
            <p:ph type="sldNum" sz="quarter" idx="12"/>
          </p:nvPr>
        </p:nvSpPr>
        <p:spPr/>
        <p:txBody>
          <a:bodyPr/>
          <a:lstStyle/>
          <a:p>
            <a:fld id="{A755A77B-A17B-45F4-84E2-294C20E72625}" type="slidenum">
              <a:rPr lang="en-KE" smtClean="0"/>
              <a:t>39</a:t>
            </a:fld>
            <a:endParaRPr lang="en-KE"/>
          </a:p>
        </p:txBody>
      </p:sp>
    </p:spTree>
    <p:extLst>
      <p:ext uri="{BB962C8B-B14F-4D97-AF65-F5344CB8AC3E}">
        <p14:creationId xmlns:p14="http://schemas.microsoft.com/office/powerpoint/2010/main" val="1688427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3450</TotalTime>
  <Words>6128</Words>
  <Application>Microsoft Office PowerPoint</Application>
  <PresentationFormat>Widescreen</PresentationFormat>
  <Paragraphs>262</Paragraphs>
  <Slides>39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Calibri</vt:lpstr>
      <vt:lpstr>Cambria Math</vt:lpstr>
      <vt:lpstr>Century Gothic</vt:lpstr>
      <vt:lpstr>Liberation Serif</vt:lpstr>
      <vt:lpstr>Times New Roman</vt:lpstr>
      <vt:lpstr>Wingdings</vt:lpstr>
      <vt:lpstr>Wingdings 3</vt:lpstr>
      <vt:lpstr>Ion</vt:lpstr>
      <vt:lpstr>Examining The Effect of Padding on Facial Recognition Using Convolution Neural Networks</vt:lpstr>
      <vt:lpstr>Outline</vt:lpstr>
      <vt:lpstr>Background of The Study </vt:lpstr>
      <vt:lpstr>Statement of The Problem</vt:lpstr>
      <vt:lpstr>Justification of The Study</vt:lpstr>
      <vt:lpstr>Objectives</vt:lpstr>
      <vt:lpstr>Literature Review</vt:lpstr>
      <vt:lpstr>Face Detection</vt:lpstr>
      <vt:lpstr>Challenges In Face Detection</vt:lpstr>
      <vt:lpstr>Face Detection Approaches</vt:lpstr>
      <vt:lpstr>Face Identification Approaches</vt:lpstr>
      <vt:lpstr>Types of Neural Networks </vt:lpstr>
      <vt:lpstr>Types of Neural Networks </vt:lpstr>
      <vt:lpstr>Padding in Convolution Neural Networks</vt:lpstr>
      <vt:lpstr>PowerPoint Presentation</vt:lpstr>
      <vt:lpstr>Facial Recognition Datasets</vt:lpstr>
      <vt:lpstr>Facial Recognition Architectures</vt:lpstr>
      <vt:lpstr>Methodology</vt:lpstr>
      <vt:lpstr>Deriving the Backpropagation Algorithm</vt:lpstr>
      <vt:lpstr>PowerPoint Presentation</vt:lpstr>
      <vt:lpstr>PowerPoint Presentation</vt:lpstr>
      <vt:lpstr>PowerPoint Presentation</vt:lpstr>
      <vt:lpstr>Convolution Neural Network Architecture</vt:lpstr>
      <vt:lpstr>Filtering in Convolution Neural Networks</vt:lpstr>
      <vt:lpstr>Strides in Convolution Neural Network</vt:lpstr>
      <vt:lpstr>Padding in Convolution Neural Networks</vt:lpstr>
      <vt:lpstr>Pooling in Convolution Neural Networks</vt:lpstr>
      <vt:lpstr>Batch Normalization</vt:lpstr>
      <vt:lpstr>Data Collection</vt:lpstr>
      <vt:lpstr>Results and Discussion</vt:lpstr>
      <vt:lpstr>PowerPoint Presentation</vt:lpstr>
      <vt:lpstr>PowerPoint Presentation</vt:lpstr>
      <vt:lpstr>Effect of Padding on the Cycks Model</vt:lpstr>
      <vt:lpstr>The Effect of Padding on The Modified VGG Model</vt:lpstr>
      <vt:lpstr>The Effect of Padding on The Modified VGG Model</vt:lpstr>
      <vt:lpstr>Conclusion</vt:lpstr>
      <vt:lpstr>References</vt:lpstr>
      <vt:lpstr>Selected 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Wycliffe Sikolia</dc:creator>
  <cp:lastModifiedBy>Sikolia</cp:lastModifiedBy>
  <cp:revision>12</cp:revision>
  <dcterms:created xsi:type="dcterms:W3CDTF">2025-01-28T17:53:52Z</dcterms:created>
  <dcterms:modified xsi:type="dcterms:W3CDTF">2026-03-26T06:46:04Z</dcterms:modified>
</cp:coreProperties>
</file>